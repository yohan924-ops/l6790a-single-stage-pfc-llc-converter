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310" r:id="rId61"/>
    <p:sldId id="267" r:id="rId13"/>
    <p:sldId id="268" r:id="rId14"/>
    <p:sldId id="309" r:id="rId60"/>
    <p:sldId id="308" r:id="rId59"/>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311" r:id="rId62"/>
    <p:sldId id="312" r:id="rId63"/>
    <p:sldId id="313" r:id="rId64"/>
    <p:sldId id="314" r:id="rId65"/>
    <p:sldId id="282" r:id="rId28"/>
    <p:sldId id="283" r:id="rId29"/>
    <p:sldId id="284" r:id="rId30"/>
    <p:sldId id="285" r:id="rId31"/>
    <p:sldId id="286" r:id="rId32"/>
    <p:sldId id="287" r:id="rId33"/>
    <p:sldId id="288" r:id="rId34"/>
    <p:sldId id="289" r:id="rId35"/>
    <p:sldId id="290" r:id="rId36"/>
    <p:sldId id="315" r:id="rId66"/>
    <p:sldId id="316" r:id="rId67"/>
    <p:sldId id="291" r:id="rId37"/>
    <p:sldId id="292" r:id="rId38"/>
    <p:sldId id="293" r:id="rId39"/>
    <p:sldId id="294" r:id="rId40"/>
    <p:sldId id="295" r:id="rId41"/>
    <p:sldId id="296" r:id="rId42"/>
    <p:sldId id="297" r:id="rId43"/>
    <p:sldId id="298" r:id="rId44"/>
    <p:sldId id="299" r:id="rId45"/>
    <p:sldId id="300" r:id="rId46"/>
    <p:sldId id="301" r:id="rId47"/>
    <p:sldId id="302" r:id="rId48"/>
    <p:sldId id="307" r:id="rId5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4.xml"/><Relationship Id="rId23" Type="http://schemas.openxmlformats.org/officeDocument/2006/relationships/slide" Target="slides/slide2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29.xml"/><Relationship Id="rId28" Type="http://schemas.openxmlformats.org/officeDocument/2006/relationships/slide" Target="slides/slide34.xml"/><Relationship Id="rId29" Type="http://schemas.openxmlformats.org/officeDocument/2006/relationships/slide" Target="slides/slide35.xml"/><Relationship Id="rId30" Type="http://schemas.openxmlformats.org/officeDocument/2006/relationships/slide" Target="slides/slide36.xml"/><Relationship Id="rId31" Type="http://schemas.openxmlformats.org/officeDocument/2006/relationships/slide" Target="slides/slide37.xml"/><Relationship Id="rId32" Type="http://schemas.openxmlformats.org/officeDocument/2006/relationships/slide" Target="slides/slide38.xml"/><Relationship Id="rId33" Type="http://schemas.openxmlformats.org/officeDocument/2006/relationships/slide" Target="slides/slide39.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5.xml"/><Relationship Id="rId38" Type="http://schemas.openxmlformats.org/officeDocument/2006/relationships/slide" Target="slides/slide46.xml"/><Relationship Id="rId39" Type="http://schemas.openxmlformats.org/officeDocument/2006/relationships/slide" Target="slides/slide47.xml"/><Relationship Id="rId40" Type="http://schemas.openxmlformats.org/officeDocument/2006/relationships/slide" Target="slides/slide48.xml"/><Relationship Id="rId41" Type="http://schemas.openxmlformats.org/officeDocument/2006/relationships/slide" Target="slides/slide49.xml"/><Relationship Id="rId42" Type="http://schemas.openxmlformats.org/officeDocument/2006/relationships/slide" Target="slides/slide50.xml"/><Relationship Id="rId43"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6" Type="http://schemas.openxmlformats.org/officeDocument/2006/relationships/slide" Target="slides/slide54.xml"/><Relationship Id="rId47" Type="http://schemas.openxmlformats.org/officeDocument/2006/relationships/slide" Target="slides/slide55.xml"/><Relationship Id="rId48" Type="http://schemas.openxmlformats.org/officeDocument/2006/relationships/slide" Target="slides/slide56.xml"/><Relationship Id="rId49" Type="http://schemas.openxmlformats.org/officeDocument/2006/relationships/slide" Target="slides/slide58.xml"/><Relationship Id="rId50" Type="http://schemas.openxmlformats.org/officeDocument/2006/relationships/slide" Target="slides/slide59.xml"/><Relationship Id="rId51" Type="http://schemas.openxmlformats.org/officeDocument/2006/relationships/slide" Target="slides/slide60.xml"/><Relationship Id="rId52" Type="http://schemas.openxmlformats.org/officeDocument/2006/relationships/slide" Target="slides/slide6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openxmlformats.org/officeDocument/2006/relationships/slide" Target="slides/slide57.xml"/><Relationship Id="rId59" Type="http://schemas.openxmlformats.org/officeDocument/2006/relationships/slide" Target="slides/slide16.xml"/><Relationship Id="rId60" Type="http://schemas.openxmlformats.org/officeDocument/2006/relationships/slide" Target="slides/slide15.xml"/><Relationship Id="rId61" Type="http://schemas.openxmlformats.org/officeDocument/2006/relationships/slide" Target="slides/slide12.xml"/><Relationship Id="rId62" Type="http://schemas.openxmlformats.org/officeDocument/2006/relationships/slide" Target="slides/slide30.xml"/><Relationship Id="rId63" Type="http://schemas.openxmlformats.org/officeDocument/2006/relationships/slide" Target="slides/slide31.xml"/><Relationship Id="rId64" Type="http://schemas.openxmlformats.org/officeDocument/2006/relationships/slide" Target="slides/slide32.xml"/><Relationship Id="rId65" Type="http://schemas.openxmlformats.org/officeDocument/2006/relationships/slide" Target="slides/slide33.xml"/><Relationship Id="rId66" Type="http://schemas.openxmlformats.org/officeDocument/2006/relationships/slide" Target="slides/slide43.xml"/><Relationship Id="rId67"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assumes no prior LLC knowledge. Part 1 builds the classic LLC from scratch, Part 2 shows what single-stage operation changes, Part 3 covers the L6790A itself, Part 4 is the side-by-side comparison, Part 5 a worked example, Part 6 the verification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10 minutes per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sentence: only frequency is available as a control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 Id="rId6" Type="http://schemas.openxmlformats.org/officeDocument/2006/relationships/image" Target="../media/image8.png"/><Relationship Id="rId7"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 Id="rId6"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 Id="rId8"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 Id="rId7"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 Id="rId8" Type="http://schemas.openxmlformats.org/officeDocument/2006/relationships/image" Target="../media/image4.png"/><Relationship Id="rId9"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FFD200"/>
          </a:solidFill>
          <a:ln/>
        </p:spPr>
        <p:txBody>
          <a:bodyPr/>
          <a:p/>
        </p:txBody>
      </p:sp>
      <p:sp>
        <p:nvSpPr>
          <p:cNvPr id="3" name="Text 1"/>
          <p:cNvSpPr/>
          <p:nvPr/>
        </p:nvSpPr>
        <p:spPr>
          <a:xfrm>
            <a:off x="822960" y="1417320"/>
            <a:ext cx="7680960" cy="5943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Single-Stage PF LLC Converter</a:t>
            </a:r>
            <a:endParaRPr lang="en-US" sz="3000" dirty="0"/>
          </a:p>
        </p:txBody>
      </p:sp>
      <p:sp>
        <p:nvSpPr>
          <p:cNvPr id="4" name="Text 2"/>
          <p:cNvSpPr/>
          <p:nvPr/>
        </p:nvSpPr>
        <p:spPr>
          <a:xfrm>
            <a:off x="822960" y="2057400"/>
            <a:ext cx="7680960" cy="457200"/>
          </a:xfrm>
          <a:prstGeom prst="rect">
            <a:avLst/>
          </a:prstGeom>
          <a:noFill/>
          <a:ln/>
        </p:spPr>
        <p:txBody>
          <a:bodyPr wrap="square" lIns="0" tIns="0" rIns="0" bIns="0" rtlCol="0" anchor="ctr"/>
          <a:lstStyle/>
          <a:p>
            <a:pPr indent="0" marL="0">
              <a:buNone/>
            </a:pPr>
            <a:r>
              <a:rPr lang="en-US" sz="1600" dirty="0">
                <a:solidFill>
                  <a:srgbClr val="FFD200"/>
                </a:solidFill>
                <a:latin typeface="Arial" pitchFamily="34" charset="0"/>
                <a:ea typeface="Arial" pitchFamily="34" charset="-122"/>
                <a:cs typeface="Arial" pitchFamily="34" charset="-120"/>
              </a:rPr>
              <a:t>Design with the L6790A — and how it differs from a classic LLC</a:t>
            </a:r>
            <a:endParaRPr lang="en-US" sz="1600" dirty="0"/>
          </a:p>
        </p:txBody>
      </p:sp>
      <p:sp>
        <p:nvSpPr>
          <p:cNvPr id="5" name="Text 3"/>
          <p:cNvSpPr/>
          <p:nvPr/>
        </p:nvSpPr>
        <p:spPr>
          <a:xfrm>
            <a:off x="822960" y="2606040"/>
            <a:ext cx="7680960" cy="457200"/>
          </a:xfrm>
          <a:prstGeom prst="rect">
            <a:avLst/>
          </a:prstGeom>
          <a:noFill/>
          <a:ln/>
        </p:spPr>
        <p:txBody>
          <a:bodyPr wrap="square" lIns="0" tIns="0" rIns="0" bIns="0" rtlCol="0" anchor="ctr"/>
          <a:lstStyle/>
          <a:p>
            <a:pPr indent="0" marL="0">
              <a:buNone/>
            </a:pPr>
            <a:r>
              <a:rPr lang="en-US" sz="1150" dirty="0">
                <a:solidFill>
                  <a:srgbClr val="C8D4E4"/>
                </a:solidFill>
                <a:latin typeface="Arial" pitchFamily="34" charset="0"/>
                <a:ea typeface="Arial" pitchFamily="34" charset="-122"/>
                <a:cs typeface="Arial" pitchFamily="34" charset="-120"/>
              </a:rPr>
              <a:t>A beginner-friendly walkthrough:  operating principle · design equations · a full 25 V / 26.3 A (657.5 W) worked example</a:t>
            </a:r>
            <a:endParaRPr lang="en-US" sz="1150" dirty="0"/>
          </a:p>
        </p:txBody>
      </p:sp>
      <p:sp>
        <p:nvSpPr>
          <p:cNvPr id="6" name="Text 4"/>
          <p:cNvSpPr/>
          <p:nvPr/>
        </p:nvSpPr>
        <p:spPr>
          <a:xfrm>
            <a:off x="822960" y="3611880"/>
            <a:ext cx="7680960" cy="731520"/>
          </a:xfrm>
          <a:prstGeom prst="rect">
            <a:avLst/>
          </a:prstGeom>
          <a:noFill/>
          <a:ln/>
        </p:spPr>
        <p:txBody>
          <a:bodyPr wrap="square" lIns="0" tIns="0" rIns="0" bIns="0" rtlCol="0" anchor="ctr"/>
          <a:lstStyle/>
          <a:p>
            <a:pPr indent="0" marL="0">
              <a:buNone/>
            </a:pPr>
            <a:r>
              <a:rPr lang="en-US" sz="950" dirty="0">
                <a:solidFill>
                  <a:srgbClr val="9FB3CC"/>
                </a:solidFill>
                <a:latin typeface="Arial" pitchFamily="34" charset="0"/>
                <a:ea typeface="Arial" pitchFamily="34" charset="-122"/>
                <a:cs typeface="Arial" pitchFamily="34" charset="-120"/>
              </a:rPr>
              <a:t>Reference material:  L6790A preliminary datasheet · L6790 design spreadsheet r1.0 · EVL6790_670W schematics</a:t>
            </a:r>
            <a:endParaRPr lang="en-US" sz="950" dirty="0"/>
          </a:p>
          <a:p>
            <a:pPr indent="0" marL="0">
              <a:buNone/>
            </a:pPr>
            <a:r>
              <a:rPr lang="en-US" sz="950" dirty="0">
                <a:solidFill>
                  <a:srgbClr val="9FB3CC"/>
                </a:solidFill>
                <a:latin typeface="Arial" pitchFamily="34" charset="0"/>
                <a:ea typeface="Arial" pitchFamily="34" charset="-122"/>
                <a:cs typeface="Arial" pitchFamily="34" charset="-120"/>
              </a:rPr>
              <a:t>Background on the classic LLC:  Infineon AN 2013-03 · onsemi / Fairchild AN-4151</a:t>
            </a:r>
            <a:endParaRPr lang="en-US" sz="950" dirty="0"/>
          </a:p>
        </p:txBody>
      </p:sp>
      <p:pic>
        <p:nvPicPr>
          <p:cNvPr id="7" name="Image 0" descr="logo/image1.png">    </p:cNvPr>
          <p:cNvPicPr>
            <a:picLocks noChangeAspect="1"/>
          </p:cNvPicPr>
          <p:nvPr/>
        </p:nvPicPr>
        <p:blipFill>
          <a:blip r:embed="rId1"/>
          <a:stretch>
            <a:fillRect/>
          </a:stretch>
        </p:blipFill>
        <p:spPr>
          <a:xfrm>
            <a:off x="8092440" y="274320"/>
            <a:ext cx="777240"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Agenda</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5" name="Shape 2"/>
          <p:cNvSpPr/>
          <p:nvPr/>
        </p:nvSpPr>
        <p:spPr>
          <a:xfrm>
            <a:off x="502920" y="1188720"/>
            <a:ext cx="384048" cy="384048"/>
          </a:xfrm>
          <a:prstGeom prst="roundRect">
            <a:avLst>
              <a:gd name="adj" fmla="val 19048"/>
            </a:avLst>
          </a:prstGeom>
          <a:solidFill>
            <a:srgbClr val="FFD200"/>
          </a:solidFill>
          <a:ln/>
        </p:spPr>
        <p:txBody>
          <a:bodyPr/>
          <a:p/>
        </p:txBody>
      </p:sp>
      <p:sp>
        <p:nvSpPr>
          <p:cNvPr id="6" name="Text 3"/>
          <p:cNvSpPr/>
          <p:nvPr/>
        </p:nvSpPr>
        <p:spPr>
          <a:xfrm>
            <a:off x="502920" y="1188720"/>
            <a:ext cx="384048" cy="384048"/>
          </a:xfrm>
          <a:prstGeom prst="rect">
            <a:avLst/>
          </a:prstGeom>
          <a:noFill/>
          <a:ln/>
        </p:spPr>
        <p:txBody>
          <a:bodyPr wrap="square" lIns="0" tIns="0" rIns="0" bIns="0" rtlCol="0" anchor="ctr"/>
          <a:lstStyle/>
          <a:p>
            <a:pPr algn="ctr" indent="0" marL="0">
              <a:buNone/>
            </a:pPr>
            <a:r>
              <a:rPr lang="en-US" sz="1500" b="1" dirty="0">
                <a:solidFill>
                  <a:srgbClr val="03234B"/>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197864"/>
            <a:ext cx="3017520" cy="365760"/>
          </a:xfrm>
          <a:prstGeom prst="rect">
            <a:avLst/>
          </a:prstGeom>
          <a:noFill/>
          <a:ln/>
        </p:spPr>
        <p:txBody>
          <a:bodyPr wrap="square" lIns="0" tIns="0" rIns="0" bIns="0" rtlCol="0" anchor="ctr"/>
          <a:lstStyle/>
          <a:p>
            <a:pPr indent="0" marL="0">
              <a:buNone/>
            </a:pPr>
            <a:r>
              <a:rPr lang="en-US" sz="1350" b="1" dirty="0">
                <a:solidFill>
                  <a:srgbClr val="03234B"/>
                </a:solidFill>
                <a:latin typeface="Arial" pitchFamily="34" charset="0"/>
                <a:ea typeface="Arial" pitchFamily="34" charset="-122"/>
                <a:cs typeface="Arial" pitchFamily="34" charset="-120"/>
              </a:rPr>
              <a:t>What an LLC converter is</a:t>
            </a:r>
            <a:endParaRPr lang="en-US" sz="1350" dirty="0"/>
          </a:p>
        </p:txBody>
      </p:sp>
      <p:sp>
        <p:nvSpPr>
          <p:cNvPr id="8" name="Text 5"/>
          <p:cNvSpPr/>
          <p:nvPr/>
        </p:nvSpPr>
        <p:spPr>
          <a:xfrm>
            <a:off x="4114800" y="1197864"/>
            <a:ext cx="4572000" cy="365760"/>
          </a:xfrm>
          <a:prstGeom prst="rect">
            <a:avLst/>
          </a:prstGeom>
          <a:noFill/>
          <a:ln/>
        </p:spPr>
        <p:txBody>
          <a:bodyPr wrap="square" lIns="0" tIns="0" rIns="0" bIns="0" rtlCol="0" anchor="ctr"/>
          <a:lstStyle/>
          <a:p>
            <a:pPr indent="0" marL="0">
              <a:buNone/>
            </a:pPr>
            <a:r>
              <a:rPr lang="en-US" sz="1100" dirty="0">
                <a:solidFill>
                  <a:srgbClr val="464650"/>
                </a:solidFill>
                <a:latin typeface="Arial" pitchFamily="34" charset="0"/>
                <a:ea typeface="Arial" pitchFamily="34" charset="-122"/>
                <a:cs typeface="Arial" pitchFamily="34" charset="-120"/>
              </a:rPr>
              <a:t>symbols, the four blocks, FHA, the gain curve, the three regions, how ZVS works, what breaks off resonance</a:t>
            </a:r>
            <a:endParaRPr lang="en-US" sz="1100" dirty="0"/>
          </a:p>
        </p:txBody>
      </p:sp>
      <p:sp>
        <p:nvSpPr>
          <p:cNvPr id="9" name="Shape 6"/>
          <p:cNvSpPr/>
          <p:nvPr/>
        </p:nvSpPr>
        <p:spPr>
          <a:xfrm>
            <a:off x="502920" y="1792224"/>
            <a:ext cx="384048" cy="384048"/>
          </a:xfrm>
          <a:prstGeom prst="roundRect">
            <a:avLst>
              <a:gd name="adj" fmla="val 19048"/>
            </a:avLst>
          </a:prstGeom>
          <a:solidFill>
            <a:srgbClr val="FFD200"/>
          </a:solidFill>
          <a:ln/>
        </p:spPr>
        <p:txBody>
          <a:bodyPr/>
          <a:p/>
        </p:txBody>
      </p:sp>
      <p:sp>
        <p:nvSpPr>
          <p:cNvPr id="10" name="Text 7"/>
          <p:cNvSpPr/>
          <p:nvPr/>
        </p:nvSpPr>
        <p:spPr>
          <a:xfrm>
            <a:off x="502920" y="1792224"/>
            <a:ext cx="384048" cy="384048"/>
          </a:xfrm>
          <a:prstGeom prst="rect">
            <a:avLst/>
          </a:prstGeom>
          <a:noFill/>
          <a:ln/>
        </p:spPr>
        <p:txBody>
          <a:bodyPr wrap="square" lIns="0" tIns="0" rIns="0" bIns="0" rtlCol="0" anchor="ctr"/>
          <a:lstStyle/>
          <a:p>
            <a:pPr algn="ctr" indent="0" marL="0">
              <a:buNone/>
            </a:pPr>
            <a:r>
              <a:rPr lang="en-US" sz="1500" b="1" dirty="0">
                <a:solidFill>
                  <a:srgbClr val="03234B"/>
                </a:solidFill>
                <a:latin typeface="Arial" pitchFamily="34" charset="0"/>
                <a:ea typeface="Arial" pitchFamily="34" charset="-122"/>
                <a:cs typeface="Arial" pitchFamily="34" charset="-120"/>
              </a:rPr>
              <a:t>2</a:t>
            </a:r>
            <a:endParaRPr lang="en-US" sz="1500" dirty="0"/>
          </a:p>
        </p:txBody>
      </p:sp>
      <p:sp>
        <p:nvSpPr>
          <p:cNvPr id="11" name="Text 8"/>
          <p:cNvSpPr/>
          <p:nvPr/>
        </p:nvSpPr>
        <p:spPr>
          <a:xfrm>
            <a:off x="1051560" y="1801368"/>
            <a:ext cx="3017520" cy="365760"/>
          </a:xfrm>
          <a:prstGeom prst="rect">
            <a:avLst/>
          </a:prstGeom>
          <a:noFill/>
          <a:ln/>
        </p:spPr>
        <p:txBody>
          <a:bodyPr wrap="square" lIns="0" tIns="0" rIns="0" bIns="0" rtlCol="0" anchor="ctr"/>
          <a:lstStyle/>
          <a:p>
            <a:pPr indent="0" marL="0">
              <a:buNone/>
            </a:pPr>
            <a:r>
              <a:rPr lang="en-US" sz="1350" b="1" dirty="0">
                <a:solidFill>
                  <a:srgbClr val="03234B"/>
                </a:solidFill>
                <a:latin typeface="Arial" pitchFamily="34" charset="0"/>
                <a:ea typeface="Arial" pitchFamily="34" charset="-122"/>
                <a:cs typeface="Arial" pitchFamily="34" charset="-120"/>
              </a:rPr>
              <a:t>What "single stage PF" changes</a:t>
            </a:r>
            <a:endParaRPr lang="en-US" sz="1350" dirty="0"/>
          </a:p>
        </p:txBody>
      </p:sp>
      <p:sp>
        <p:nvSpPr>
          <p:cNvPr id="12" name="Text 9"/>
          <p:cNvSpPr/>
          <p:nvPr/>
        </p:nvSpPr>
        <p:spPr>
          <a:xfrm>
            <a:off x="4114800" y="1801368"/>
            <a:ext cx="4572000" cy="365760"/>
          </a:xfrm>
          <a:prstGeom prst="rect">
            <a:avLst/>
          </a:prstGeom>
          <a:noFill/>
          <a:ln/>
        </p:spPr>
        <p:txBody>
          <a:bodyPr wrap="square" lIns="0" tIns="0" rIns="0" bIns="0" rtlCol="0" anchor="ctr"/>
          <a:lstStyle/>
          <a:p>
            <a:pPr indent="0" marL="0">
              <a:buNone/>
            </a:pPr>
            <a:r>
              <a:rPr lang="en-US" sz="1100" dirty="0">
                <a:solidFill>
                  <a:srgbClr val="464650"/>
                </a:solidFill>
                <a:latin typeface="Arial" pitchFamily="34" charset="0"/>
                <a:ea typeface="Arial" pitchFamily="34" charset="-122"/>
                <a:cs typeface="Arial" pitchFamily="34" charset="-120"/>
              </a:rPr>
              <a:t>no bulk capacitor, topology morphing bridge by bridge, and what the 75 mF output bank costs</a:t>
            </a:r>
            <a:endParaRPr lang="en-US" sz="1100" dirty="0"/>
          </a:p>
        </p:txBody>
      </p:sp>
      <p:sp>
        <p:nvSpPr>
          <p:cNvPr id="13" name="Shape 10"/>
          <p:cNvSpPr/>
          <p:nvPr/>
        </p:nvSpPr>
        <p:spPr>
          <a:xfrm>
            <a:off x="502920" y="2395728"/>
            <a:ext cx="384048" cy="384048"/>
          </a:xfrm>
          <a:prstGeom prst="roundRect">
            <a:avLst>
              <a:gd name="adj" fmla="val 19048"/>
            </a:avLst>
          </a:prstGeom>
          <a:solidFill>
            <a:srgbClr val="FFD200"/>
          </a:solidFill>
          <a:ln/>
        </p:spPr>
        <p:txBody>
          <a:bodyPr/>
          <a:p/>
        </p:txBody>
      </p:sp>
      <p:sp>
        <p:nvSpPr>
          <p:cNvPr id="14" name="Text 11"/>
          <p:cNvSpPr/>
          <p:nvPr/>
        </p:nvSpPr>
        <p:spPr>
          <a:xfrm>
            <a:off x="502920" y="2395728"/>
            <a:ext cx="384048" cy="384048"/>
          </a:xfrm>
          <a:prstGeom prst="rect">
            <a:avLst/>
          </a:prstGeom>
          <a:noFill/>
          <a:ln/>
        </p:spPr>
        <p:txBody>
          <a:bodyPr wrap="square" lIns="0" tIns="0" rIns="0" bIns="0" rtlCol="0" anchor="ctr"/>
          <a:lstStyle/>
          <a:p>
            <a:pPr algn="ctr" indent="0" marL="0">
              <a:buNone/>
            </a:pPr>
            <a:r>
              <a:rPr lang="en-US" sz="1500" b="1" dirty="0">
                <a:solidFill>
                  <a:srgbClr val="03234B"/>
                </a:solidFill>
                <a:latin typeface="Arial" pitchFamily="34" charset="0"/>
                <a:ea typeface="Arial" pitchFamily="34" charset="-122"/>
                <a:cs typeface="Arial" pitchFamily="34" charset="-120"/>
              </a:rPr>
              <a:t>3</a:t>
            </a:r>
            <a:endParaRPr lang="en-US" sz="1500" dirty="0"/>
          </a:p>
        </p:txBody>
      </p:sp>
      <p:sp>
        <p:nvSpPr>
          <p:cNvPr id="15" name="Text 12"/>
          <p:cNvSpPr/>
          <p:nvPr/>
        </p:nvSpPr>
        <p:spPr>
          <a:xfrm>
            <a:off x="1051560" y="2404872"/>
            <a:ext cx="3017520" cy="365760"/>
          </a:xfrm>
          <a:prstGeom prst="rect">
            <a:avLst/>
          </a:prstGeom>
          <a:noFill/>
          <a:ln/>
        </p:spPr>
        <p:txBody>
          <a:bodyPr wrap="square" lIns="0" tIns="0" rIns="0" bIns="0" rtlCol="0" anchor="ctr"/>
          <a:lstStyle/>
          <a:p>
            <a:pPr indent="0" marL="0">
              <a:buNone/>
            </a:pPr>
            <a:r>
              <a:rPr lang="en-US" sz="1350" b="1" dirty="0">
                <a:solidFill>
                  <a:srgbClr val="03234B"/>
                </a:solidFill>
                <a:latin typeface="Arial" pitchFamily="34" charset="0"/>
                <a:ea typeface="Arial" pitchFamily="34" charset="-122"/>
                <a:cs typeface="Arial" pitchFamily="34" charset="-120"/>
              </a:rPr>
              <a:t>The L6790A</a:t>
            </a:r>
            <a:endParaRPr lang="en-US" sz="1350" dirty="0"/>
          </a:p>
        </p:txBody>
      </p:sp>
      <p:sp>
        <p:nvSpPr>
          <p:cNvPr id="16" name="Text 13"/>
          <p:cNvSpPr/>
          <p:nvPr/>
        </p:nvSpPr>
        <p:spPr>
          <a:xfrm>
            <a:off x="4114800" y="2404872"/>
            <a:ext cx="4572000" cy="365760"/>
          </a:xfrm>
          <a:prstGeom prst="rect">
            <a:avLst/>
          </a:prstGeom>
          <a:noFill/>
          <a:ln/>
        </p:spPr>
        <p:txBody>
          <a:bodyPr wrap="square" lIns="0" tIns="0" rIns="0" bIns="0" rtlCol="0" anchor="ctr"/>
          <a:lstStyle/>
          <a:p>
            <a:pPr indent="0" marL="0">
              <a:buNone/>
            </a:pPr>
            <a:r>
              <a:rPr lang="en-US" sz="1100" dirty="0">
                <a:solidFill>
                  <a:srgbClr val="464650"/>
                </a:solidFill>
                <a:latin typeface="Arial" pitchFamily="34" charset="0"/>
                <a:ea typeface="Arial" pitchFamily="34" charset="-122"/>
                <a:cs typeface="Arial" pitchFamily="34" charset="-120"/>
              </a:rPr>
              <a:t>pins, oscillator, the configuration strap, protections</a:t>
            </a:r>
            <a:endParaRPr lang="en-US" sz="1100" dirty="0"/>
          </a:p>
        </p:txBody>
      </p:sp>
      <p:sp>
        <p:nvSpPr>
          <p:cNvPr id="17" name="Shape 14"/>
          <p:cNvSpPr/>
          <p:nvPr/>
        </p:nvSpPr>
        <p:spPr>
          <a:xfrm>
            <a:off x="502920" y="2999232"/>
            <a:ext cx="384048" cy="384048"/>
          </a:xfrm>
          <a:prstGeom prst="roundRect">
            <a:avLst>
              <a:gd name="adj" fmla="val 19048"/>
            </a:avLst>
          </a:prstGeom>
          <a:solidFill>
            <a:srgbClr val="FFD200"/>
          </a:solidFill>
          <a:ln/>
        </p:spPr>
        <p:txBody>
          <a:bodyPr/>
          <a:p/>
        </p:txBody>
      </p:sp>
      <p:sp>
        <p:nvSpPr>
          <p:cNvPr id="18" name="Text 15"/>
          <p:cNvSpPr/>
          <p:nvPr/>
        </p:nvSpPr>
        <p:spPr>
          <a:xfrm>
            <a:off x="502920" y="2999232"/>
            <a:ext cx="384048" cy="384048"/>
          </a:xfrm>
          <a:prstGeom prst="rect">
            <a:avLst/>
          </a:prstGeom>
          <a:noFill/>
          <a:ln/>
        </p:spPr>
        <p:txBody>
          <a:bodyPr wrap="square" lIns="0" tIns="0" rIns="0" bIns="0" rtlCol="0" anchor="ctr"/>
          <a:lstStyle/>
          <a:p>
            <a:pPr algn="ctr" indent="0" marL="0">
              <a:buNone/>
            </a:pPr>
            <a:r>
              <a:rPr lang="en-US" sz="1500" b="1" dirty="0">
                <a:solidFill>
                  <a:srgbClr val="03234B"/>
                </a:solidFill>
                <a:latin typeface="Arial" pitchFamily="34" charset="0"/>
                <a:ea typeface="Arial" pitchFamily="34" charset="-122"/>
                <a:cs typeface="Arial" pitchFamily="34" charset="-120"/>
              </a:rPr>
              <a:t>4</a:t>
            </a:r>
            <a:endParaRPr lang="en-US" sz="1500" dirty="0"/>
          </a:p>
        </p:txBody>
      </p:sp>
      <p:sp>
        <p:nvSpPr>
          <p:cNvPr id="19" name="Text 16"/>
          <p:cNvSpPr/>
          <p:nvPr/>
        </p:nvSpPr>
        <p:spPr>
          <a:xfrm>
            <a:off x="1051560" y="3008376"/>
            <a:ext cx="3017520" cy="365760"/>
          </a:xfrm>
          <a:prstGeom prst="rect">
            <a:avLst/>
          </a:prstGeom>
          <a:noFill/>
          <a:ln/>
        </p:spPr>
        <p:txBody>
          <a:bodyPr wrap="square" lIns="0" tIns="0" rIns="0" bIns="0" rtlCol="0" anchor="ctr"/>
          <a:lstStyle/>
          <a:p>
            <a:pPr indent="0" marL="0">
              <a:buNone/>
            </a:pPr>
            <a:r>
              <a:rPr lang="en-US" sz="1350" b="1" dirty="0">
                <a:solidFill>
                  <a:srgbClr val="03234B"/>
                </a:solidFill>
                <a:latin typeface="Arial" pitchFamily="34" charset="0"/>
                <a:ea typeface="Arial" pitchFamily="34" charset="-122"/>
                <a:cs typeface="Arial" pitchFamily="34" charset="-120"/>
              </a:rPr>
              <a:t>Side by side</a:t>
            </a:r>
            <a:endParaRPr lang="en-US" sz="1350" dirty="0"/>
          </a:p>
        </p:txBody>
      </p:sp>
      <p:sp>
        <p:nvSpPr>
          <p:cNvPr id="20" name="Text 17"/>
          <p:cNvSpPr/>
          <p:nvPr/>
        </p:nvSpPr>
        <p:spPr>
          <a:xfrm>
            <a:off x="4114800" y="3008376"/>
            <a:ext cx="4572000" cy="365760"/>
          </a:xfrm>
          <a:prstGeom prst="rect">
            <a:avLst/>
          </a:prstGeom>
          <a:noFill/>
          <a:ln/>
        </p:spPr>
        <p:txBody>
          <a:bodyPr wrap="square" lIns="0" tIns="0" rIns="0" bIns="0" rtlCol="0" anchor="ctr"/>
          <a:lstStyle/>
          <a:p>
            <a:pPr indent="0" marL="0">
              <a:buNone/>
            </a:pPr>
            <a:r>
              <a:rPr lang="en-US" sz="1100" dirty="0">
                <a:solidFill>
                  <a:srgbClr val="464650"/>
                </a:solidFill>
                <a:latin typeface="Arial" pitchFamily="34" charset="0"/>
                <a:ea typeface="Arial" pitchFamily="34" charset="-122"/>
                <a:cs typeface="Arial" pitchFamily="34" charset="-120"/>
              </a:rPr>
              <a:t>a table of every difference that matters</a:t>
            </a:r>
            <a:endParaRPr lang="en-US" sz="1100" dirty="0"/>
          </a:p>
        </p:txBody>
      </p:sp>
      <p:sp>
        <p:nvSpPr>
          <p:cNvPr id="21" name="Shape 18"/>
          <p:cNvSpPr/>
          <p:nvPr/>
        </p:nvSpPr>
        <p:spPr>
          <a:xfrm>
            <a:off x="502920" y="3602736"/>
            <a:ext cx="384048" cy="384048"/>
          </a:xfrm>
          <a:prstGeom prst="roundRect">
            <a:avLst>
              <a:gd name="adj" fmla="val 19048"/>
            </a:avLst>
          </a:prstGeom>
          <a:solidFill>
            <a:srgbClr val="FFD200"/>
          </a:solidFill>
          <a:ln/>
        </p:spPr>
        <p:txBody>
          <a:bodyPr/>
          <a:p/>
        </p:txBody>
      </p:sp>
      <p:sp>
        <p:nvSpPr>
          <p:cNvPr id="22" name="Text 19"/>
          <p:cNvSpPr/>
          <p:nvPr/>
        </p:nvSpPr>
        <p:spPr>
          <a:xfrm>
            <a:off x="502920" y="3602736"/>
            <a:ext cx="384048" cy="384048"/>
          </a:xfrm>
          <a:prstGeom prst="rect">
            <a:avLst/>
          </a:prstGeom>
          <a:noFill/>
          <a:ln/>
        </p:spPr>
        <p:txBody>
          <a:bodyPr wrap="square" lIns="0" tIns="0" rIns="0" bIns="0" rtlCol="0" anchor="ctr"/>
          <a:lstStyle/>
          <a:p>
            <a:pPr algn="ctr" indent="0" marL="0">
              <a:buNone/>
            </a:pPr>
            <a:r>
              <a:rPr lang="en-US" sz="1500" b="1" dirty="0">
                <a:solidFill>
                  <a:srgbClr val="03234B"/>
                </a:solidFill>
                <a:latin typeface="Arial" pitchFamily="34" charset="0"/>
                <a:ea typeface="Arial" pitchFamily="34" charset="-122"/>
                <a:cs typeface="Arial" pitchFamily="34" charset="-120"/>
              </a:rPr>
              <a:t>5</a:t>
            </a:r>
            <a:endParaRPr lang="en-US" sz="1500" dirty="0"/>
          </a:p>
        </p:txBody>
      </p:sp>
      <p:sp>
        <p:nvSpPr>
          <p:cNvPr id="23" name="Text 20"/>
          <p:cNvSpPr/>
          <p:nvPr/>
        </p:nvSpPr>
        <p:spPr>
          <a:xfrm>
            <a:off x="1051560" y="3611880"/>
            <a:ext cx="3017520" cy="365760"/>
          </a:xfrm>
          <a:prstGeom prst="rect">
            <a:avLst/>
          </a:prstGeom>
          <a:noFill/>
          <a:ln/>
        </p:spPr>
        <p:txBody>
          <a:bodyPr wrap="square" lIns="0" tIns="0" rIns="0" bIns="0" rtlCol="0" anchor="ctr"/>
          <a:lstStyle/>
          <a:p>
            <a:pPr indent="0" marL="0">
              <a:buNone/>
            </a:pPr>
            <a:r>
              <a:rPr lang="en-US" sz="1350" b="1" dirty="0">
                <a:solidFill>
                  <a:srgbClr val="03234B"/>
                </a:solidFill>
                <a:latin typeface="Arial" pitchFamily="34" charset="0"/>
                <a:ea typeface="Arial" pitchFamily="34" charset="-122"/>
                <a:cs typeface="Arial" pitchFamily="34" charset="-120"/>
              </a:rPr>
              <a:t>Worked example</a:t>
            </a:r>
            <a:endParaRPr lang="en-US" sz="1350" dirty="0"/>
          </a:p>
        </p:txBody>
      </p:sp>
      <p:sp>
        <p:nvSpPr>
          <p:cNvPr id="24" name="Text 21"/>
          <p:cNvSpPr/>
          <p:nvPr/>
        </p:nvSpPr>
        <p:spPr>
          <a:xfrm>
            <a:off x="4114800" y="3611880"/>
            <a:ext cx="4572000" cy="365760"/>
          </a:xfrm>
          <a:prstGeom prst="rect">
            <a:avLst/>
          </a:prstGeom>
          <a:noFill/>
          <a:ln/>
        </p:spPr>
        <p:txBody>
          <a:bodyPr wrap="square" lIns="0" tIns="0" rIns="0" bIns="0" rtlCol="0" anchor="ctr"/>
          <a:lstStyle/>
          <a:p>
            <a:pPr indent="0" marL="0">
              <a:buNone/>
            </a:pPr>
            <a:r>
              <a:rPr lang="en-US" sz="1100" dirty="0">
                <a:solidFill>
                  <a:srgbClr val="464650"/>
                </a:solidFill>
                <a:latin typeface="Arial" pitchFamily="34" charset="0"/>
                <a:ea typeface="Arial" pitchFamily="34" charset="-122"/>
                <a:cs typeface="Arial" pitchFamily="34" charset="-120"/>
              </a:rPr>
              <a:t>25 V / 26.3 A = 657.5 W, universal input, step by step</a:t>
            </a:r>
            <a:endParaRPr lang="en-US" sz="1100" dirty="0"/>
          </a:p>
        </p:txBody>
      </p:sp>
      <p:sp>
        <p:nvSpPr>
          <p:cNvPr id="25" name="Shape 22"/>
          <p:cNvSpPr/>
          <p:nvPr/>
        </p:nvSpPr>
        <p:spPr>
          <a:xfrm>
            <a:off x="502920" y="4206240"/>
            <a:ext cx="384048" cy="384048"/>
          </a:xfrm>
          <a:prstGeom prst="roundRect">
            <a:avLst>
              <a:gd name="adj" fmla="val 19048"/>
            </a:avLst>
          </a:prstGeom>
          <a:solidFill>
            <a:srgbClr val="FFD200"/>
          </a:solidFill>
          <a:ln/>
        </p:spPr>
        <p:txBody>
          <a:bodyPr/>
          <a:p/>
        </p:txBody>
      </p:sp>
      <p:sp>
        <p:nvSpPr>
          <p:cNvPr id="26" name="Text 23"/>
          <p:cNvSpPr/>
          <p:nvPr/>
        </p:nvSpPr>
        <p:spPr>
          <a:xfrm>
            <a:off x="502920" y="4206240"/>
            <a:ext cx="384048" cy="384048"/>
          </a:xfrm>
          <a:prstGeom prst="rect">
            <a:avLst/>
          </a:prstGeom>
          <a:noFill/>
          <a:ln/>
        </p:spPr>
        <p:txBody>
          <a:bodyPr wrap="square" lIns="0" tIns="0" rIns="0" bIns="0" rtlCol="0" anchor="ctr"/>
          <a:lstStyle/>
          <a:p>
            <a:pPr algn="ctr" indent="0" marL="0">
              <a:buNone/>
            </a:pPr>
            <a:r>
              <a:rPr lang="en-US" sz="1500" b="1" dirty="0">
                <a:solidFill>
                  <a:srgbClr val="03234B"/>
                </a:solidFill>
                <a:latin typeface="Arial" pitchFamily="34" charset="0"/>
                <a:ea typeface="Arial" pitchFamily="34" charset="-122"/>
                <a:cs typeface="Arial" pitchFamily="34" charset="-120"/>
              </a:rPr>
              <a:t>6</a:t>
            </a:r>
            <a:endParaRPr lang="en-US" sz="1500" dirty="0"/>
          </a:p>
        </p:txBody>
      </p:sp>
      <p:sp>
        <p:nvSpPr>
          <p:cNvPr id="27" name="Text 24"/>
          <p:cNvSpPr/>
          <p:nvPr/>
        </p:nvSpPr>
        <p:spPr>
          <a:xfrm>
            <a:off x="1051560" y="4215384"/>
            <a:ext cx="3017520" cy="365760"/>
          </a:xfrm>
          <a:prstGeom prst="rect">
            <a:avLst/>
          </a:prstGeom>
          <a:noFill/>
          <a:ln/>
        </p:spPr>
        <p:txBody>
          <a:bodyPr wrap="square" lIns="0" tIns="0" rIns="0" bIns="0" rtlCol="0" anchor="ctr"/>
          <a:lstStyle/>
          <a:p>
            <a:pPr indent="0" marL="0">
              <a:buNone/>
            </a:pPr>
            <a:r>
              <a:rPr lang="en-US" sz="1350" b="1" dirty="0">
                <a:solidFill>
                  <a:srgbClr val="03234B"/>
                </a:solidFill>
                <a:latin typeface="Arial" pitchFamily="34" charset="0"/>
                <a:ea typeface="Arial" pitchFamily="34" charset="-122"/>
                <a:cs typeface="Arial" pitchFamily="34" charset="-120"/>
              </a:rPr>
              <a:t>Verification &amp; errata</a:t>
            </a:r>
            <a:endParaRPr lang="en-US" sz="1350" dirty="0"/>
          </a:p>
        </p:txBody>
      </p:sp>
      <p:sp>
        <p:nvSpPr>
          <p:cNvPr id="28" name="Text 25"/>
          <p:cNvSpPr/>
          <p:nvPr/>
        </p:nvSpPr>
        <p:spPr>
          <a:xfrm>
            <a:off x="4114800" y="4215384"/>
            <a:ext cx="4572000" cy="365760"/>
          </a:xfrm>
          <a:prstGeom prst="rect">
            <a:avLst/>
          </a:prstGeom>
          <a:noFill/>
          <a:ln/>
        </p:spPr>
        <p:txBody>
          <a:bodyPr wrap="square" lIns="0" tIns="0" rIns="0" bIns="0" rtlCol="0" anchor="ctr"/>
          <a:lstStyle/>
          <a:p>
            <a:pPr indent="0" marL="0">
              <a:buNone/>
            </a:pPr>
            <a:r>
              <a:rPr lang="en-US" sz="1100" dirty="0">
                <a:solidFill>
                  <a:srgbClr val="464650"/>
                </a:solidFill>
                <a:latin typeface="Arial" pitchFamily="34" charset="0"/>
                <a:ea typeface="Arial" pitchFamily="34" charset="-122"/>
                <a:cs typeface="Arial" pitchFamily="34" charset="-120"/>
              </a:rPr>
              <a:t>what we re-derived, and what we found wrong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symbols, once and for all  (1/3)</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6 of 16 — the tank itself — voltages, turns ratio, and the three reactive parts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84048" y="1097280"/>
            <a:ext cx="8375904" cy="530352"/>
          </a:xfrm>
          <a:prstGeom prst="roundRect">
            <a:avLst>
              <a:gd name="adj" fmla="val 5172"/>
            </a:avLst>
          </a:prstGeom>
          <a:solidFill>
            <a:srgbClr val="FFFFFF"/>
          </a:solidFill>
          <a:ln w="9525">
            <a:solidFill>
              <a:srgbClr val="DDE3EA"/>
            </a:solidFill>
            <a:prstDash val="solid"/>
          </a:ln>
        </p:spPr>
        <p:txBody>
          <a:bodyPr/>
          <a:p/>
        </p:txBody>
      </p:sp>
      <p:pic>
        <p:nvPicPr>
          <p:cNvPr id="7" name="Image 1" descr="sym/vin.png">    </p:cNvPr>
          <p:cNvPicPr>
            <a:picLocks noChangeAspect="1"/>
          </p:cNvPicPr>
          <p:nvPr/>
        </p:nvPicPr>
        <p:blipFill>
          <a:blip r:embed="rId2"/>
          <a:stretch>
            <a:fillRect/>
          </a:stretch>
        </p:blipFill>
        <p:spPr>
          <a:xfrm>
            <a:off x="512064" y="1207008"/>
            <a:ext cx="741744" cy="310896"/>
          </a:xfrm>
          <a:prstGeom prst="rect">
            <a:avLst/>
          </a:prstGeom>
        </p:spPr>
      </p:pic>
      <p:sp>
        <p:nvSpPr>
          <p:cNvPr id="8" name="Text 4"/>
          <p:cNvSpPr/>
          <p:nvPr/>
        </p:nvSpPr>
        <p:spPr>
          <a:xfrm>
            <a:off x="1956816" y="1133856"/>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bus voltage</a:t>
            </a:r>
            <a:endParaRPr lang="en-US" sz="1050" dirty="0"/>
          </a:p>
        </p:txBody>
      </p:sp>
      <p:sp>
        <p:nvSpPr>
          <p:cNvPr id="9" name="Text 5"/>
          <p:cNvSpPr/>
          <p:nvPr/>
        </p:nvSpPr>
        <p:spPr>
          <a:xfrm>
            <a:off x="1956816" y="1316736"/>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What the bridge is fed from. Two-stage: a flat 400 V. Single-stage: the raw rectified mains, sweeping 0 → 373 V, one hundred times a second.</a:t>
            </a:r>
            <a:endParaRPr lang="en-US" sz="850" dirty="0"/>
          </a:p>
        </p:txBody>
      </p:sp>
      <p:sp>
        <p:nvSpPr>
          <p:cNvPr id="10" name="Shape 6"/>
          <p:cNvSpPr/>
          <p:nvPr/>
        </p:nvSpPr>
        <p:spPr>
          <a:xfrm>
            <a:off x="384048" y="1673352"/>
            <a:ext cx="8375904" cy="530352"/>
          </a:xfrm>
          <a:prstGeom prst="roundRect">
            <a:avLst>
              <a:gd name="adj" fmla="val 5172"/>
            </a:avLst>
          </a:prstGeom>
          <a:solidFill>
            <a:srgbClr val="F5F7FA"/>
          </a:solidFill>
          <a:ln w="9525">
            <a:solidFill>
              <a:srgbClr val="DDE3EA"/>
            </a:solidFill>
            <a:prstDash val="solid"/>
          </a:ln>
        </p:spPr>
        <p:txBody>
          <a:bodyPr/>
          <a:p/>
        </p:txBody>
      </p:sp>
      <p:pic>
        <p:nvPicPr>
          <p:cNvPr id="11" name="Image 2" descr="sym/vdrive.png">    </p:cNvPr>
          <p:cNvPicPr>
            <a:picLocks noChangeAspect="1"/>
          </p:cNvPicPr>
          <p:nvPr/>
        </p:nvPicPr>
        <p:blipFill>
          <a:blip r:embed="rId3"/>
          <a:stretch>
            <a:fillRect/>
          </a:stretch>
        </p:blipFill>
        <p:spPr>
          <a:xfrm>
            <a:off x="512064" y="1783080"/>
            <a:ext cx="688413" cy="310896"/>
          </a:xfrm>
          <a:prstGeom prst="rect">
            <a:avLst/>
          </a:prstGeom>
        </p:spPr>
      </p:pic>
      <p:sp>
        <p:nvSpPr>
          <p:cNvPr id="12" name="Text 7"/>
          <p:cNvSpPr/>
          <p:nvPr/>
        </p:nvSpPr>
        <p:spPr>
          <a:xfrm>
            <a:off x="1956816" y="1709928"/>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tank drive amplitude</a:t>
            </a:r>
            <a:endParaRPr lang="en-US" sz="1050" dirty="0"/>
          </a:p>
        </p:txBody>
      </p:sp>
      <p:sp>
        <p:nvSpPr>
          <p:cNvPr id="13" name="Text 8"/>
          <p:cNvSpPr/>
          <p:nvPr/>
        </p:nvSpPr>
        <p:spPr>
          <a:xfrm>
            <a:off x="1956816" y="1892808"/>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How hard the bridge drives the tank. A full bridge drives with Vᵢₙ, a half bridge with Vᵢₙ/2 — Cᵣ blocks the DC component.</a:t>
            </a:r>
            <a:endParaRPr lang="en-US" sz="850" dirty="0"/>
          </a:p>
        </p:txBody>
      </p:sp>
      <p:sp>
        <p:nvSpPr>
          <p:cNvPr id="14" name="Shape 9"/>
          <p:cNvSpPr/>
          <p:nvPr/>
        </p:nvSpPr>
        <p:spPr>
          <a:xfrm>
            <a:off x="384048" y="2249424"/>
            <a:ext cx="8375904" cy="530352"/>
          </a:xfrm>
          <a:prstGeom prst="roundRect">
            <a:avLst>
              <a:gd name="adj" fmla="val 5172"/>
            </a:avLst>
          </a:prstGeom>
          <a:solidFill>
            <a:srgbClr val="FFFFFF"/>
          </a:solidFill>
          <a:ln w="9525">
            <a:solidFill>
              <a:srgbClr val="DDE3EA"/>
            </a:solidFill>
            <a:prstDash val="solid"/>
          </a:ln>
        </p:spPr>
        <p:txBody>
          <a:bodyPr/>
          <a:p/>
        </p:txBody>
      </p:sp>
      <p:pic>
        <p:nvPicPr>
          <p:cNvPr id="15" name="Image 3" descr="sym/Nrect.png">    </p:cNvPr>
          <p:cNvPicPr>
            <a:picLocks noChangeAspect="1"/>
          </p:cNvPicPr>
          <p:nvPr/>
        </p:nvPicPr>
        <p:blipFill>
          <a:blip r:embed="rId4"/>
          <a:stretch>
            <a:fillRect/>
          </a:stretch>
        </p:blipFill>
        <p:spPr>
          <a:xfrm>
            <a:off x="512064" y="2377198"/>
            <a:ext cx="1234440" cy="274805"/>
          </a:xfrm>
          <a:prstGeom prst="rect">
            <a:avLst/>
          </a:prstGeom>
        </p:spPr>
      </p:pic>
      <p:sp>
        <p:nvSpPr>
          <p:cNvPr id="16" name="Text 10"/>
          <p:cNvSpPr/>
          <p:nvPr/>
        </p:nvSpPr>
        <p:spPr>
          <a:xfrm>
            <a:off x="1956816" y="2286000"/>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rectifier count and drop</a:t>
            </a:r>
            <a:endParaRPr lang="en-US" sz="1050" dirty="0"/>
          </a:p>
        </p:txBody>
      </p:sp>
      <p:sp>
        <p:nvSpPr>
          <p:cNvPr id="17" name="Text 11"/>
          <p:cNvSpPr/>
          <p:nvPr/>
        </p:nvSpPr>
        <p:spPr>
          <a:xfrm>
            <a:off x="1956816" y="2468880"/>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Nrect = 1 for a centre tap, 2 for a secondary full bridge. Vrect is the forward drop of ONE device.</a:t>
            </a:r>
            <a:endParaRPr lang="en-US" sz="850" dirty="0"/>
          </a:p>
        </p:txBody>
      </p:sp>
      <p:sp>
        <p:nvSpPr>
          <p:cNvPr id="18" name="Shape 12"/>
          <p:cNvSpPr/>
          <p:nvPr/>
        </p:nvSpPr>
        <p:spPr>
          <a:xfrm>
            <a:off x="384048" y="2825496"/>
            <a:ext cx="8375904" cy="530352"/>
          </a:xfrm>
          <a:prstGeom prst="roundRect">
            <a:avLst>
              <a:gd name="adj" fmla="val 5172"/>
            </a:avLst>
          </a:prstGeom>
          <a:solidFill>
            <a:srgbClr val="F5F7FA"/>
          </a:solidFill>
          <a:ln w="9525">
            <a:solidFill>
              <a:srgbClr val="DDE3EA"/>
            </a:solidFill>
            <a:prstDash val="solid"/>
          </a:ln>
        </p:spPr>
        <p:txBody>
          <a:bodyPr/>
          <a:p/>
        </p:txBody>
      </p:sp>
      <p:pic>
        <p:nvPicPr>
          <p:cNvPr id="19" name="Image 4" descr="sym/voeff.png">    </p:cNvPr>
          <p:cNvPicPr>
            <a:picLocks noChangeAspect="1"/>
          </p:cNvPicPr>
          <p:nvPr/>
        </p:nvPicPr>
        <p:blipFill>
          <a:blip r:embed="rId5"/>
          <a:stretch>
            <a:fillRect/>
          </a:stretch>
        </p:blipFill>
        <p:spPr>
          <a:xfrm>
            <a:off x="512064" y="2935224"/>
            <a:ext cx="686863" cy="310896"/>
          </a:xfrm>
          <a:prstGeom prst="rect">
            <a:avLst/>
          </a:prstGeom>
        </p:spPr>
      </p:pic>
      <p:sp>
        <p:nvSpPr>
          <p:cNvPr id="20" name="Text 13"/>
          <p:cNvSpPr/>
          <p:nvPr/>
        </p:nvSpPr>
        <p:spPr>
          <a:xfrm>
            <a:off x="1956816" y="2862072"/>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reflected output voltage</a:t>
            </a:r>
            <a:endParaRPr lang="en-US" sz="1050" dirty="0"/>
          </a:p>
        </p:txBody>
      </p:sp>
      <p:sp>
        <p:nvSpPr>
          <p:cNvPr id="21" name="Text 14"/>
          <p:cNvSpPr/>
          <p:nvPr/>
        </p:nvSpPr>
        <p:spPr>
          <a:xfrm>
            <a:off x="1956816" y="3044952"/>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Vₒᵤₜ + Nrect · Vrect — what the secondary looks like once the rectifier drops are added in.</a:t>
            </a:r>
            <a:endParaRPr lang="en-US" sz="850" dirty="0"/>
          </a:p>
        </p:txBody>
      </p:sp>
      <p:sp>
        <p:nvSpPr>
          <p:cNvPr id="22" name="Shape 15"/>
          <p:cNvSpPr/>
          <p:nvPr/>
        </p:nvSpPr>
        <p:spPr>
          <a:xfrm>
            <a:off x="384048" y="3401568"/>
            <a:ext cx="8375904" cy="530352"/>
          </a:xfrm>
          <a:prstGeom prst="roundRect">
            <a:avLst>
              <a:gd name="adj" fmla="val 5172"/>
            </a:avLst>
          </a:prstGeom>
          <a:solidFill>
            <a:srgbClr val="FFFFFF"/>
          </a:solidFill>
          <a:ln w="9525">
            <a:solidFill>
              <a:srgbClr val="DDE3EA"/>
            </a:solidFill>
            <a:prstDash val="solid"/>
          </a:ln>
        </p:spPr>
        <p:txBody>
          <a:bodyPr/>
          <a:p/>
        </p:txBody>
      </p:sp>
      <p:pic>
        <p:nvPicPr>
          <p:cNvPr id="23" name="Image 5" descr="sym/n.png">    </p:cNvPr>
          <p:cNvPicPr>
            <a:picLocks noChangeAspect="1"/>
          </p:cNvPicPr>
          <p:nvPr/>
        </p:nvPicPr>
        <p:blipFill>
          <a:blip r:embed="rId6"/>
          <a:stretch>
            <a:fillRect/>
          </a:stretch>
        </p:blipFill>
        <p:spPr>
          <a:xfrm>
            <a:off x="512064" y="3511296"/>
            <a:ext cx="1127849" cy="310896"/>
          </a:xfrm>
          <a:prstGeom prst="rect">
            <a:avLst/>
          </a:prstGeom>
        </p:spPr>
      </p:pic>
      <p:sp>
        <p:nvSpPr>
          <p:cNvPr id="24" name="Text 16"/>
          <p:cNvSpPr/>
          <p:nvPr/>
        </p:nvSpPr>
        <p:spPr>
          <a:xfrm>
            <a:off x="1956816" y="3438144"/>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turns ratio</a:t>
            </a:r>
            <a:endParaRPr lang="en-US" sz="1050" dirty="0"/>
          </a:p>
        </p:txBody>
      </p:sp>
      <p:sp>
        <p:nvSpPr>
          <p:cNvPr id="25" name="Text 17"/>
          <p:cNvSpPr/>
          <p:nvPr/>
        </p:nvSpPr>
        <p:spPr>
          <a:xfrm>
            <a:off x="1956816" y="3621024"/>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It only ever appears multiplied by Vo,eff. That product is the voltage the secondary reflects back to the primary side.</a:t>
            </a:r>
            <a:endParaRPr lang="en-US" sz="850" dirty="0"/>
          </a:p>
        </p:txBody>
      </p:sp>
      <p:sp>
        <p:nvSpPr>
          <p:cNvPr id="26" name="Shape 18"/>
          <p:cNvSpPr/>
          <p:nvPr/>
        </p:nvSpPr>
        <p:spPr>
          <a:xfrm>
            <a:off x="384048" y="3977640"/>
            <a:ext cx="8375904" cy="530352"/>
          </a:xfrm>
          <a:prstGeom prst="roundRect">
            <a:avLst>
              <a:gd name="adj" fmla="val 5172"/>
            </a:avLst>
          </a:prstGeom>
          <a:solidFill>
            <a:srgbClr val="F5F7FA"/>
          </a:solidFill>
          <a:ln w="9525">
            <a:solidFill>
              <a:srgbClr val="DDE3EA"/>
            </a:solidFill>
            <a:prstDash val="solid"/>
          </a:ln>
        </p:spPr>
        <p:txBody>
          <a:bodyPr/>
          <a:p/>
        </p:txBody>
      </p:sp>
      <p:pic>
        <p:nvPicPr>
          <p:cNvPr id="27" name="Image 6" descr="sym/M.png">    </p:cNvPr>
          <p:cNvPicPr>
            <a:picLocks noChangeAspect="1"/>
          </p:cNvPicPr>
          <p:nvPr/>
        </p:nvPicPr>
        <p:blipFill>
          <a:blip r:embed="rId7"/>
          <a:stretch>
            <a:fillRect/>
          </a:stretch>
        </p:blipFill>
        <p:spPr>
          <a:xfrm>
            <a:off x="512064" y="4087368"/>
            <a:ext cx="281287" cy="310896"/>
          </a:xfrm>
          <a:prstGeom prst="rect">
            <a:avLst/>
          </a:prstGeom>
        </p:spPr>
      </p:pic>
      <p:sp>
        <p:nvSpPr>
          <p:cNvPr id="28" name="Text 19"/>
          <p:cNvSpPr/>
          <p:nvPr/>
        </p:nvSpPr>
        <p:spPr>
          <a:xfrm>
            <a:off x="1956816" y="4014216"/>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tank voltage gain</a:t>
            </a:r>
            <a:endParaRPr lang="en-US" sz="1050" dirty="0"/>
          </a:p>
        </p:txBody>
      </p:sp>
      <p:sp>
        <p:nvSpPr>
          <p:cNvPr id="29" name="Text 20"/>
          <p:cNvSpPr/>
          <p:nvPr/>
        </p:nvSpPr>
        <p:spPr>
          <a:xfrm>
            <a:off x="1956816" y="4197096"/>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(voltage the tank hands to the transformer) ÷ (voltage the bridge applies). M = 1 at the series resonance, for any load.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symbols, once and for all  (2/3)</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6 of 16 — gain, the two design knobs, and the two resonances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84048" y="1097280"/>
            <a:ext cx="8375904" cy="530352"/>
          </a:xfrm>
          <a:prstGeom prst="roundRect">
            <a:avLst>
              <a:gd name="adj" fmla="val 5172"/>
            </a:avLst>
          </a:prstGeom>
          <a:solidFill>
            <a:srgbClr val="FFFFFF"/>
          </a:solidFill>
          <a:ln w="9525">
            <a:solidFill>
              <a:srgbClr val="DDE3EA"/>
            </a:solidFill>
            <a:prstDash val="solid"/>
          </a:ln>
        </p:spPr>
        <p:txBody>
          <a:bodyPr/>
          <a:p/>
        </p:txBody>
      </p:sp>
      <p:pic>
        <p:nvPicPr>
          <p:cNvPr id="7" name="Image 1" descr="sym/LrCr.png">    </p:cNvPr>
          <p:cNvPicPr>
            <a:picLocks noChangeAspect="1"/>
          </p:cNvPicPr>
          <p:nvPr/>
        </p:nvPicPr>
        <p:blipFill>
          <a:blip r:embed="rId2"/>
          <a:stretch>
            <a:fillRect/>
          </a:stretch>
        </p:blipFill>
        <p:spPr>
          <a:xfrm>
            <a:off x="512064" y="1207008"/>
            <a:ext cx="794512" cy="310896"/>
          </a:xfrm>
          <a:prstGeom prst="rect">
            <a:avLst/>
          </a:prstGeom>
        </p:spPr>
      </p:pic>
      <p:sp>
        <p:nvSpPr>
          <p:cNvPr id="8" name="Text 4"/>
          <p:cNvSpPr/>
          <p:nvPr/>
        </p:nvSpPr>
        <p:spPr>
          <a:xfrm>
            <a:off x="1956816" y="1133856"/>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series resonant pair</a:t>
            </a:r>
            <a:endParaRPr lang="en-US" sz="1050" dirty="0"/>
          </a:p>
        </p:txBody>
      </p:sp>
      <p:sp>
        <p:nvSpPr>
          <p:cNvPr id="9" name="Text 5"/>
          <p:cNvSpPr/>
          <p:nvPr/>
        </p:nvSpPr>
        <p:spPr>
          <a:xfrm>
            <a:off x="1956816" y="1316736"/>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The series arm of the tank. Together they fix the series resonance fᵣ and the impedance scale Z₀.</a:t>
            </a:r>
            <a:endParaRPr lang="en-US" sz="850" dirty="0"/>
          </a:p>
        </p:txBody>
      </p:sp>
      <p:sp>
        <p:nvSpPr>
          <p:cNvPr id="10" name="Shape 6"/>
          <p:cNvSpPr/>
          <p:nvPr/>
        </p:nvSpPr>
        <p:spPr>
          <a:xfrm>
            <a:off x="384048" y="1673352"/>
            <a:ext cx="8375904" cy="530352"/>
          </a:xfrm>
          <a:prstGeom prst="roundRect">
            <a:avLst>
              <a:gd name="adj" fmla="val 5172"/>
            </a:avLst>
          </a:prstGeom>
          <a:solidFill>
            <a:srgbClr val="F5F7FA"/>
          </a:solidFill>
          <a:ln w="9525">
            <a:solidFill>
              <a:srgbClr val="DDE3EA"/>
            </a:solidFill>
            <a:prstDash val="solid"/>
          </a:ln>
        </p:spPr>
        <p:txBody>
          <a:bodyPr/>
          <a:p/>
        </p:txBody>
      </p:sp>
      <p:pic>
        <p:nvPicPr>
          <p:cNvPr id="11" name="Image 2" descr="sym/Lm.png">    </p:cNvPr>
          <p:cNvPicPr>
            <a:picLocks noChangeAspect="1"/>
          </p:cNvPicPr>
          <p:nvPr/>
        </p:nvPicPr>
        <p:blipFill>
          <a:blip r:embed="rId3"/>
          <a:stretch>
            <a:fillRect/>
          </a:stretch>
        </p:blipFill>
        <p:spPr>
          <a:xfrm>
            <a:off x="512064" y="1783080"/>
            <a:ext cx="372582" cy="310896"/>
          </a:xfrm>
          <a:prstGeom prst="rect">
            <a:avLst/>
          </a:prstGeom>
        </p:spPr>
      </p:pic>
      <p:sp>
        <p:nvSpPr>
          <p:cNvPr id="12" name="Text 7"/>
          <p:cNvSpPr/>
          <p:nvPr/>
        </p:nvSpPr>
        <p:spPr>
          <a:xfrm>
            <a:off x="1956816" y="1709928"/>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magnetising inductance</a:t>
            </a:r>
            <a:endParaRPr lang="en-US" sz="1050" dirty="0"/>
          </a:p>
        </p:txBody>
      </p:sp>
      <p:sp>
        <p:nvSpPr>
          <p:cNvPr id="13" name="Text 8"/>
          <p:cNvSpPr/>
          <p:nvPr/>
        </p:nvSpPr>
        <p:spPr>
          <a:xfrm>
            <a:off x="1956816" y="1892808"/>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The shunt arm. Its current never reaches the load — it is what discharges the MOSFET output capacitance and buys ZVS.</a:t>
            </a:r>
            <a:endParaRPr lang="en-US" sz="850" dirty="0"/>
          </a:p>
        </p:txBody>
      </p:sp>
      <p:sp>
        <p:nvSpPr>
          <p:cNvPr id="14" name="Shape 9"/>
          <p:cNvSpPr/>
          <p:nvPr/>
        </p:nvSpPr>
        <p:spPr>
          <a:xfrm>
            <a:off x="384048" y="2249424"/>
            <a:ext cx="8375904" cy="530352"/>
          </a:xfrm>
          <a:prstGeom prst="roundRect">
            <a:avLst>
              <a:gd name="adj" fmla="val 5172"/>
            </a:avLst>
          </a:prstGeom>
          <a:solidFill>
            <a:srgbClr val="FFFFFF"/>
          </a:solidFill>
          <a:ln w="9525">
            <a:solidFill>
              <a:srgbClr val="DDE3EA"/>
            </a:solidFill>
            <a:prstDash val="solid"/>
          </a:ln>
        </p:spPr>
        <p:txBody>
          <a:bodyPr/>
          <a:p/>
        </p:txBody>
      </p:sp>
      <p:pic>
        <p:nvPicPr>
          <p:cNvPr id="15" name="Image 3" descr="sym/lam.png">    </p:cNvPr>
          <p:cNvPicPr>
            <a:picLocks noChangeAspect="1"/>
          </p:cNvPicPr>
          <p:nvPr/>
        </p:nvPicPr>
        <p:blipFill>
          <a:blip r:embed="rId4"/>
          <a:stretch>
            <a:fillRect/>
          </a:stretch>
        </p:blipFill>
        <p:spPr>
          <a:xfrm>
            <a:off x="512064" y="2359152"/>
            <a:ext cx="1159691" cy="310896"/>
          </a:xfrm>
          <a:prstGeom prst="rect">
            <a:avLst/>
          </a:prstGeom>
        </p:spPr>
      </p:pic>
      <p:sp>
        <p:nvSpPr>
          <p:cNvPr id="16" name="Text 10"/>
          <p:cNvSpPr/>
          <p:nvPr/>
        </p:nvSpPr>
        <p:spPr>
          <a:xfrm>
            <a:off x="1956816" y="2286000"/>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inductance ratio — the SHAPE knob</a:t>
            </a:r>
            <a:endParaRPr lang="en-US" sz="1050" dirty="0"/>
          </a:p>
        </p:txBody>
      </p:sp>
      <p:sp>
        <p:nvSpPr>
          <p:cNvPr id="17" name="Text 11"/>
          <p:cNvSpPr/>
          <p:nvPr/>
        </p:nvSpPr>
        <p:spPr>
          <a:xfrm>
            <a:off x="1956816" y="2468880"/>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Bigger λ = a taller, steeper gain curve = more boost available, but also more circulating current. A single stage lands near 0.5.</a:t>
            </a:r>
            <a:endParaRPr lang="en-US" sz="850" dirty="0"/>
          </a:p>
        </p:txBody>
      </p:sp>
      <p:sp>
        <p:nvSpPr>
          <p:cNvPr id="18" name="Shape 12"/>
          <p:cNvSpPr/>
          <p:nvPr/>
        </p:nvSpPr>
        <p:spPr>
          <a:xfrm>
            <a:off x="384048" y="2825496"/>
            <a:ext cx="8375904" cy="530352"/>
          </a:xfrm>
          <a:prstGeom prst="roundRect">
            <a:avLst>
              <a:gd name="adj" fmla="val 5172"/>
            </a:avLst>
          </a:prstGeom>
          <a:solidFill>
            <a:srgbClr val="F5F7FA"/>
          </a:solidFill>
          <a:ln w="9525">
            <a:solidFill>
              <a:srgbClr val="DDE3EA"/>
            </a:solidFill>
            <a:prstDash val="solid"/>
          </a:ln>
        </p:spPr>
        <p:txBody>
          <a:bodyPr/>
          <a:p/>
        </p:txBody>
      </p:sp>
      <p:pic>
        <p:nvPicPr>
          <p:cNvPr id="19" name="Image 4" descr="sym/m.png">    </p:cNvPr>
          <p:cNvPicPr>
            <a:picLocks noChangeAspect="1"/>
          </p:cNvPicPr>
          <p:nvPr/>
        </p:nvPicPr>
        <p:blipFill>
          <a:blip r:embed="rId5"/>
          <a:stretch>
            <a:fillRect/>
          </a:stretch>
        </p:blipFill>
        <p:spPr>
          <a:xfrm>
            <a:off x="512064" y="2935224"/>
            <a:ext cx="1111964" cy="310896"/>
          </a:xfrm>
          <a:prstGeom prst="rect">
            <a:avLst/>
          </a:prstGeom>
        </p:spPr>
      </p:pic>
      <p:sp>
        <p:nvSpPr>
          <p:cNvPr id="20" name="Text 13"/>
          <p:cNvSpPr/>
          <p:nvPr/>
        </p:nvSpPr>
        <p:spPr>
          <a:xfrm>
            <a:off x="1956816" y="2862072"/>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the same knob, inverted</a:t>
            </a:r>
            <a:endParaRPr lang="en-US" sz="1050" dirty="0"/>
          </a:p>
        </p:txBody>
      </p:sp>
      <p:sp>
        <p:nvSpPr>
          <p:cNvPr id="21" name="Text 14"/>
          <p:cNvSpPr/>
          <p:nvPr/>
        </p:nvSpPr>
        <p:spPr>
          <a:xfrm>
            <a:off x="1956816" y="3044952"/>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m = 1 + 1/λ. Application notes quote m, this deck quotes λ. m = 3…8 is the classic range; a single stage needs about 2.9.</a:t>
            </a:r>
            <a:endParaRPr lang="en-US" sz="850" dirty="0"/>
          </a:p>
        </p:txBody>
      </p:sp>
      <p:sp>
        <p:nvSpPr>
          <p:cNvPr id="22" name="Shape 15"/>
          <p:cNvSpPr/>
          <p:nvPr/>
        </p:nvSpPr>
        <p:spPr>
          <a:xfrm>
            <a:off x="384048" y="3401568"/>
            <a:ext cx="8375904" cy="530352"/>
          </a:xfrm>
          <a:prstGeom prst="roundRect">
            <a:avLst>
              <a:gd name="adj" fmla="val 5172"/>
            </a:avLst>
          </a:prstGeom>
          <a:solidFill>
            <a:srgbClr val="FFFFFF"/>
          </a:solidFill>
          <a:ln w="9525">
            <a:solidFill>
              <a:srgbClr val="DDE3EA"/>
            </a:solidFill>
            <a:prstDash val="solid"/>
          </a:ln>
        </p:spPr>
        <p:txBody>
          <a:bodyPr/>
          <a:p/>
        </p:txBody>
      </p:sp>
      <p:pic>
        <p:nvPicPr>
          <p:cNvPr id="23" name="Image 5" descr="sym/frfo.png">    </p:cNvPr>
          <p:cNvPicPr>
            <a:picLocks noChangeAspect="1"/>
          </p:cNvPicPr>
          <p:nvPr/>
        </p:nvPicPr>
        <p:blipFill>
          <a:blip r:embed="rId6"/>
          <a:stretch>
            <a:fillRect/>
          </a:stretch>
        </p:blipFill>
        <p:spPr>
          <a:xfrm>
            <a:off x="512064" y="3511296"/>
            <a:ext cx="671141" cy="310896"/>
          </a:xfrm>
          <a:prstGeom prst="rect">
            <a:avLst/>
          </a:prstGeom>
        </p:spPr>
      </p:pic>
      <p:sp>
        <p:nvSpPr>
          <p:cNvPr id="24" name="Text 16"/>
          <p:cNvSpPr/>
          <p:nvPr/>
        </p:nvSpPr>
        <p:spPr>
          <a:xfrm>
            <a:off x="1956816" y="3438144"/>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the two resonances</a:t>
            </a:r>
            <a:endParaRPr lang="en-US" sz="1050" dirty="0"/>
          </a:p>
        </p:txBody>
      </p:sp>
      <p:sp>
        <p:nvSpPr>
          <p:cNvPr id="25" name="Text 17"/>
          <p:cNvSpPr/>
          <p:nvPr/>
        </p:nvSpPr>
        <p:spPr>
          <a:xfrm>
            <a:off x="1956816" y="3621024"/>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fᵣ is Cᵣ with Lᵣ alone (secondary conducting). fₒ is Cᵣ with Lᵣ + Lₘ (no load). fₒ is the FREQUENCY FLOOR.</a:t>
            </a:r>
            <a:endParaRPr lang="en-US" sz="850" dirty="0"/>
          </a:p>
        </p:txBody>
      </p:sp>
      <p:sp>
        <p:nvSpPr>
          <p:cNvPr id="26" name="Shape 18"/>
          <p:cNvSpPr/>
          <p:nvPr/>
        </p:nvSpPr>
        <p:spPr>
          <a:xfrm>
            <a:off x="384048" y="3977640"/>
            <a:ext cx="8375904" cy="530352"/>
          </a:xfrm>
          <a:prstGeom prst="roundRect">
            <a:avLst>
              <a:gd name="adj" fmla="val 5172"/>
            </a:avLst>
          </a:prstGeom>
          <a:solidFill>
            <a:srgbClr val="F5F7FA"/>
          </a:solidFill>
          <a:ln w="9525">
            <a:solidFill>
              <a:srgbClr val="DDE3EA"/>
            </a:solidFill>
            <a:prstDash val="solid"/>
          </a:ln>
        </p:spPr>
        <p:txBody>
          <a:bodyPr/>
          <a:p/>
        </p:txBody>
      </p:sp>
      <p:pic>
        <p:nvPicPr>
          <p:cNvPr id="27" name="Image 6" descr="sym/fn.png">    </p:cNvPr>
          <p:cNvPicPr>
            <a:picLocks noChangeAspect="1"/>
          </p:cNvPicPr>
          <p:nvPr/>
        </p:nvPicPr>
        <p:blipFill>
          <a:blip r:embed="rId7"/>
          <a:stretch>
            <a:fillRect/>
          </a:stretch>
        </p:blipFill>
        <p:spPr>
          <a:xfrm>
            <a:off x="512064" y="4087368"/>
            <a:ext cx="1191768" cy="310896"/>
          </a:xfrm>
          <a:prstGeom prst="rect">
            <a:avLst/>
          </a:prstGeom>
        </p:spPr>
      </p:pic>
      <p:sp>
        <p:nvSpPr>
          <p:cNvPr id="28" name="Text 19"/>
          <p:cNvSpPr/>
          <p:nvPr/>
        </p:nvSpPr>
        <p:spPr>
          <a:xfrm>
            <a:off x="1956816" y="4014216"/>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normalised frequency</a:t>
            </a:r>
            <a:endParaRPr lang="en-US" sz="1050" dirty="0"/>
          </a:p>
        </p:txBody>
      </p:sp>
      <p:sp>
        <p:nvSpPr>
          <p:cNvPr id="29" name="Text 20"/>
          <p:cNvSpPr/>
          <p:nvPr/>
        </p:nvSpPr>
        <p:spPr>
          <a:xfrm>
            <a:off x="1956816" y="4197096"/>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1 means "at resonance". Below 1 the tank boosts, above 1 it bucks. The floor sits at fₙ₀ = fₒ/fᵣ.</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symbols, once and for all  (3/3)</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4 of 16 — loading — and the one variable that only exists in a single-stage design</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84048" y="1097280"/>
            <a:ext cx="8375904" cy="530352"/>
          </a:xfrm>
          <a:prstGeom prst="roundRect">
            <a:avLst>
              <a:gd name="adj" fmla="val 5172"/>
            </a:avLst>
          </a:prstGeom>
          <a:solidFill>
            <a:srgbClr val="FFFFFF"/>
          </a:solidFill>
          <a:ln w="9525">
            <a:solidFill>
              <a:srgbClr val="DDE3EA"/>
            </a:solidFill>
            <a:prstDash val="solid"/>
          </a:ln>
        </p:spPr>
        <p:txBody>
          <a:bodyPr/>
          <a:p/>
        </p:txBody>
      </p:sp>
      <p:pic>
        <p:nvPicPr>
          <p:cNvPr id="7" name="Image 1" descr="sym/Rac.png">    </p:cNvPr>
          <p:cNvPicPr>
            <a:picLocks noChangeAspect="1"/>
          </p:cNvPicPr>
          <p:nvPr/>
        </p:nvPicPr>
        <p:blipFill>
          <a:blip r:embed="rId2"/>
          <a:stretch>
            <a:fillRect/>
          </a:stretch>
        </p:blipFill>
        <p:spPr>
          <a:xfrm>
            <a:off x="512064" y="1207008"/>
            <a:ext cx="451539" cy="310896"/>
          </a:xfrm>
          <a:prstGeom prst="rect">
            <a:avLst/>
          </a:prstGeom>
        </p:spPr>
      </p:pic>
      <p:sp>
        <p:nvSpPr>
          <p:cNvPr id="8" name="Text 4"/>
          <p:cNvSpPr/>
          <p:nvPr/>
        </p:nvSpPr>
        <p:spPr>
          <a:xfrm>
            <a:off x="1956816" y="1133856"/>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equivalent ac load</a:t>
            </a:r>
            <a:endParaRPr lang="en-US" sz="1050" dirty="0"/>
          </a:p>
        </p:txBody>
      </p:sp>
      <p:sp>
        <p:nvSpPr>
          <p:cNvPr id="9" name="Text 5"/>
          <p:cNvSpPr/>
          <p:nvPr/>
        </p:nvSpPr>
        <p:spPr>
          <a:xfrm>
            <a:off x="1956816" y="1316736"/>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Rectifier, transformer and load collapsed into ONE resistor, so the tank becomes a plain RLC divider.</a:t>
            </a:r>
            <a:endParaRPr lang="en-US" sz="850" dirty="0"/>
          </a:p>
        </p:txBody>
      </p:sp>
      <p:sp>
        <p:nvSpPr>
          <p:cNvPr id="10" name="Shape 6"/>
          <p:cNvSpPr/>
          <p:nvPr/>
        </p:nvSpPr>
        <p:spPr>
          <a:xfrm>
            <a:off x="384048" y="1673352"/>
            <a:ext cx="8375904" cy="530352"/>
          </a:xfrm>
          <a:prstGeom prst="roundRect">
            <a:avLst>
              <a:gd name="adj" fmla="val 5172"/>
            </a:avLst>
          </a:prstGeom>
          <a:solidFill>
            <a:srgbClr val="F5F7FA"/>
          </a:solidFill>
          <a:ln w="9525">
            <a:solidFill>
              <a:srgbClr val="DDE3EA"/>
            </a:solidFill>
            <a:prstDash val="solid"/>
          </a:ln>
        </p:spPr>
        <p:txBody>
          <a:bodyPr/>
          <a:p/>
        </p:txBody>
      </p:sp>
      <p:pic>
        <p:nvPicPr>
          <p:cNvPr id="11" name="Image 2" descr="sym/Z0.png">    </p:cNvPr>
          <p:cNvPicPr>
            <a:picLocks noChangeAspect="1"/>
          </p:cNvPicPr>
          <p:nvPr/>
        </p:nvPicPr>
        <p:blipFill>
          <a:blip r:embed="rId3"/>
          <a:stretch>
            <a:fillRect/>
          </a:stretch>
        </p:blipFill>
        <p:spPr>
          <a:xfrm>
            <a:off x="512064" y="1783080"/>
            <a:ext cx="1157754" cy="310896"/>
          </a:xfrm>
          <a:prstGeom prst="rect">
            <a:avLst/>
          </a:prstGeom>
        </p:spPr>
      </p:pic>
      <p:sp>
        <p:nvSpPr>
          <p:cNvPr id="12" name="Text 7"/>
          <p:cNvSpPr/>
          <p:nvPr/>
        </p:nvSpPr>
        <p:spPr>
          <a:xfrm>
            <a:off x="1956816" y="1709928"/>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characteristic impedance</a:t>
            </a:r>
            <a:endParaRPr lang="en-US" sz="1050" dirty="0"/>
          </a:p>
        </p:txBody>
      </p:sp>
      <p:sp>
        <p:nvSpPr>
          <p:cNvPr id="13" name="Text 8"/>
          <p:cNvSpPr/>
          <p:nvPr/>
        </p:nvSpPr>
        <p:spPr>
          <a:xfrm>
            <a:off x="1956816" y="1892808"/>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The tank’s own impedance scale, in ohms. It does not depend on the load at all.</a:t>
            </a:r>
            <a:endParaRPr lang="en-US" sz="850" dirty="0"/>
          </a:p>
        </p:txBody>
      </p:sp>
      <p:sp>
        <p:nvSpPr>
          <p:cNvPr id="14" name="Shape 9"/>
          <p:cNvSpPr/>
          <p:nvPr/>
        </p:nvSpPr>
        <p:spPr>
          <a:xfrm>
            <a:off x="384048" y="2249424"/>
            <a:ext cx="8375904" cy="530352"/>
          </a:xfrm>
          <a:prstGeom prst="roundRect">
            <a:avLst>
              <a:gd name="adj" fmla="val 5172"/>
            </a:avLst>
          </a:prstGeom>
          <a:solidFill>
            <a:srgbClr val="FFFFFF"/>
          </a:solidFill>
          <a:ln w="9525">
            <a:solidFill>
              <a:srgbClr val="DDE3EA"/>
            </a:solidFill>
            <a:prstDash val="solid"/>
          </a:ln>
        </p:spPr>
        <p:txBody>
          <a:bodyPr/>
          <a:p/>
        </p:txBody>
      </p:sp>
      <p:pic>
        <p:nvPicPr>
          <p:cNvPr id="15" name="Image 3" descr="sym/Q.png">    </p:cNvPr>
          <p:cNvPicPr>
            <a:picLocks noChangeAspect="1"/>
          </p:cNvPicPr>
          <p:nvPr/>
        </p:nvPicPr>
        <p:blipFill>
          <a:blip r:embed="rId4"/>
          <a:stretch>
            <a:fillRect/>
          </a:stretch>
        </p:blipFill>
        <p:spPr>
          <a:xfrm>
            <a:off x="512064" y="2372684"/>
            <a:ext cx="1234440" cy="283831"/>
          </a:xfrm>
          <a:prstGeom prst="rect">
            <a:avLst/>
          </a:prstGeom>
        </p:spPr>
      </p:pic>
      <p:sp>
        <p:nvSpPr>
          <p:cNvPr id="16" name="Text 10"/>
          <p:cNvSpPr/>
          <p:nvPr/>
        </p:nvSpPr>
        <p:spPr>
          <a:xfrm>
            <a:off x="1956816" y="2286000"/>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quality factor</a:t>
            </a:r>
            <a:endParaRPr lang="en-US" sz="1050" dirty="0"/>
          </a:p>
        </p:txBody>
      </p:sp>
      <p:sp>
        <p:nvSpPr>
          <p:cNvPr id="17" name="Text 11"/>
          <p:cNvSpPr/>
          <p:nvPr/>
        </p:nvSpPr>
        <p:spPr>
          <a:xfrm>
            <a:off x="1956816" y="2468880"/>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HOW HEAVILY the tank is loaded. Q → 0 is no load (a tall, peaky curve); large Q is full load (a low, flat curve).</a:t>
            </a:r>
            <a:endParaRPr lang="en-US" sz="850" dirty="0"/>
          </a:p>
        </p:txBody>
      </p:sp>
      <p:sp>
        <p:nvSpPr>
          <p:cNvPr id="18" name="Shape 12"/>
          <p:cNvSpPr/>
          <p:nvPr/>
        </p:nvSpPr>
        <p:spPr>
          <a:xfrm>
            <a:off x="384048" y="2825496"/>
            <a:ext cx="8375904" cy="530352"/>
          </a:xfrm>
          <a:prstGeom prst="roundRect">
            <a:avLst>
              <a:gd name="adj" fmla="val 5172"/>
            </a:avLst>
          </a:prstGeom>
          <a:solidFill>
            <a:srgbClr val="F5F7FA"/>
          </a:solidFill>
          <a:ln w="9525">
            <a:solidFill>
              <a:srgbClr val="DDE3EA"/>
            </a:solidFill>
            <a:prstDash val="solid"/>
          </a:ln>
        </p:spPr>
        <p:txBody>
          <a:bodyPr/>
          <a:p/>
        </p:txBody>
      </p:sp>
      <p:pic>
        <p:nvPicPr>
          <p:cNvPr id="19" name="Image 4" descr="sym/th.png">    </p:cNvPr>
          <p:cNvPicPr>
            <a:picLocks noChangeAspect="1"/>
          </p:cNvPicPr>
          <p:nvPr/>
        </p:nvPicPr>
        <p:blipFill>
          <a:blip r:embed="rId5"/>
          <a:stretch>
            <a:fillRect/>
          </a:stretch>
        </p:blipFill>
        <p:spPr>
          <a:xfrm>
            <a:off x="512064" y="2935224"/>
            <a:ext cx="217134" cy="310896"/>
          </a:xfrm>
          <a:prstGeom prst="rect">
            <a:avLst/>
          </a:prstGeom>
        </p:spPr>
      </p:pic>
      <p:sp>
        <p:nvSpPr>
          <p:cNvPr id="20" name="Text 13"/>
          <p:cNvSpPr/>
          <p:nvPr/>
        </p:nvSpPr>
        <p:spPr>
          <a:xfrm>
            <a:off x="1956816" y="2862072"/>
            <a:ext cx="6675120" cy="201168"/>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line phase angle</a:t>
            </a:r>
            <a:endParaRPr lang="en-US" sz="1050" dirty="0"/>
          </a:p>
        </p:txBody>
      </p:sp>
      <p:sp>
        <p:nvSpPr>
          <p:cNvPr id="21" name="Text 14"/>
          <p:cNvSpPr/>
          <p:nvPr/>
        </p:nvSpPr>
        <p:spPr>
          <a:xfrm>
            <a:off x="1956816" y="3044952"/>
            <a:ext cx="6675120" cy="274320"/>
          </a:xfrm>
          <a:prstGeom prst="rect">
            <a:avLst/>
          </a:prstGeom>
          <a:noFill/>
          <a:ln/>
        </p:spPr>
        <p:txBody>
          <a:bodyPr wrap="square" lIns="0" tIns="0" rIns="0" bIns="0" rtlCol="0" anchor="t"/>
          <a:lstStyle/>
          <a:p>
            <a:pPr indent="0" marL="0">
              <a:buNone/>
            </a:pPr>
            <a:r>
              <a:rPr lang="en-US" sz="850" dirty="0">
                <a:solidFill>
                  <a:srgbClr val="464650"/>
                </a:solidFill>
                <a:latin typeface="Arial" pitchFamily="34" charset="0"/>
                <a:ea typeface="Arial" pitchFamily="34" charset="-122"/>
                <a:cs typeface="Arial" pitchFamily="34" charset="-120"/>
              </a:rPr>
              <a:t>0 at the mains zero crossing, 90° at the mains peak. In a single-stage design EVERY quantity is a function of θ.</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Reading the gain equation term by term</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One equation carries the whole LLC. Here is what each piece does.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256590" y="1078992"/>
            <a:ext cx="1990741" cy="621170"/>
          </a:xfrm>
          <a:prstGeom prst="roundRect">
            <a:avLst>
              <a:gd name="adj" fmla="val 5888"/>
            </a:avLst>
          </a:prstGeom>
          <a:solidFill>
            <a:srgbClr val="F2F5F9"/>
          </a:solidFill>
          <a:ln w="9525">
            <a:solidFill>
              <a:srgbClr val="E8E8E9"/>
            </a:solidFill>
            <a:prstDash val="solid"/>
          </a:ln>
        </p:spPr>
        <p:txBody>
          <a:bodyPr/>
          <a:p/>
        </p:txBody>
      </p:sp>
      <p:pic>
        <p:nvPicPr>
          <p:cNvPr id="7" name="Image 1" descr="eq/M_split.png">    </p:cNvPr>
          <p:cNvPicPr>
            <a:picLocks noChangeAspect="1"/>
          </p:cNvPicPr>
          <p:nvPr/>
        </p:nvPicPr>
        <p:blipFill>
          <a:blip r:embed="rId2"/>
          <a:stretch>
            <a:fillRect/>
          </a:stretch>
        </p:blipFill>
        <p:spPr>
          <a:xfrm>
            <a:off x="3357174" y="1179576"/>
            <a:ext cx="1789573" cy="420002"/>
          </a:xfrm>
          <a:prstGeom prst="rect">
            <a:avLst/>
          </a:prstGeom>
        </p:spPr>
      </p:pic>
      <p:sp>
        <p:nvSpPr>
          <p:cNvPr id="8" name="Shape 4"/>
          <p:cNvSpPr/>
          <p:nvPr/>
        </p:nvSpPr>
        <p:spPr>
          <a:xfrm>
            <a:off x="365760" y="2395728"/>
            <a:ext cx="4114800" cy="1005840"/>
          </a:xfrm>
          <a:prstGeom prst="roundRect">
            <a:avLst>
              <a:gd name="adj" fmla="val 4545"/>
            </a:avLst>
          </a:prstGeom>
          <a:solidFill>
            <a:srgbClr val="F5F7FA"/>
          </a:solidFill>
          <a:ln w="12700">
            <a:solidFill>
              <a:srgbClr val="03234B"/>
            </a:solidFill>
            <a:prstDash val="solid"/>
          </a:ln>
        </p:spPr>
        <p:txBody>
          <a:bodyPr/>
          <a:p/>
        </p:txBody>
      </p:sp>
      <p:sp>
        <p:nvSpPr>
          <p:cNvPr id="9" name="Text 5"/>
          <p:cNvSpPr/>
          <p:nvPr/>
        </p:nvSpPr>
        <p:spPr>
          <a:xfrm>
            <a:off x="475488" y="2478024"/>
            <a:ext cx="3895344" cy="274320"/>
          </a:xfrm>
          <a:prstGeom prst="rect">
            <a:avLst/>
          </a:prstGeom>
          <a:noFill/>
          <a:ln/>
        </p:spPr>
        <p:txBody>
          <a:bodyPr wrap="square" lIns="0" tIns="0" rIns="0" bIns="0" rtlCol="0" anchor="ctr"/>
          <a:lstStyle/>
          <a:p>
            <a:pPr indent="0" marL="0">
              <a:buNone/>
            </a:pPr>
            <a:r>
              <a:rPr lang="en-US" sz="1150" b="1" dirty="0">
                <a:solidFill>
                  <a:srgbClr val="03234B"/>
                </a:solidFill>
                <a:latin typeface="Arial" pitchFamily="34" charset="0"/>
                <a:ea typeface="Arial" pitchFamily="34" charset="-122"/>
                <a:cs typeface="Arial" pitchFamily="34" charset="-120"/>
              </a:rPr>
              <a:t>A(fₙ) = 1 + λ − λ/fₙ²   — the SHAPE</a:t>
            </a:r>
            <a:endParaRPr lang="en-US" sz="1150" dirty="0"/>
          </a:p>
        </p:txBody>
      </p:sp>
      <p:sp>
        <p:nvSpPr>
          <p:cNvPr id="10" name="Text 6"/>
          <p:cNvSpPr/>
          <p:nvPr/>
        </p:nvSpPr>
        <p:spPr>
          <a:xfrm>
            <a:off x="475488" y="2779776"/>
            <a:ext cx="3895344" cy="559599"/>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A carries no load information at all. It becomes ZERO at fₙ₀ = √(λ/(1+λ)); with no load that is where M blows up. That singularity IS fₒ, the frequency floor. At fₙ = 1 we get A = 1, hence M = 1 at resonance.</a:t>
            </a:r>
            <a:endParaRPr lang="en-US" sz="1000" dirty="0"/>
          </a:p>
        </p:txBody>
      </p:sp>
      <p:sp>
        <p:nvSpPr>
          <p:cNvPr id="11" name="Shape 7"/>
          <p:cNvSpPr/>
          <p:nvPr/>
        </p:nvSpPr>
        <p:spPr>
          <a:xfrm>
            <a:off x="4663440" y="2395728"/>
            <a:ext cx="4114800" cy="1005840"/>
          </a:xfrm>
          <a:prstGeom prst="roundRect">
            <a:avLst>
              <a:gd name="adj" fmla="val 4545"/>
            </a:avLst>
          </a:prstGeom>
          <a:solidFill>
            <a:srgbClr val="F5F7FA"/>
          </a:solidFill>
          <a:ln w="12700">
            <a:solidFill>
              <a:srgbClr val="E6007E"/>
            </a:solidFill>
            <a:prstDash val="solid"/>
          </a:ln>
        </p:spPr>
        <p:txBody>
          <a:bodyPr/>
          <a:p/>
        </p:txBody>
      </p:sp>
      <p:sp>
        <p:nvSpPr>
          <p:cNvPr id="12" name="Text 8"/>
          <p:cNvSpPr/>
          <p:nvPr/>
        </p:nvSpPr>
        <p:spPr>
          <a:xfrm>
            <a:off x="4773168" y="2478024"/>
            <a:ext cx="389534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Q²(fₙ − 1/fₙ)²   — the LOADING</a:t>
            </a:r>
            <a:endParaRPr lang="en-US" sz="1150" dirty="0"/>
          </a:p>
        </p:txBody>
      </p:sp>
      <p:sp>
        <p:nvSpPr>
          <p:cNvPr id="13" name="Text 9"/>
          <p:cNvSpPr/>
          <p:nvPr/>
        </p:nvSpPr>
        <p:spPr>
          <a:xfrm>
            <a:off x="4773168" y="2779776"/>
            <a:ext cx="3895344" cy="559599"/>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Zero at fₙ = 1, growing on both sides. This is what DAMPS the peak: heavier load = bigger Q = lower, flatter curve. It is also why FULL LOAD is the worst case for the tank design.</a:t>
            </a:r>
            <a:endParaRPr lang="en-US" sz="1000" dirty="0"/>
          </a:p>
        </p:txBody>
      </p:sp>
      <p:sp>
        <p:nvSpPr>
          <p:cNvPr id="14" name="Shape 10"/>
          <p:cNvSpPr/>
          <p:nvPr/>
        </p:nvSpPr>
        <p:spPr>
          <a:xfrm>
            <a:off x="1588215" y="3529584"/>
            <a:ext cx="5967569" cy="663779"/>
          </a:xfrm>
          <a:prstGeom prst="roundRect">
            <a:avLst>
              <a:gd name="adj" fmla="val 5510"/>
            </a:avLst>
          </a:prstGeom>
          <a:solidFill>
            <a:srgbClr val="F2F5F9"/>
          </a:solidFill>
          <a:ln w="9525">
            <a:solidFill>
              <a:srgbClr val="E8E8E9"/>
            </a:solidFill>
            <a:prstDash val="solid"/>
          </a:ln>
        </p:spPr>
        <p:txBody>
          <a:bodyPr/>
          <a:p/>
        </p:txBody>
      </p:sp>
      <p:pic>
        <p:nvPicPr>
          <p:cNvPr id="15" name="Image 2" descr="eq/A_def.png">    </p:cNvPr>
          <p:cNvPicPr>
            <a:picLocks noChangeAspect="1"/>
          </p:cNvPicPr>
          <p:nvPr/>
        </p:nvPicPr>
        <p:blipFill>
          <a:blip r:embed="rId3"/>
          <a:stretch>
            <a:fillRect/>
          </a:stretch>
        </p:blipFill>
        <p:spPr>
          <a:xfrm>
            <a:off x="1688799" y="3630168"/>
            <a:ext cx="5766401" cy="462611"/>
          </a:xfrm>
          <a:prstGeom prst="rect">
            <a:avLst/>
          </a:prstGeom>
        </p:spPr>
      </p:pic>
      <p:sp>
        <p:nvSpPr>
          <p:cNvPr id="16" name="Text 11"/>
          <p:cNvSpPr/>
          <p:nvPr/>
        </p:nvSpPr>
        <p:spPr>
          <a:xfrm>
            <a:off x="960120" y="4206240"/>
            <a:ext cx="7772400" cy="457200"/>
          </a:xfrm>
          <a:prstGeom prst="rect">
            <a:avLst/>
          </a:prstGeom>
          <a:noFill/>
          <a:ln/>
        </p:spPr>
        <p:txBody>
          <a:bodyPr wrap="square" lIns="0" tIns="0" rIns="0" bIns="0" rtlCol="0" anchor="ctr"/>
          <a:lstStyle/>
          <a:p>
            <a:pPr indent="0" marL="0">
              <a:buNone/>
            </a:pPr>
            <a:r>
              <a:rPr lang="en-US" sz="1000" b="1" dirty="0">
                <a:solidFill>
                  <a:srgbClr val="E6007E"/>
                </a:solidFill>
                <a:latin typeface="Arial" pitchFamily="34" charset="0"/>
                <a:ea typeface="Arial" pitchFamily="34" charset="-122"/>
                <a:cs typeface="Arial" pitchFamily="34" charset="-120"/>
              </a:rPr>
              <a:t>λ decides WHERE the pole sits and how tall the curve can be. Q decides HOW MUCH of that height the load lets you keep. Those two numbers are the only degrees of freedom in the entire tank.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Two resonances, and why the lower one matters</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Every LLC has fᵣ and fₒ. The single-stage converter lives near fₒ.</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c_gain.png">    </p:cNvPr>
          <p:cNvPicPr>
            <a:picLocks noChangeAspect="1"/>
          </p:cNvPicPr>
          <p:nvPr/>
        </p:nvPicPr>
        <p:blipFill>
          <a:blip r:embed="rId2"/>
          <a:stretch>
            <a:fillRect/>
          </a:stretch>
        </p:blipFill>
        <p:spPr>
          <a:xfrm>
            <a:off x="365760" y="1348026"/>
            <a:ext cx="5029200" cy="3064669"/>
          </a:xfrm>
          <a:prstGeom prst="rect">
            <a:avLst/>
          </a:prstGeom>
        </p:spPr>
      </p:pic>
      <p:sp>
        <p:nvSpPr>
          <p:cNvPr id="7" name="Shape 3"/>
          <p:cNvSpPr/>
          <p:nvPr/>
        </p:nvSpPr>
        <p:spPr>
          <a:xfrm>
            <a:off x="5532120" y="1143000"/>
            <a:ext cx="3246120" cy="480936"/>
          </a:xfrm>
          <a:prstGeom prst="roundRect">
            <a:avLst>
              <a:gd name="adj" fmla="val 7605"/>
            </a:avLst>
          </a:prstGeom>
          <a:solidFill>
            <a:srgbClr val="F2F5F9"/>
          </a:solidFill>
          <a:ln w="9525">
            <a:solidFill>
              <a:srgbClr val="E8E8E9"/>
            </a:solidFill>
            <a:prstDash val="solid"/>
          </a:ln>
        </p:spPr>
        <p:txBody>
          <a:bodyPr/>
          <a:p/>
        </p:txBody>
      </p:sp>
      <p:pic>
        <p:nvPicPr>
          <p:cNvPr id="8" name="Image 2" descr="eq/fr_fo.png">    </p:cNvPr>
          <p:cNvPicPr>
            <a:picLocks noChangeAspect="1"/>
          </p:cNvPicPr>
          <p:nvPr/>
        </p:nvPicPr>
        <p:blipFill>
          <a:blip r:embed="rId3"/>
          <a:stretch>
            <a:fillRect/>
          </a:stretch>
        </p:blipFill>
        <p:spPr>
          <a:xfrm>
            <a:off x="5632704" y="1243584"/>
            <a:ext cx="3044952" cy="279768"/>
          </a:xfrm>
          <a:prstGeom prst="rect">
            <a:avLst/>
          </a:prstGeom>
        </p:spPr>
      </p:pic>
      <p:sp>
        <p:nvSpPr>
          <p:cNvPr id="9" name="Text 4"/>
          <p:cNvSpPr/>
          <p:nvPr/>
        </p:nvSpPr>
        <p:spPr>
          <a:xfrm>
            <a:off x="5532120" y="1770240"/>
            <a:ext cx="3246120" cy="2697480"/>
          </a:xfrm>
          <a:prstGeom prst="rect">
            <a:avLst/>
          </a:prstGeom>
          <a:noFill/>
          <a:ln/>
        </p:spPr>
        <p:txBody>
          <a:bodyPr wrap="square" lIns="0" tIns="0" rIns="0" bIns="0" rtlCol="0" anchor="t"/>
          <a:lstStyle/>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fᵣ : Cᵣ resonates with Lᵣ alone. This happens when the secondary is conducting, so Lₘ is clamped by the reflected output voltage and drops out of the circuit. At fᵣ the gain is 1 for ANY load — the load term vanishes.</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fₒ : Cᵣ resonates with Lᵣ + Lₘ. This happens at NO load, when nothing clamps Lₘ. At fₒ the no-load gain is infinite — so nothing can push the converter below fₒ.</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Every operating point sits between fₒ and infinity. Below fₒ the tank turns capacitive and the bridge hard-switches.</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In this design fₒ = 90.4 kHz and fᵣ = 151.7 kHz. That whole band is where a single-stage converter spends most of the line cycle.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1600200"/>
            <a:ext cx="5852160" cy="960120"/>
          </a:xfrm>
          <a:prstGeom prst="rect">
            <a:avLst/>
          </a:prstGeom>
          <a:solidFill>
            <a:srgbClr val="FFD200"/>
          </a:solidFill>
          <a:ln/>
        </p:spPr>
        <p:txBody>
          <a:bodyPr/>
          <a:p/>
        </p:txBody>
      </p:sp>
      <p:sp>
        <p:nvSpPr>
          <p:cNvPr id="3" name="Text 1"/>
          <p:cNvSpPr/>
          <p:nvPr/>
        </p:nvSpPr>
        <p:spPr>
          <a:xfrm>
            <a:off x="502920" y="1600200"/>
            <a:ext cx="5212080" cy="960120"/>
          </a:xfrm>
          <a:prstGeom prst="rect">
            <a:avLst/>
          </a:prstGeom>
          <a:noFill/>
          <a:ln/>
        </p:spPr>
        <p:txBody>
          <a:bodyPr wrap="square" lIns="0" tIns="0" rIns="0" bIns="0" rtlCol="0" anchor="ctr"/>
          <a:lstStyle/>
          <a:p>
            <a:pPr indent="0" marL="0">
              <a:buNone/>
            </a:pPr>
            <a:r>
              <a:rPr lang="en-US" sz="2600" b="1" dirty="0">
                <a:solidFill>
                  <a:srgbClr val="03234B"/>
                </a:solidFill>
                <a:latin typeface="Arial" pitchFamily="34" charset="0"/>
                <a:ea typeface="Arial" pitchFamily="34" charset="-122"/>
                <a:cs typeface="Arial" pitchFamily="34" charset="-120"/>
              </a:rPr>
              <a:t>What an LLC converter is</a:t>
            </a:r>
            <a:endParaRPr lang="en-US" sz="2600" dirty="0"/>
          </a:p>
        </p:txBody>
      </p:sp>
      <p:sp>
        <p:nvSpPr>
          <p:cNvPr id="4" name="Text 2"/>
          <p:cNvSpPr/>
          <p:nvPr/>
        </p:nvSpPr>
        <p:spPr>
          <a:xfrm>
            <a:off x="502920" y="1143000"/>
            <a:ext cx="3657600" cy="320040"/>
          </a:xfrm>
          <a:prstGeom prst="rect">
            <a:avLst/>
          </a:prstGeom>
          <a:noFill/>
          <a:ln/>
        </p:spPr>
        <p:txBody>
          <a:bodyPr wrap="square" lIns="0" tIns="0" rIns="0" bIns="0" rtlCol="0" anchor="ctr"/>
          <a:lstStyle/>
          <a:p>
            <a:pPr indent="0" marL="0">
              <a:buNone/>
            </a:pPr>
            <a:r>
              <a:rPr lang="en-US" sz="1300" b="1" dirty="0">
                <a:solidFill>
                  <a:srgbClr val="FFD200"/>
                </a:solidFill>
                <a:latin typeface="Arial" pitchFamily="34" charset="0"/>
                <a:ea typeface="Arial" pitchFamily="34" charset="-122"/>
                <a:cs typeface="Arial" pitchFamily="34" charset="-120"/>
              </a:rPr>
              <a:t>PART 1</a:t>
            </a:r>
            <a:endParaRPr lang="en-US" sz="1300" dirty="0"/>
          </a:p>
        </p:txBody>
      </p:sp>
      <p:sp>
        <p:nvSpPr>
          <p:cNvPr id="5" name="Text 3"/>
          <p:cNvSpPr/>
          <p:nvPr/>
        </p:nvSpPr>
        <p:spPr>
          <a:xfrm>
            <a:off x="502920" y="2788920"/>
            <a:ext cx="7772400" cy="1097280"/>
          </a:xfrm>
          <a:prstGeom prst="rect">
            <a:avLst/>
          </a:prstGeom>
          <a:noFill/>
          <a:ln/>
        </p:spPr>
        <p:txBody>
          <a:bodyPr wrap="square" lIns="0" tIns="0" rIns="0" bIns="0" rtlCol="0" anchor="ctr"/>
          <a:lstStyle/>
          <a:p>
            <a:pPr indent="0" marL="0">
              <a:buNone/>
            </a:pPr>
            <a:r>
              <a:rPr lang="en-US" sz="1300" dirty="0">
                <a:solidFill>
                  <a:srgbClr val="C8D4E4"/>
                </a:solidFill>
                <a:latin typeface="Arial" pitchFamily="34" charset="0"/>
                <a:ea typeface="Arial" pitchFamily="34" charset="-122"/>
                <a:cs typeface="Arial" pitchFamily="34" charset="-120"/>
              </a:rPr>
              <a:t>Everything in this part is the CLASSIC, two-stage LLC. If you already know it, skip to Part 2 — but note the numbers, because Part 4 compares against them.</a:t>
            </a:r>
            <a:endParaRPr lang="en-US" sz="1300" dirty="0"/>
          </a:p>
        </p:txBody>
      </p:sp>
      <p:pic>
        <p:nvPicPr>
          <p:cNvPr id="6" name="Image 0" descr="logo/image1.png">    </p:cNvPr>
          <p:cNvPicPr>
            <a:picLocks noChangeAspect="1"/>
          </p:cNvPicPr>
          <p:nvPr/>
        </p:nvPicPr>
        <p:blipFill>
          <a:blip r:embed="rId1"/>
          <a:stretch>
            <a:fillRect/>
          </a:stretch>
        </p:blipFill>
        <p:spPr>
          <a:xfrm>
            <a:off x="274320" y="4576572"/>
            <a:ext cx="502920" cy="3840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LLC in four blocks</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A square-wave generator, a resonant tank, a transformer, a rectifier</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f_llc_sch.png">    </p:cNvPr>
          <p:cNvPicPr>
            <a:picLocks noChangeAspect="1"/>
          </p:cNvPicPr>
          <p:nvPr/>
        </p:nvPicPr>
        <p:blipFill>
          <a:blip r:embed="rId2"/>
          <a:stretch>
            <a:fillRect/>
          </a:stretch>
        </p:blipFill>
        <p:spPr>
          <a:xfrm>
            <a:off x="1151623" y="1115568"/>
            <a:ext cx="3045995" cy="2240280"/>
          </a:xfrm>
          <a:prstGeom prst="rect">
            <a:avLst/>
          </a:prstGeom>
        </p:spPr>
      </p:pic>
      <p:pic>
        <p:nvPicPr>
          <p:cNvPr id="7" name="Image 2" descr="fig/f_llc_wave.png">    </p:cNvPr>
          <p:cNvPicPr>
            <a:picLocks noChangeAspect="1"/>
          </p:cNvPicPr>
          <p:nvPr/>
        </p:nvPicPr>
        <p:blipFill>
          <a:blip r:embed="rId3"/>
          <a:stretch>
            <a:fillRect/>
          </a:stretch>
        </p:blipFill>
        <p:spPr>
          <a:xfrm>
            <a:off x="5120640" y="1180571"/>
            <a:ext cx="1783080" cy="2110274"/>
          </a:xfrm>
          <a:prstGeom prst="rect">
            <a:avLst/>
          </a:prstGeom>
        </p:spPr>
      </p:pic>
      <p:sp>
        <p:nvSpPr>
          <p:cNvPr id="8" name="Shape 3"/>
          <p:cNvSpPr/>
          <p:nvPr/>
        </p:nvSpPr>
        <p:spPr>
          <a:xfrm>
            <a:off x="7040880" y="1115568"/>
            <a:ext cx="1737360" cy="2240280"/>
          </a:xfrm>
          <a:prstGeom prst="roundRect">
            <a:avLst>
              <a:gd name="adj" fmla="val 2632"/>
            </a:avLst>
          </a:prstGeom>
          <a:solidFill>
            <a:srgbClr val="F5F7FA"/>
          </a:solidFill>
          <a:ln w="12700">
            <a:solidFill>
              <a:srgbClr val="E6007E"/>
            </a:solidFill>
            <a:prstDash val="solid"/>
          </a:ln>
        </p:spPr>
        <p:txBody>
          <a:bodyPr/>
          <a:p/>
        </p:txBody>
      </p:sp>
      <p:sp>
        <p:nvSpPr>
          <p:cNvPr id="9" name="Text 4"/>
          <p:cNvSpPr/>
          <p:nvPr/>
        </p:nvSpPr>
        <p:spPr>
          <a:xfrm>
            <a:off x="7150608" y="1197864"/>
            <a:ext cx="151790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Remember this</a:t>
            </a:r>
            <a:endParaRPr lang="en-US" sz="1150" dirty="0"/>
          </a:p>
        </p:txBody>
      </p:sp>
      <p:sp>
        <p:nvSpPr>
          <p:cNvPr id="10" name="Text 5"/>
          <p:cNvSpPr/>
          <p:nvPr/>
        </p:nvSpPr>
        <p:spPr>
          <a:xfrm>
            <a:off x="7150608" y="1499616"/>
            <a:ext cx="1517904" cy="176479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Only the FREQUENCY is available as a control handle. The height of the square wave is whatever the bus happens to be.</a:t>
            </a:r>
            <a:endParaRPr lang="en-US" sz="1000" dirty="0"/>
          </a:p>
        </p:txBody>
      </p:sp>
      <p:sp>
        <p:nvSpPr>
          <p:cNvPr id="11" name="Text 6"/>
          <p:cNvSpPr/>
          <p:nvPr/>
        </p:nvSpPr>
        <p:spPr>
          <a:xfrm>
            <a:off x="365760" y="3456432"/>
            <a:ext cx="8412480" cy="1097280"/>
          </a:xfrm>
          <a:prstGeom prst="rect">
            <a:avLst/>
          </a:prstGeom>
          <a:noFill/>
          <a:ln/>
        </p:spPr>
        <p:txBody>
          <a:bodyPr wrap="square" lIns="0" tIns="0" rIns="0" bIns="0" rtlCol="0" anchor="t"/>
          <a:lstStyle/>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Q1/Q2 chop the DC bus into a square wave at 50 % duty. Only the FREQUENCY can be changed — never the height.</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The tank (Lᵣ, Cᵣ, Lₘ) filters that square wave down to (almost) a pure sine. It also decides how much voltage reaches the transformer.</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Lₘ is small on purpose — 3 to 8 times Lᵣ — so a large magnetising current circulates. That current is what discharges the MOSFET output capacitance and gives ZVS.</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The rectifier restores DC. Centre-tap or full bridge, diodes or synchronous MOSFETs.</a:t>
            </a:r>
            <a:endParaRPr lang="en-US" sz="950" dirty="0"/>
          </a:p>
        </p:txBody>
      </p:sp>
      <p:sp>
        <p:nvSpPr>
          <p:cNvPr id="12" name="Text 7"/>
          <p:cNvSpPr/>
          <p:nvPr/>
        </p:nvSpPr>
        <p:spPr>
          <a:xfrm>
            <a:off x="914400" y="4869180"/>
            <a:ext cx="4937760" cy="201168"/>
          </a:xfrm>
          <a:prstGeom prst="rect">
            <a:avLst/>
          </a:prstGeom>
          <a:noFill/>
          <a:ln/>
        </p:spPr>
        <p:txBody>
          <a:bodyPr wrap="square" lIns="0" tIns="0" rIns="0" bIns="0" rtlCol="0" anchor="ctr"/>
          <a:lstStyle/>
          <a:p>
            <a:pPr indent="0" marL="0">
              <a:buNone/>
            </a:pPr>
            <a:r>
              <a:rPr lang="en-US" sz="700" i="1" dirty="0">
                <a:solidFill>
                  <a:srgbClr val="BBBBBB"/>
                </a:solidFill>
                <a:latin typeface="Arial" pitchFamily="34" charset="0"/>
                <a:ea typeface="Arial" pitchFamily="34" charset="-122"/>
                <a:cs typeface="Arial" pitchFamily="34" charset="-120"/>
              </a:rPr>
              <a:t>Figures: onsemi / Fairchild AN-4151, Fig. 3 and Fig. 4</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First-harmonic approximation (FHA)</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Replace everything after the tank by one resistor, then it is just an RLC divider</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f_ac_equiv.png">    </p:cNvPr>
          <p:cNvPicPr>
            <a:picLocks noChangeAspect="1"/>
          </p:cNvPicPr>
          <p:nvPr/>
        </p:nvPicPr>
        <p:blipFill>
          <a:blip r:embed="rId2"/>
          <a:stretch>
            <a:fillRect/>
          </a:stretch>
        </p:blipFill>
        <p:spPr>
          <a:xfrm>
            <a:off x="904205" y="1188720"/>
            <a:ext cx="2580711" cy="3291840"/>
          </a:xfrm>
          <a:prstGeom prst="rect">
            <a:avLst/>
          </a:prstGeom>
        </p:spPr>
      </p:pic>
      <p:sp>
        <p:nvSpPr>
          <p:cNvPr id="7" name="Text 3"/>
          <p:cNvSpPr/>
          <p:nvPr/>
        </p:nvSpPr>
        <p:spPr>
          <a:xfrm>
            <a:off x="4206240" y="1234440"/>
            <a:ext cx="4572000" cy="320040"/>
          </a:xfrm>
          <a:prstGeom prst="rect">
            <a:avLst/>
          </a:prstGeom>
          <a:noFill/>
          <a:ln/>
        </p:spPr>
        <p:txBody>
          <a:bodyPr wrap="square" lIns="0" tIns="0" rIns="0" bIns="0" rtlCol="0" anchor="ctr"/>
          <a:lstStyle/>
          <a:p>
            <a:pPr indent="0" marL="0">
              <a:buNone/>
            </a:pPr>
            <a:r>
              <a:rPr lang="en-US" sz="1150" dirty="0">
                <a:solidFill>
                  <a:srgbClr val="03234B"/>
                </a:solidFill>
                <a:latin typeface="Arial" pitchFamily="34" charset="0"/>
                <a:ea typeface="Arial" pitchFamily="34" charset="-122"/>
                <a:cs typeface="Arial" pitchFamily="34" charset="-120"/>
              </a:rPr>
              <a:t>The load, rectifier and transformer collapse into one equivalent resistance:</a:t>
            </a:r>
            <a:endParaRPr lang="en-US" sz="1150" dirty="0"/>
          </a:p>
        </p:txBody>
      </p:sp>
      <p:sp>
        <p:nvSpPr>
          <p:cNvPr id="8" name="Shape 4"/>
          <p:cNvSpPr/>
          <p:nvPr/>
        </p:nvSpPr>
        <p:spPr>
          <a:xfrm>
            <a:off x="4966288" y="1581912"/>
            <a:ext cx="3051905" cy="615083"/>
          </a:xfrm>
          <a:prstGeom prst="roundRect">
            <a:avLst>
              <a:gd name="adj" fmla="val 5947"/>
            </a:avLst>
          </a:prstGeom>
          <a:solidFill>
            <a:srgbClr val="F2F5F9"/>
          </a:solidFill>
          <a:ln w="9525">
            <a:solidFill>
              <a:srgbClr val="E8E8E9"/>
            </a:solidFill>
            <a:prstDash val="solid"/>
          </a:ln>
        </p:spPr>
        <p:txBody>
          <a:bodyPr/>
          <a:p/>
        </p:txBody>
      </p:sp>
      <p:pic>
        <p:nvPicPr>
          <p:cNvPr id="9" name="Image 2" descr="eq/rac_conv.png">    </p:cNvPr>
          <p:cNvPicPr>
            <a:picLocks noChangeAspect="1"/>
          </p:cNvPicPr>
          <p:nvPr/>
        </p:nvPicPr>
        <p:blipFill>
          <a:blip r:embed="rId3"/>
          <a:stretch>
            <a:fillRect/>
          </a:stretch>
        </p:blipFill>
        <p:spPr>
          <a:xfrm>
            <a:off x="5066872" y="1682496"/>
            <a:ext cx="2850737" cy="413915"/>
          </a:xfrm>
          <a:prstGeom prst="rect">
            <a:avLst/>
          </a:prstGeom>
        </p:spPr>
      </p:pic>
      <p:sp>
        <p:nvSpPr>
          <p:cNvPr id="10" name="Text 5"/>
          <p:cNvSpPr/>
          <p:nvPr/>
        </p:nvSpPr>
        <p:spPr>
          <a:xfrm>
            <a:off x="4206240" y="2343299"/>
            <a:ext cx="4572000" cy="292608"/>
          </a:xfrm>
          <a:prstGeom prst="rect">
            <a:avLst/>
          </a:prstGeom>
          <a:noFill/>
          <a:ln/>
        </p:spPr>
        <p:txBody>
          <a:bodyPr wrap="square" lIns="0" tIns="0" rIns="0" bIns="0" rtlCol="0" anchor="ctr"/>
          <a:lstStyle/>
          <a:p>
            <a:pPr indent="0" marL="0">
              <a:buNone/>
            </a:pPr>
            <a:r>
              <a:rPr lang="en-US" sz="1050" dirty="0">
                <a:solidFill>
                  <a:srgbClr val="03234B"/>
                </a:solidFill>
                <a:latin typeface="Arial" pitchFamily="34" charset="0"/>
                <a:ea typeface="Arial" pitchFamily="34" charset="-122"/>
                <a:cs typeface="Arial" pitchFamily="34" charset="-120"/>
              </a:rPr>
              <a:t>and the tank becomes a frequency-dependent divider whose gain is:</a:t>
            </a:r>
            <a:endParaRPr lang="en-US" sz="1150" dirty="0"/>
          </a:p>
        </p:txBody>
      </p:sp>
      <p:sp>
        <p:nvSpPr>
          <p:cNvPr id="11" name="Shape 6"/>
          <p:cNvSpPr/>
          <p:nvPr/>
        </p:nvSpPr>
        <p:spPr>
          <a:xfrm>
            <a:off x="4429619" y="2672483"/>
            <a:ext cx="4125243" cy="625228"/>
          </a:xfrm>
          <a:prstGeom prst="roundRect">
            <a:avLst>
              <a:gd name="adj" fmla="val 5850"/>
            </a:avLst>
          </a:prstGeom>
          <a:solidFill>
            <a:srgbClr val="F2F5F9"/>
          </a:solidFill>
          <a:ln w="9525">
            <a:solidFill>
              <a:srgbClr val="E8E8E9"/>
            </a:solidFill>
            <a:prstDash val="solid"/>
          </a:ln>
        </p:spPr>
        <p:txBody>
          <a:bodyPr/>
          <a:p/>
        </p:txBody>
      </p:sp>
      <p:pic>
        <p:nvPicPr>
          <p:cNvPr id="12" name="Image 3" descr="eq/fha_gain.png">    </p:cNvPr>
          <p:cNvPicPr>
            <a:picLocks noChangeAspect="1"/>
          </p:cNvPicPr>
          <p:nvPr/>
        </p:nvPicPr>
        <p:blipFill>
          <a:blip r:embed="rId4"/>
          <a:stretch>
            <a:fillRect/>
          </a:stretch>
        </p:blipFill>
        <p:spPr>
          <a:xfrm>
            <a:off x="4530203" y="2773067"/>
            <a:ext cx="3924075" cy="424060"/>
          </a:xfrm>
          <a:prstGeom prst="rect">
            <a:avLst/>
          </a:prstGeom>
        </p:spPr>
      </p:pic>
      <p:sp>
        <p:nvSpPr>
          <p:cNvPr id="13" name="Shape 7"/>
          <p:cNvSpPr/>
          <p:nvPr/>
        </p:nvSpPr>
        <p:spPr>
          <a:xfrm>
            <a:off x="4367734" y="3444015"/>
            <a:ext cx="4249011" cy="649576"/>
          </a:xfrm>
          <a:prstGeom prst="roundRect">
            <a:avLst>
              <a:gd name="adj" fmla="val 5631"/>
            </a:avLst>
          </a:prstGeom>
          <a:solidFill>
            <a:srgbClr val="F2F5F9"/>
          </a:solidFill>
          <a:ln w="9525">
            <a:solidFill>
              <a:srgbClr val="E8E8E9"/>
            </a:solidFill>
            <a:prstDash val="solid"/>
          </a:ln>
        </p:spPr>
        <p:txBody>
          <a:bodyPr/>
          <a:p/>
        </p:txBody>
      </p:sp>
      <p:pic>
        <p:nvPicPr>
          <p:cNvPr id="14" name="Image 4" descr="eq/q_solve.png">    </p:cNvPr>
          <p:cNvPicPr>
            <a:picLocks noChangeAspect="1"/>
          </p:cNvPicPr>
          <p:nvPr/>
        </p:nvPicPr>
        <p:blipFill>
          <a:blip r:embed="rId5"/>
          <a:stretch>
            <a:fillRect/>
          </a:stretch>
        </p:blipFill>
        <p:spPr>
          <a:xfrm>
            <a:off x="4468318" y="3544599"/>
            <a:ext cx="4047843" cy="448408"/>
          </a:xfrm>
          <a:prstGeom prst="rect">
            <a:avLst/>
          </a:prstGeom>
        </p:spPr>
      </p:pic>
      <p:sp>
        <p:nvSpPr>
          <p:cNvPr id="15" name="Text 8"/>
          <p:cNvSpPr/>
          <p:nvPr/>
        </p:nvSpPr>
        <p:spPr>
          <a:xfrm>
            <a:off x="4206240" y="4315968"/>
            <a:ext cx="4572000" cy="457200"/>
          </a:xfrm>
          <a:prstGeom prst="rect">
            <a:avLst/>
          </a:prstGeom>
          <a:noFill/>
          <a:ln/>
        </p:spPr>
        <p:txBody>
          <a:bodyPr wrap="square" lIns="0" tIns="0" rIns="0" bIns="0" rtlCol="0" anchor="ctr"/>
          <a:lstStyle/>
          <a:p>
            <a:pPr indent="0" marL="0">
              <a:buNone/>
            </a:pPr>
            <a:r>
              <a:rPr lang="en-US" sz="1000" b="1" i="1" dirty="0">
                <a:solidFill>
                  <a:srgbClr val="E6007E"/>
                </a:solidFill>
                <a:latin typeface="Arial" pitchFamily="34" charset="0"/>
                <a:ea typeface="Arial" pitchFamily="34" charset="-122"/>
                <a:cs typeface="Arial" pitchFamily="34" charset="-120"/>
              </a:rPr>
              <a:t>Two numbers describe the whole tank: λ is the SHAPE, Q is the LOADING. Next slide takes them apart.</a:t>
            </a:r>
            <a:endParaRPr lang="en-US" sz="1000" dirty="0"/>
          </a:p>
        </p:txBody>
      </p:sp>
      <p:sp>
        <p:nvSpPr>
          <p:cNvPr id="16" name="Text 9"/>
          <p:cNvSpPr/>
          <p:nvPr/>
        </p:nvSpPr>
        <p:spPr>
          <a:xfrm>
            <a:off x="914400" y="4869180"/>
            <a:ext cx="4937760" cy="201168"/>
          </a:xfrm>
          <a:prstGeom prst="rect">
            <a:avLst/>
          </a:prstGeom>
          <a:noFill/>
          <a:ln/>
        </p:spPr>
        <p:txBody>
          <a:bodyPr wrap="square" lIns="0" tIns="0" rIns="0" bIns="0" rtlCol="0" anchor="ctr"/>
          <a:lstStyle/>
          <a:p>
            <a:pPr indent="0" marL="0">
              <a:buNone/>
            </a:pPr>
            <a:r>
              <a:rPr lang="en-US" sz="700" i="1" dirty="0">
                <a:solidFill>
                  <a:srgbClr val="BBBBBB"/>
                </a:solidFill>
                <a:latin typeface="Arial" pitchFamily="34" charset="0"/>
                <a:ea typeface="Arial" pitchFamily="34" charset="-122"/>
                <a:cs typeface="Arial" pitchFamily="34" charset="-120"/>
              </a:rPr>
              <a:t>Figure: onsemi / Fairchild AN-4151, Fig. 5 and Fig. 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gain curve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Gain is 1 at resonance, boosts below it, bucks above it</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8" name="Text 3"/>
          <p:cNvSpPr/>
          <p:nvPr/>
        </p:nvSpPr>
        <p:spPr>
          <a:xfrm>
            <a:off x="411480" y="3456432"/>
            <a:ext cx="8321040" cy="1234440"/>
          </a:xfrm>
          <a:prstGeom prst="rect">
            <a:avLst/>
          </a:prstGeom>
          <a:noFill/>
          <a:ln/>
        </p:spPr>
        <p:txBody>
          <a:bodyPr wrap="square" lIns="0" tIns="0" rIns="0" bIns="0" rtlCol="0" anchor="t"/>
          <a:lstStyle/>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Light load (small Q) → tall, peaky curve → lots of boost available.</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Heavy load (large Q) → flat curve → the peak gain DROPS. Full load is therefore the worst case for the tank design.</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Smaller m = Lp/Lr (i.e. larger λ) raises the whole curve, at the price of more circulating current.</a:t>
            </a:r>
            <a:endParaRPr lang="en-US" sz="1000" dirty="0"/>
          </a:p>
        </p:txBody>
      </p:sp>
      <p:sp>
        <p:nvSpPr>
          <p:cNvPr id="9" name="Text 4"/>
          <p:cNvSpPr/>
          <p:nvPr/>
        </p:nvSpPr>
        <p:spPr>
          <a:xfrm>
            <a:off x="914400" y="4869180"/>
            <a:ext cx="4937760" cy="201168"/>
          </a:xfrm>
          <a:prstGeom prst="rect">
            <a:avLst/>
          </a:prstGeom>
          <a:noFill/>
          <a:ln/>
        </p:spPr>
        <p:txBody>
          <a:bodyPr wrap="square" lIns="0" tIns="0" rIns="0" bIns="0" rtlCol="0" anchor="ctr"/>
          <a:lstStyle/>
          <a:p>
            <a:pPr indent="0" marL="0" algn="l">
              <a:buNone/>
            </a:pPr>
            <a:r>
              <a:rPr sz="700" b="0" i="1">
                <a:solidFill>
                  <a:srgbClr val="BBBBBB"/>
                </a:solidFill>
                <a:latin typeface="Arial"/>
              </a:rPr>
              <a:t>Figures: MPS article A-0028 Fig. 4 (left) · A-0029 Fig. 4 (right), Monolithic Power Systems, "Understanding LLC Operation" (2022)</a:t>
            </a:r>
            <a:endParaRPr lang="en-US" sz="700" dirty="0"/>
          </a:p>
        </p:txBody>
      </p:sp>
      <p:pic>
        <p:nvPicPr>
          <p:cNvPr id="10" name="Picture 9" descr="image.png"/>
          <p:cNvPicPr>
            <a:picLocks noChangeAspect="1"/>
          </p:cNvPicPr>
          <p:nvPr/>
        </p:nvPicPr>
        <p:blipFill>
          <a:blip r:embed="rId6"/>
          <a:stretch>
            <a:fillRect/>
          </a:stretch>
        </p:blipFill>
        <p:spPr>
          <a:xfrm>
            <a:off x="328581" y="1051560"/>
            <a:ext cx="4646356" cy="2240280"/>
          </a:xfrm>
          <a:prstGeom prst="rect">
            <a:avLst/>
          </a:prstGeom>
        </p:spPr>
      </p:pic>
      <p:pic>
        <p:nvPicPr>
          <p:cNvPr id="11" name="Picture 10" descr="image.png"/>
          <p:cNvPicPr>
            <a:picLocks noChangeAspect="1"/>
          </p:cNvPicPr>
          <p:nvPr/>
        </p:nvPicPr>
        <p:blipFill>
          <a:blip r:embed="rId7"/>
          <a:stretch>
            <a:fillRect/>
          </a:stretch>
        </p:blipFill>
        <p:spPr>
          <a:xfrm>
            <a:off x="5731124" y="1051560"/>
            <a:ext cx="2665231" cy="22402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Three operating regions</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One map for everything that follows — only the middle region is where you want to be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04_three_regions.png"/>
          <p:cNvPicPr>
            <a:picLocks noChangeAspect="1"/>
          </p:cNvPicPr>
          <p:nvPr/>
        </p:nvPicPr>
        <p:blipFill>
          <a:blip r:embed="rId2"/>
          <a:stretch>
            <a:fillRect/>
          </a:stretch>
        </p:blipFill>
        <p:spPr>
          <a:xfrm>
            <a:off x="483273" y="1042415"/>
            <a:ext cx="5342813" cy="3456432"/>
          </a:xfrm>
          <a:prstGeom prst="rect">
            <a:avLst/>
          </a:prstGeom>
        </p:spPr>
      </p:pic>
      <p:sp>
        <p:nvSpPr>
          <p:cNvPr id="7" name="Rounded Rectangle 6"/>
          <p:cNvSpPr/>
          <p:nvPr/>
        </p:nvSpPr>
        <p:spPr>
          <a:xfrm>
            <a:off x="6217920" y="1042415"/>
            <a:ext cx="2633472" cy="1188720"/>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Read it this way</a:t>
            </a:r>
          </a:p>
          <a:p>
            <a:pPr>
              <a:spcBef>
                <a:spcPts val="300"/>
              </a:spcBef>
            </a:pPr>
            <a:r>
              <a:rPr sz="1000">
                <a:solidFill>
                  <a:srgbClr val="03234B"/>
                </a:solidFill>
                <a:latin typeface="Arial"/>
              </a:rPr>
              <a:t>Pick a frequency, read the gain.</a:t>
            </a:r>
          </a:p>
          <a:p>
            <a:pPr>
              <a:spcBef>
                <a:spcPts val="300"/>
              </a:spcBef>
            </a:pPr>
            <a:r>
              <a:rPr sz="1000">
                <a:solidFill>
                  <a:srgbClr val="03234B"/>
                </a:solidFill>
                <a:latin typeface="Arial"/>
              </a:rPr>
              <a:t>Raise f to cut the gain, lower f</a:t>
            </a:r>
          </a:p>
          <a:p>
            <a:pPr>
              <a:spcBef>
                <a:spcPts val="300"/>
              </a:spcBef>
            </a:pPr>
            <a:r>
              <a:rPr sz="1000">
                <a:solidFill>
                  <a:srgbClr val="03234B"/>
                </a:solidFill>
                <a:latin typeface="Arial"/>
              </a:rPr>
              <a:t>to raise it — but never below fₒ.</a:t>
            </a:r>
          </a:p>
        </p:txBody>
      </p:sp>
      <p:sp>
        <p:nvSpPr>
          <p:cNvPr id="8" name="Rounded Rectangle 7"/>
          <p:cNvSpPr/>
          <p:nvPr/>
        </p:nvSpPr>
        <p:spPr>
          <a:xfrm>
            <a:off x="6217920" y="2359152"/>
            <a:ext cx="2633472" cy="1133856"/>
          </a:xfrm>
          <a:prstGeom prst="roundRect">
            <a:avLst>
              <a:gd name="adj" fmla="val 6000"/>
            </a:avLst>
          </a:prstGeom>
          <a:noFill/>
          <a:ln w="15875">
            <a:solidFill>
              <a:srgbClr val="464650"/>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464650"/>
                </a:solidFill>
                <a:latin typeface="Arial"/>
              </a:rPr>
              <a:t>Where we live</a:t>
            </a:r>
          </a:p>
          <a:p>
            <a:pPr>
              <a:spcBef>
                <a:spcPts val="300"/>
              </a:spcBef>
            </a:pPr>
            <a:r>
              <a:rPr sz="1000">
                <a:solidFill>
                  <a:srgbClr val="03234B"/>
                </a:solidFill>
                <a:latin typeface="Arial"/>
              </a:rPr>
              <a:t>A single-stage converter spends</a:t>
            </a:r>
          </a:p>
          <a:p>
            <a:pPr>
              <a:spcBef>
                <a:spcPts val="300"/>
              </a:spcBef>
            </a:pPr>
            <a:r>
              <a:rPr sz="1000">
                <a:solidFill>
                  <a:srgbClr val="03234B"/>
                </a:solidFill>
                <a:latin typeface="Arial"/>
              </a:rPr>
              <a:t>most of the line cycle in (2),</a:t>
            </a:r>
          </a:p>
          <a:p>
            <a:pPr>
              <a:spcBef>
                <a:spcPts val="300"/>
              </a:spcBef>
            </a:pPr>
            <a:r>
              <a:rPr sz="1000">
                <a:solidFill>
                  <a:srgbClr val="03234B"/>
                </a:solidFill>
                <a:latin typeface="Arial"/>
              </a:rPr>
              <a:t>and runs down towards fₒ near</a:t>
            </a:r>
          </a:p>
          <a:p>
            <a:pPr>
              <a:spcBef>
                <a:spcPts val="300"/>
              </a:spcBef>
            </a:pPr>
            <a:r>
              <a:rPr sz="1000">
                <a:solidFill>
                  <a:srgbClr val="03234B"/>
                </a:solidFill>
                <a:latin typeface="Arial"/>
              </a:rPr>
              <a:t>the zero crossing.</a:t>
            </a:r>
          </a:p>
        </p:txBody>
      </p:sp>
      <p:sp>
        <p:nvSpPr>
          <p:cNvPr id="9" name="Rounded Rectangle 8"/>
          <p:cNvSpPr/>
          <p:nvPr/>
        </p:nvSpPr>
        <p:spPr>
          <a:xfrm>
            <a:off x="6217920" y="3621024"/>
            <a:ext cx="2633472" cy="877824"/>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E6007E"/>
                </a:solidFill>
                <a:latin typeface="Arial"/>
              </a:rPr>
              <a:t>The one to avoid</a:t>
            </a:r>
          </a:p>
          <a:p>
            <a:pPr>
              <a:spcBef>
                <a:spcPts val="300"/>
              </a:spcBef>
            </a:pPr>
            <a:r>
              <a:rPr sz="1000">
                <a:solidFill>
                  <a:srgbClr val="03234B"/>
                </a:solidFill>
                <a:latin typeface="Arial"/>
              </a:rPr>
              <a:t>Region (3). Not "worse</a:t>
            </a:r>
          </a:p>
          <a:p>
            <a:pPr>
              <a:spcBef>
                <a:spcPts val="300"/>
              </a:spcBef>
            </a:pPr>
            <a:r>
              <a:rPr sz="1000">
                <a:solidFill>
                  <a:srgbClr val="03234B"/>
                </a:solidFill>
                <a:latin typeface="Arial"/>
              </a:rPr>
              <a:t>efficiency" — device destruction.</a:t>
            </a:r>
          </a:p>
        </p:txBody>
      </p:sp>
      <p:sp>
        <p:nvSpPr>
          <p:cNvPr id="10" name="TextBox 9"/>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  ·  region framing after ROHM TechWeb LLC series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Below or above resonance?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Both work — they trade rectifier losses against circulating current</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f_opmodes.png">    </p:cNvPr>
          <p:cNvPicPr>
            <a:picLocks noChangeAspect="1"/>
          </p:cNvPicPr>
          <p:nvPr/>
        </p:nvPicPr>
        <p:blipFill>
          <a:blip r:embed="rId2"/>
          <a:stretch>
            <a:fillRect/>
          </a:stretch>
        </p:blipFill>
        <p:spPr>
          <a:xfrm>
            <a:off x="1012999" y="1188720"/>
            <a:ext cx="2820321" cy="2651760"/>
          </a:xfrm>
          <a:prstGeom prst="rect">
            <a:avLst/>
          </a:prstGeom>
        </p:spPr>
      </p:pic>
      <p:pic>
        <p:nvPicPr>
          <p:cNvPr id="7" name="Image 2" descr="fig/f_modewave.png">    </p:cNvPr>
          <p:cNvPicPr>
            <a:picLocks noChangeAspect="1"/>
          </p:cNvPicPr>
          <p:nvPr/>
        </p:nvPicPr>
        <p:blipFill>
          <a:blip r:embed="rId3"/>
          <a:stretch>
            <a:fillRect/>
          </a:stretch>
        </p:blipFill>
        <p:spPr>
          <a:xfrm>
            <a:off x="5415335" y="1188720"/>
            <a:ext cx="2565290" cy="2651760"/>
          </a:xfrm>
          <a:prstGeom prst="rect">
            <a:avLst/>
          </a:prstGeom>
        </p:spPr>
      </p:pic>
      <p:sp>
        <p:nvSpPr>
          <p:cNvPr id="8" name="Shape 3"/>
          <p:cNvSpPr/>
          <p:nvPr/>
        </p:nvSpPr>
        <p:spPr>
          <a:xfrm>
            <a:off x="365760" y="3803904"/>
            <a:ext cx="4114800" cy="960120"/>
          </a:xfrm>
          <a:prstGeom prst="roundRect">
            <a:avLst>
              <a:gd name="adj" fmla="val 4762"/>
            </a:avLst>
          </a:prstGeom>
          <a:solidFill>
            <a:srgbClr val="F5F7FA"/>
          </a:solidFill>
          <a:ln w="12700">
            <a:solidFill>
              <a:srgbClr val="E6007E"/>
            </a:solidFill>
            <a:prstDash val="solid"/>
          </a:ln>
        </p:spPr>
        <p:txBody>
          <a:bodyPr/>
          <a:p/>
        </p:txBody>
      </p:sp>
      <p:sp>
        <p:nvSpPr>
          <p:cNvPr id="9" name="Text 4"/>
          <p:cNvSpPr/>
          <p:nvPr/>
        </p:nvSpPr>
        <p:spPr>
          <a:xfrm>
            <a:off x="475488" y="3886200"/>
            <a:ext cx="389534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Below resonance  (fsw &lt; fr)</a:t>
            </a:r>
            <a:endParaRPr lang="en-US" sz="1150" dirty="0"/>
          </a:p>
        </p:txBody>
      </p:sp>
      <p:sp>
        <p:nvSpPr>
          <p:cNvPr id="10" name="Text 5"/>
          <p:cNvSpPr/>
          <p:nvPr/>
        </p:nvSpPr>
        <p:spPr>
          <a:xfrm>
            <a:off x="475488" y="4187952"/>
            <a:ext cx="3895344" cy="48463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Secondary current is a half-sine that reaches zero before the half period ends → rectifier turns off at ZERO CURRENT. But the circulating current is large.</a:t>
            </a:r>
            <a:endParaRPr lang="en-US" sz="1000" dirty="0"/>
          </a:p>
        </p:txBody>
      </p:sp>
      <p:sp>
        <p:nvSpPr>
          <p:cNvPr id="11" name="Shape 6"/>
          <p:cNvSpPr/>
          <p:nvPr/>
        </p:nvSpPr>
        <p:spPr>
          <a:xfrm>
            <a:off x="4617720" y="3803904"/>
            <a:ext cx="4160520" cy="960120"/>
          </a:xfrm>
          <a:prstGeom prst="roundRect">
            <a:avLst>
              <a:gd name="adj" fmla="val 4762"/>
            </a:avLst>
          </a:prstGeom>
          <a:solidFill>
            <a:srgbClr val="F5F7FA"/>
          </a:solidFill>
          <a:ln w="12700">
            <a:solidFill>
              <a:srgbClr val="3CB4E6"/>
            </a:solidFill>
            <a:prstDash val="solid"/>
          </a:ln>
        </p:spPr>
        <p:txBody>
          <a:bodyPr/>
          <a:p/>
        </p:txBody>
      </p:sp>
      <p:sp>
        <p:nvSpPr>
          <p:cNvPr id="12" name="Text 7"/>
          <p:cNvSpPr/>
          <p:nvPr/>
        </p:nvSpPr>
        <p:spPr>
          <a:xfrm>
            <a:off x="4727448" y="3886200"/>
            <a:ext cx="394106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Above resonance  (fsw &gt; fr)</a:t>
            </a:r>
            <a:endParaRPr lang="en-US" sz="1150" dirty="0"/>
          </a:p>
        </p:txBody>
      </p:sp>
      <p:sp>
        <p:nvSpPr>
          <p:cNvPr id="13" name="Text 8"/>
          <p:cNvSpPr/>
          <p:nvPr/>
        </p:nvSpPr>
        <p:spPr>
          <a:xfrm>
            <a:off x="4727448" y="4187952"/>
            <a:ext cx="3941064" cy="48463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Minimum circulating current, best conduction loss. But the rectifier is hard-commutated, and light load pushes the frequency very high.</a:t>
            </a:r>
            <a:endParaRPr lang="en-US" sz="1000" dirty="0"/>
          </a:p>
        </p:txBody>
      </p:sp>
      <p:sp>
        <p:nvSpPr>
          <p:cNvPr id="14" name="Text 9"/>
          <p:cNvSpPr/>
          <p:nvPr/>
        </p:nvSpPr>
        <p:spPr>
          <a:xfrm>
            <a:off x="914400" y="4869180"/>
            <a:ext cx="4937760" cy="201168"/>
          </a:xfrm>
          <a:prstGeom prst="rect">
            <a:avLst/>
          </a:prstGeom>
          <a:noFill/>
          <a:ln/>
        </p:spPr>
        <p:txBody>
          <a:bodyPr wrap="square" lIns="0" tIns="0" rIns="0" bIns="0" rtlCol="0" anchor="ctr"/>
          <a:lstStyle/>
          <a:p>
            <a:pPr indent="0" marL="0">
              <a:buNone/>
            </a:pPr>
            <a:r>
              <a:rPr lang="en-US" sz="700" i="1" dirty="0">
                <a:solidFill>
                  <a:srgbClr val="BBBBBB"/>
                </a:solidFill>
                <a:latin typeface="Arial" pitchFamily="34" charset="0"/>
                <a:ea typeface="Arial" pitchFamily="34" charset="-122"/>
                <a:cs typeface="Arial" pitchFamily="34" charset="-120"/>
              </a:rPr>
              <a:t>Figures: onsemi / Fairchild AN-4151, Fig. 10 and Fig. 11</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ZVS and the forbidden capacitive region</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Stay on the inductive side of the gain peak — always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7" name="Text 3"/>
          <p:cNvSpPr/>
          <p:nvPr/>
        </p:nvSpPr>
        <p:spPr>
          <a:xfrm>
            <a:off x="365760" y="1143000"/>
            <a:ext cx="4114800" cy="3383280"/>
          </a:xfrm>
          <a:prstGeom prst="rect">
            <a:avLst/>
          </a:prstGeom>
          <a:noFill/>
          <a:ln/>
        </p:spPr>
        <p:txBody>
          <a:bodyPr wrap="square" lIns="0" tIns="0" rIns="0" bIns="0" rtlCol="0" anchor="t"/>
          <a:lstStyle/>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INDUCTIVE side (right of the gain peak): the tank current LAGS the square wave. During the dead time it keeps flowing and pulls the midpoint to the next rail — the MOSFET turns on at zero volts. This is ZVS.</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CAPACITIVE side (left of the peak): the current LEADS. The body diode is hard reverse-recovered, the noise is violent, and the gain slope reverses so the output goes out of control.</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The minimum switching frequency must therefore be clamped WELL above the peak-gain frequency.</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Practical rule from both application notes: leave 10–20 % margin on the maximum gain so that ZVS survives load steps and start-up.</a:t>
            </a:r>
            <a:endParaRPr lang="en-US" sz="1050" dirty="0"/>
          </a:p>
        </p:txBody>
      </p:sp>
      <p:sp>
        <p:nvSpPr>
          <p:cNvPr id="8" name="Text 4"/>
          <p:cNvSpPr/>
          <p:nvPr/>
        </p:nvSpPr>
        <p:spPr>
          <a:xfrm>
            <a:off x="914400" y="4869180"/>
            <a:ext cx="4937760" cy="201168"/>
          </a:xfrm>
          <a:prstGeom prst="rect">
            <a:avLst/>
          </a:prstGeom>
          <a:noFill/>
          <a:ln/>
        </p:spPr>
        <p:txBody>
          <a:bodyPr wrap="square" lIns="0" tIns="0" rIns="0" bIns="0" rtlCol="0" anchor="ctr"/>
          <a:lstStyle/>
          <a:p>
            <a:pPr indent="0" marL="0" algn="l">
              <a:buNone/>
            </a:pPr>
            <a:r>
              <a:rPr sz="700" b="0" i="1">
                <a:solidFill>
                  <a:srgbClr val="BBBBBB"/>
                </a:solidFill>
                <a:latin typeface="Arial"/>
              </a:rPr>
              <a:t>Figure: MPS article A-0029 Fig. 6, Monolithic Power Systems, "What to Consider in LLC Converter Design" (2022)</a:t>
            </a:r>
            <a:endParaRPr lang="en-US" sz="700" dirty="0"/>
          </a:p>
        </p:txBody>
      </p:sp>
      <p:pic>
        <p:nvPicPr>
          <p:cNvPr id="9" name="Picture 8" descr="mps2_f6.png"/>
          <p:cNvPicPr>
            <a:picLocks noChangeAspect="1"/>
          </p:cNvPicPr>
          <p:nvPr/>
        </p:nvPicPr>
        <p:blipFill>
          <a:blip r:embed="rId5"/>
          <a:stretch>
            <a:fillRect/>
          </a:stretch>
        </p:blipFill>
        <p:spPr>
          <a:xfrm>
            <a:off x="4754880" y="1935720"/>
            <a:ext cx="4069080" cy="184355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How ZVS actually happens</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The magnetising current does the work — during the dead time, not during conduction</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05_zvs_mechanism.png"/>
          <p:cNvPicPr>
            <a:picLocks noChangeAspect="1"/>
          </p:cNvPicPr>
          <p:nvPr/>
        </p:nvPicPr>
        <p:blipFill>
          <a:blip r:embed="rId2"/>
          <a:stretch>
            <a:fillRect/>
          </a:stretch>
        </p:blipFill>
        <p:spPr>
          <a:xfrm>
            <a:off x="420404" y="1060704"/>
            <a:ext cx="5468551" cy="3383280"/>
          </a:xfrm>
          <a:prstGeom prst="rect">
            <a:avLst/>
          </a:prstGeom>
        </p:spPr>
      </p:pic>
      <p:sp>
        <p:nvSpPr>
          <p:cNvPr id="7" name="Rounded Rectangle 6"/>
          <p:cNvSpPr/>
          <p:nvPr/>
        </p:nvSpPr>
        <p:spPr>
          <a:xfrm>
            <a:off x="6172200" y="1060704"/>
            <a:ext cx="2670048" cy="1920240"/>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The sequence</a:t>
            </a:r>
          </a:p>
          <a:p>
            <a:pPr>
              <a:spcBef>
                <a:spcPts val="300"/>
              </a:spcBef>
            </a:pPr>
            <a:r>
              <a:rPr sz="1000">
                <a:solidFill>
                  <a:srgbClr val="03234B"/>
                </a:solidFill>
                <a:latin typeface="Arial"/>
              </a:rPr>
              <a:t>1  MOSFET turns off.</a:t>
            </a:r>
          </a:p>
          <a:p>
            <a:pPr>
              <a:spcBef>
                <a:spcPts val="300"/>
              </a:spcBef>
            </a:pPr>
            <a:r>
              <a:rPr sz="1000">
                <a:solidFill>
                  <a:srgbClr val="03234B"/>
                </a:solidFill>
                <a:latin typeface="Arial"/>
              </a:rPr>
              <a:t>2  Dead time: BOTH off.</a:t>
            </a:r>
          </a:p>
          <a:p>
            <a:pPr>
              <a:spcBef>
                <a:spcPts val="300"/>
              </a:spcBef>
            </a:pPr>
            <a:r>
              <a:rPr sz="1000">
                <a:solidFill>
                  <a:srgbClr val="03234B"/>
                </a:solidFill>
                <a:latin typeface="Arial"/>
              </a:rPr>
              <a:t>3  The current still flowing</a:t>
            </a:r>
          </a:p>
          <a:p>
            <a:pPr>
              <a:spcBef>
                <a:spcPts val="300"/>
              </a:spcBef>
            </a:pPr>
            <a:r>
              <a:rPr sz="1000">
                <a:solidFill>
                  <a:srgbClr val="03234B"/>
                </a:solidFill>
                <a:latin typeface="Arial"/>
              </a:rPr>
              <a:t>     discharges Cₒₛₛ of the</a:t>
            </a:r>
          </a:p>
          <a:p>
            <a:pPr>
              <a:spcBef>
                <a:spcPts val="300"/>
              </a:spcBef>
            </a:pPr>
            <a:r>
              <a:rPr sz="1000">
                <a:solidFill>
                  <a:srgbClr val="03234B"/>
                </a:solidFill>
                <a:latin typeface="Arial"/>
              </a:rPr>
              <a:t>     device about to turn on.</a:t>
            </a:r>
          </a:p>
          <a:p>
            <a:pPr>
              <a:spcBef>
                <a:spcPts val="300"/>
              </a:spcBef>
            </a:pPr>
            <a:r>
              <a:rPr sz="1000">
                <a:solidFill>
                  <a:srgbClr val="03234B"/>
                </a:solidFill>
                <a:latin typeface="Arial"/>
              </a:rPr>
              <a:t>4  It turns on at 0 V.</a:t>
            </a:r>
          </a:p>
        </p:txBody>
      </p:sp>
      <p:sp>
        <p:nvSpPr>
          <p:cNvPr id="8" name="Rounded Rectangle 7"/>
          <p:cNvSpPr/>
          <p:nvPr/>
        </p:nvSpPr>
        <p:spPr>
          <a:xfrm>
            <a:off x="6172200" y="3108960"/>
            <a:ext cx="2670048" cy="1353312"/>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E6007E"/>
                </a:solidFill>
                <a:latin typeface="Arial"/>
              </a:rPr>
              <a:t>Two conditions</a:t>
            </a:r>
          </a:p>
          <a:p>
            <a:pPr>
              <a:spcBef>
                <a:spcPts val="300"/>
              </a:spcBef>
            </a:pPr>
            <a:r>
              <a:rPr sz="1000">
                <a:solidFill>
                  <a:srgbClr val="03234B"/>
                </a:solidFill>
                <a:latin typeface="Arial"/>
              </a:rPr>
              <a:t>Tᴢᴄ &gt; tₔ   current is still</a:t>
            </a:r>
          </a:p>
          <a:p>
            <a:pPr>
              <a:spcBef>
                <a:spcPts val="300"/>
              </a:spcBef>
            </a:pPr>
            <a:r>
              <a:rPr sz="1000">
                <a:solidFill>
                  <a:srgbClr val="03234B"/>
                </a:solidFill>
                <a:latin typeface="Arial"/>
              </a:rPr>
              <a:t>     flowing at turn-off</a:t>
            </a:r>
          </a:p>
          <a:p>
            <a:pPr>
              <a:spcBef>
                <a:spcPts val="300"/>
              </a:spcBef>
            </a:pPr>
            <a:r>
              <a:rPr sz="1000">
                <a:solidFill>
                  <a:srgbClr val="03234B"/>
                </a:solidFill>
                <a:latin typeface="Arial"/>
              </a:rPr>
              <a:t/>
            </a:r>
          </a:p>
          <a:p>
            <a:pPr>
              <a:spcBef>
                <a:spcPts val="300"/>
              </a:spcBef>
            </a:pPr>
            <a:r>
              <a:rPr sz="1000">
                <a:solidFill>
                  <a:srgbClr val="03234B"/>
                </a:solidFill>
                <a:latin typeface="Arial"/>
              </a:rPr>
              <a:t>tₔ &gt; Tₜ   the swing finishes</a:t>
            </a:r>
          </a:p>
          <a:p>
            <a:pPr>
              <a:spcBef>
                <a:spcPts val="300"/>
              </a:spcBef>
            </a:pPr>
            <a:r>
              <a:rPr sz="1000">
                <a:solidFill>
                  <a:srgbClr val="03234B"/>
                </a:solidFill>
                <a:latin typeface="Arial"/>
              </a:rPr>
              <a:t>     inside the dead time</a:t>
            </a:r>
          </a:p>
        </p:txBody>
      </p:sp>
      <p:sp>
        <p:nvSpPr>
          <p:cNvPr id="9" name="TextBox 8"/>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  mechanism after ROHM TechWeb, "Features of LLC Converter Operation"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What goes wrong off resonance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The body diode is the part that fails — and it decides which MOSFET you may use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7" name="Rounded Rectangle 6"/>
          <p:cNvSpPr/>
          <p:nvPr/>
        </p:nvSpPr>
        <p:spPr>
          <a:xfrm>
            <a:off x="4434840" y="1060704"/>
            <a:ext cx="4389120" cy="1572768"/>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E6007E"/>
                </a:solidFill>
                <a:latin typeface="Arial"/>
              </a:rPr>
              <a:t>Why it happens</a:t>
            </a:r>
          </a:p>
          <a:p>
            <a:pPr>
              <a:spcBef>
                <a:spcPts val="300"/>
              </a:spcBef>
            </a:pPr>
            <a:r>
              <a:rPr sz="1000">
                <a:solidFill>
                  <a:srgbClr val="03234B"/>
                </a:solidFill>
                <a:latin typeface="Arial"/>
              </a:rPr>
              <a:t>Below fₒ the tank is capacitive, so the current LEADS the voltage.</a:t>
            </a:r>
          </a:p>
          <a:p>
            <a:pPr>
              <a:spcBef>
                <a:spcPts val="300"/>
              </a:spcBef>
            </a:pPr>
            <a:r>
              <a:rPr sz="1000">
                <a:solidFill>
                  <a:srgbClr val="03234B"/>
                </a:solidFill>
                <a:latin typeface="Arial"/>
              </a:rPr>
              <a:t>The MOSFET is then turned on while its BODY DIODE is conducting.</a:t>
            </a:r>
          </a:p>
          <a:p>
            <a:pPr>
              <a:spcBef>
                <a:spcPts val="300"/>
              </a:spcBef>
            </a:pPr>
            <a:r>
              <a:rPr sz="1000">
                <a:solidFill>
                  <a:srgbClr val="03234B"/>
                </a:solidFill>
                <a:latin typeface="Arial"/>
              </a:rPr>
              <a:t>The diode has to reverse-recover, and during that recovery both</a:t>
            </a:r>
          </a:p>
          <a:p>
            <a:pPr>
              <a:spcBef>
                <a:spcPts val="300"/>
              </a:spcBef>
            </a:pPr>
            <a:r>
              <a:rPr sz="1000">
                <a:solidFill>
                  <a:srgbClr val="03234B"/>
                </a:solidFill>
                <a:latin typeface="Arial"/>
              </a:rPr>
              <a:t>devices conduct — a shoot-through current straight across the bus.</a:t>
            </a:r>
          </a:p>
        </p:txBody>
      </p:sp>
      <p:sp>
        <p:nvSpPr>
          <p:cNvPr id="8" name="Rounded Rectangle 7"/>
          <p:cNvSpPr/>
          <p:nvPr/>
        </p:nvSpPr>
        <p:spPr>
          <a:xfrm>
            <a:off x="4434840" y="2761488"/>
            <a:ext cx="4389120" cy="1243584"/>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When it happens</a:t>
            </a:r>
          </a:p>
          <a:p>
            <a:pPr>
              <a:spcBef>
                <a:spcPts val="300"/>
              </a:spcBef>
            </a:pPr>
            <a:r>
              <a:rPr sz="1000">
                <a:solidFill>
                  <a:srgbClr val="03234B"/>
                </a:solidFill>
                <a:latin typeface="Arial"/>
              </a:rPr>
              <a:t>Not only by bad design: overload, a load step, low line, and</a:t>
            </a:r>
          </a:p>
          <a:p>
            <a:pPr>
              <a:spcBef>
                <a:spcPts val="300"/>
              </a:spcBef>
            </a:pPr>
            <a:r>
              <a:rPr sz="1000">
                <a:solidFill>
                  <a:srgbClr val="03234B"/>
                </a:solidFill>
                <a:latin typeface="Arial"/>
              </a:rPr>
              <a:t>START-UP all push the converter off resonance for a few cycles.</a:t>
            </a:r>
          </a:p>
        </p:txBody>
      </p:sp>
      <p:sp>
        <p:nvSpPr>
          <p:cNvPr id="9" name="TextBox 8"/>
          <p:cNvSpPr txBox="1"/>
          <p:nvPr/>
        </p:nvSpPr>
        <p:spPr>
          <a:xfrm>
            <a:off x="4434840" y="4059936"/>
            <a:ext cx="4389120" cy="786384"/>
          </a:xfrm>
          <a:prstGeom prst="rect">
            <a:avLst/>
          </a:prstGeom>
          <a:noFill/>
        </p:spPr>
        <p:txBody>
          <a:bodyPr wrap="square" lIns="36576" rIns="36576" tIns="18288" bIns="18288">
            <a:spAutoFit/>
          </a:bodyPr>
          <a:lstStyle/>
          <a:p>
            <a:pPr algn="l">
              <a:spcAft>
                <a:spcPts val="600"/>
              </a:spcAft>
            </a:pPr>
            <a:r>
              <a:rPr sz="1050" b="1">
                <a:solidFill>
                  <a:srgbClr val="E6007E"/>
                </a:solidFill>
                <a:latin typeface="Arial"/>
              </a:rPr>
              <a:t>Design rule — pick a primary MOSFET whose BODY DIODE has fast recovery. It is not a secondary parameter here: it decides whether an inevitable off-resonance excursion costs a few extra watts or the device.</a:t>
            </a:r>
          </a:p>
        </p:txBody>
      </p:sp>
      <p:sp>
        <p:nvSpPr>
          <p:cNvPr id="10" name="TextBox 9"/>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MPS article A-0029 Fig. 7 · mechanism after ROHM TechWeb, "Importance of MOSFET Recovery Characteristics"</a:t>
            </a:r>
          </a:p>
        </p:txBody>
      </p:sp>
      <p:pic>
        <p:nvPicPr>
          <p:cNvPr id="11" name="Picture 10" descr="mps2_f7.png"/>
          <p:cNvPicPr>
            <a:picLocks noChangeAspect="1"/>
          </p:cNvPicPr>
          <p:nvPr/>
        </p:nvPicPr>
        <p:blipFill>
          <a:blip r:embed="rId3"/>
          <a:stretch>
            <a:fillRect/>
          </a:stretch>
        </p:blipFill>
        <p:spPr>
          <a:xfrm>
            <a:off x="274320" y="2051045"/>
            <a:ext cx="3977639" cy="152146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classic design recipe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Both Infineon and onsemi follow the same eleven steps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8412480" cy="914400"/>
        </p:xfrm>
        <a:graphic>
          <a:graphicData uri="http://schemas.openxmlformats.org/drawingml/2006/table">
            <a:tbl>
              <a:tblPr/>
              <a:tblGrid>
                <a:gridCol w="658368"/>
                <a:gridCol w="2514600"/>
                <a:gridCol w="5239512"/>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Step</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you do</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onsemi AN-4151 / Infineon AN 2013-03</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1–2</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specification, efficiency, gain range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Mmin at Vin,max, Mmax at Vin,min (+10–20 % margin)</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3</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turns ratio</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n = Vin,max /(2(Vₒ+V_F)) × Mmin</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4</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equivalent load</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Rac = 8n²Vₒ²/(π²Pₒ)</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5</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pick m (or λ), read Q from the peak-gain chart</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m = 3…8  →  gain 1.1…1.2 at resonance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resonant components</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Cr = 1/(2π Q fₒ Rac),  Lr = 1/((2πfₒ)²Cr),  Lp = m·Lr</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7–8</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transformer turns / core, resonant capacitor rating</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Nₚ from ΔB; Cr voltage from the OCP trip point</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9–10</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rectifier, output capacitor, control circuit</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V_D = 2(Vₒ+V_F);  RT/soft-start network</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11</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current sensing and protection</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R_sense from the OCP threshold</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
        <p:nvSpPr>
          <p:cNvPr id="7" name="Text 3"/>
          <p:cNvSpPr/>
          <p:nvPr/>
        </p:nvSpPr>
        <p:spPr>
          <a:xfrm>
            <a:off x="365760" y="4389120"/>
            <a:ext cx="8412480" cy="292608"/>
          </a:xfrm>
          <a:prstGeom prst="rect">
            <a:avLst/>
          </a:prstGeom>
          <a:noFill/>
          <a:ln/>
        </p:spPr>
        <p:txBody>
          <a:bodyPr wrap="square" lIns="0" tIns="0" rIns="0" bIns="0" rtlCol="0" anchor="ctr"/>
          <a:lstStyle/>
          <a:p>
            <a:pPr indent="0" marL="0">
              <a:buNone/>
            </a:pPr>
            <a:r>
              <a:rPr lang="en-US" sz="1000" b="1" i="1" dirty="0">
                <a:solidFill>
                  <a:srgbClr val="E6007E"/>
                </a:solidFill>
                <a:latin typeface="Arial" pitchFamily="34" charset="0"/>
                <a:ea typeface="Arial" pitchFamily="34" charset="-122"/>
                <a:cs typeface="Arial" pitchFamily="34" charset="-120"/>
              </a:rPr>
              <a:t>Keep this list in mind. In Part 4 we will walk it again and mark every step that a single-stage converter changes.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1600200"/>
            <a:ext cx="5852160" cy="960120"/>
          </a:xfrm>
          <a:prstGeom prst="rect">
            <a:avLst/>
          </a:prstGeom>
          <a:solidFill>
            <a:srgbClr val="FFD200"/>
          </a:solidFill>
          <a:ln/>
        </p:spPr>
        <p:txBody>
          <a:bodyPr/>
          <a:p/>
        </p:txBody>
      </p:sp>
      <p:sp>
        <p:nvSpPr>
          <p:cNvPr id="3" name="Text 1"/>
          <p:cNvSpPr/>
          <p:nvPr/>
        </p:nvSpPr>
        <p:spPr>
          <a:xfrm>
            <a:off x="502920" y="1600200"/>
            <a:ext cx="5212080" cy="960120"/>
          </a:xfrm>
          <a:prstGeom prst="rect">
            <a:avLst/>
          </a:prstGeom>
          <a:noFill/>
          <a:ln/>
        </p:spPr>
        <p:txBody>
          <a:bodyPr wrap="square" lIns="0" tIns="0" rIns="0" bIns="0" rtlCol="0" anchor="ctr"/>
          <a:lstStyle/>
          <a:p>
            <a:pPr indent="0" marL="0">
              <a:buNone/>
            </a:pPr>
            <a:r>
              <a:rPr lang="en-US" sz="2600" b="1" dirty="0">
                <a:solidFill>
                  <a:srgbClr val="03234B"/>
                </a:solidFill>
                <a:latin typeface="Arial" pitchFamily="34" charset="0"/>
                <a:ea typeface="Arial" pitchFamily="34" charset="-122"/>
                <a:cs typeface="Arial" pitchFamily="34" charset="-120"/>
              </a:rPr>
              <a:t>What "single stage PF" changes</a:t>
            </a:r>
            <a:endParaRPr lang="en-US" sz="2600" dirty="0"/>
          </a:p>
        </p:txBody>
      </p:sp>
      <p:sp>
        <p:nvSpPr>
          <p:cNvPr id="4" name="Text 2"/>
          <p:cNvSpPr/>
          <p:nvPr/>
        </p:nvSpPr>
        <p:spPr>
          <a:xfrm>
            <a:off x="502920" y="1143000"/>
            <a:ext cx="3657600" cy="320040"/>
          </a:xfrm>
          <a:prstGeom prst="rect">
            <a:avLst/>
          </a:prstGeom>
          <a:noFill/>
          <a:ln/>
        </p:spPr>
        <p:txBody>
          <a:bodyPr wrap="square" lIns="0" tIns="0" rIns="0" bIns="0" rtlCol="0" anchor="ctr"/>
          <a:lstStyle/>
          <a:p>
            <a:pPr indent="0" marL="0">
              <a:buNone/>
            </a:pPr>
            <a:r>
              <a:rPr lang="en-US" sz="1300" b="1" dirty="0">
                <a:solidFill>
                  <a:srgbClr val="FFD200"/>
                </a:solidFill>
                <a:latin typeface="Arial" pitchFamily="34" charset="0"/>
                <a:ea typeface="Arial" pitchFamily="34" charset="-122"/>
                <a:cs typeface="Arial" pitchFamily="34" charset="-120"/>
              </a:rPr>
              <a:t>PART 2</a:t>
            </a:r>
            <a:endParaRPr lang="en-US" sz="1300" dirty="0"/>
          </a:p>
        </p:txBody>
      </p:sp>
      <p:sp>
        <p:nvSpPr>
          <p:cNvPr id="5" name="Text 3"/>
          <p:cNvSpPr/>
          <p:nvPr/>
        </p:nvSpPr>
        <p:spPr>
          <a:xfrm>
            <a:off x="502920" y="2788920"/>
            <a:ext cx="7772400" cy="1097280"/>
          </a:xfrm>
          <a:prstGeom prst="rect">
            <a:avLst/>
          </a:prstGeom>
          <a:noFill/>
          <a:ln/>
        </p:spPr>
        <p:txBody>
          <a:bodyPr wrap="square" lIns="0" tIns="0" rIns="0" bIns="0" rtlCol="0" anchor="ctr"/>
          <a:lstStyle/>
          <a:p>
            <a:pPr indent="0" marL="0">
              <a:buNone/>
            </a:pPr>
            <a:r>
              <a:rPr lang="en-US" sz="1300" dirty="0">
                <a:solidFill>
                  <a:srgbClr val="C8D4E4"/>
                </a:solidFill>
                <a:latin typeface="Arial" pitchFamily="34" charset="0"/>
                <a:ea typeface="Arial" pitchFamily="34" charset="-122"/>
                <a:cs typeface="Arial" pitchFamily="34" charset="-120"/>
              </a:rPr>
              <a:t>Remove the boost PFC and the 400 V bulk capacitor. Everything you just learned still applies — but the ROLE of the switching frequency changes completely.</a:t>
            </a:r>
            <a:endParaRPr lang="en-US" sz="1300" dirty="0"/>
          </a:p>
        </p:txBody>
      </p:sp>
      <p:pic>
        <p:nvPicPr>
          <p:cNvPr id="6" name="Image 0" descr="logo/image1.png">    </p:cNvPr>
          <p:cNvPicPr>
            <a:picLocks noChangeAspect="1"/>
          </p:cNvPicPr>
          <p:nvPr/>
        </p:nvPicPr>
        <p:blipFill>
          <a:blip r:embed="rId1"/>
          <a:stretch>
            <a:fillRect/>
          </a:stretch>
        </p:blipFill>
        <p:spPr>
          <a:xfrm>
            <a:off x="274320" y="4576572"/>
            <a:ext cx="502920" cy="3840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Two stages, or one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The boost stage and the 400 V bank both disappear</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c_block.png">    </p:cNvPr>
          <p:cNvPicPr>
            <a:picLocks noChangeAspect="1"/>
          </p:cNvPicPr>
          <p:nvPr/>
        </p:nvPicPr>
        <p:blipFill>
          <a:blip r:embed="rId2"/>
          <a:stretch>
            <a:fillRect/>
          </a:stretch>
        </p:blipFill>
        <p:spPr>
          <a:xfrm>
            <a:off x="1865107" y="1097280"/>
            <a:ext cx="5413786" cy="2788920"/>
          </a:xfrm>
          <a:prstGeom prst="rect">
            <a:avLst/>
          </a:prstGeom>
        </p:spPr>
      </p:pic>
      <p:sp>
        <p:nvSpPr>
          <p:cNvPr id="7" name="Shape 3"/>
          <p:cNvSpPr/>
          <p:nvPr/>
        </p:nvSpPr>
        <p:spPr>
          <a:xfrm>
            <a:off x="320040" y="3785616"/>
            <a:ext cx="2697480" cy="987552"/>
          </a:xfrm>
          <a:prstGeom prst="roundRect">
            <a:avLst>
              <a:gd name="adj" fmla="val 4630"/>
            </a:avLst>
          </a:prstGeom>
          <a:solidFill>
            <a:srgbClr val="F5F7FA"/>
          </a:solidFill>
          <a:ln w="12700">
            <a:solidFill>
              <a:srgbClr val="49B170"/>
            </a:solidFill>
            <a:prstDash val="solid"/>
          </a:ln>
        </p:spPr>
        <p:txBody>
          <a:bodyPr/>
          <a:p/>
        </p:txBody>
      </p:sp>
      <p:sp>
        <p:nvSpPr>
          <p:cNvPr id="8" name="Text 4"/>
          <p:cNvSpPr/>
          <p:nvPr/>
        </p:nvSpPr>
        <p:spPr>
          <a:xfrm>
            <a:off x="429768" y="3867912"/>
            <a:ext cx="247802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What you gain</a:t>
            </a:r>
            <a:endParaRPr lang="en-US" sz="1150" dirty="0"/>
          </a:p>
        </p:txBody>
      </p:sp>
      <p:sp>
        <p:nvSpPr>
          <p:cNvPr id="9" name="Text 5"/>
          <p:cNvSpPr/>
          <p:nvPr/>
        </p:nvSpPr>
        <p:spPr>
          <a:xfrm>
            <a:off x="429768" y="4169664"/>
            <a:ext cx="2478024" cy="559599"/>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One stage instead of two: fewer parts, no 400 V electrolytic bank, one control loop, no product of two efficiencies.</a:t>
            </a:r>
            <a:endParaRPr lang="en-US" sz="1000" dirty="0"/>
          </a:p>
        </p:txBody>
      </p:sp>
      <p:sp>
        <p:nvSpPr>
          <p:cNvPr id="10" name="Shape 6"/>
          <p:cNvSpPr/>
          <p:nvPr/>
        </p:nvSpPr>
        <p:spPr>
          <a:xfrm>
            <a:off x="3200400" y="3785616"/>
            <a:ext cx="2697480" cy="987552"/>
          </a:xfrm>
          <a:prstGeom prst="roundRect">
            <a:avLst>
              <a:gd name="adj" fmla="val 4630"/>
            </a:avLst>
          </a:prstGeom>
          <a:solidFill>
            <a:srgbClr val="F5F7FA"/>
          </a:solidFill>
          <a:ln w="12700">
            <a:solidFill>
              <a:srgbClr val="E6007E"/>
            </a:solidFill>
            <a:prstDash val="solid"/>
          </a:ln>
        </p:spPr>
        <p:txBody>
          <a:bodyPr/>
          <a:p/>
        </p:txBody>
      </p:sp>
      <p:sp>
        <p:nvSpPr>
          <p:cNvPr id="11" name="Text 7"/>
          <p:cNvSpPr/>
          <p:nvPr/>
        </p:nvSpPr>
        <p:spPr>
          <a:xfrm>
            <a:off x="3310128" y="3867912"/>
            <a:ext cx="247802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What you pay</a:t>
            </a:r>
            <a:endParaRPr lang="en-US" sz="1150" dirty="0"/>
          </a:p>
        </p:txBody>
      </p:sp>
      <p:sp>
        <p:nvSpPr>
          <p:cNvPr id="12" name="Text 8"/>
          <p:cNvSpPr/>
          <p:nvPr/>
        </p:nvSpPr>
        <p:spPr>
          <a:xfrm>
            <a:off x="3310128" y="4169664"/>
            <a:ext cx="2478024" cy="559599"/>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The tank must cover the whole mains range, λ must be large, circulating current is high, and the output carries a 2fl ripple.</a:t>
            </a:r>
            <a:endParaRPr lang="en-US" sz="1000" dirty="0"/>
          </a:p>
        </p:txBody>
      </p:sp>
      <p:sp>
        <p:nvSpPr>
          <p:cNvPr id="13" name="Shape 9"/>
          <p:cNvSpPr/>
          <p:nvPr/>
        </p:nvSpPr>
        <p:spPr>
          <a:xfrm>
            <a:off x="6080760" y="3785616"/>
            <a:ext cx="2697480" cy="987552"/>
          </a:xfrm>
          <a:prstGeom prst="roundRect">
            <a:avLst>
              <a:gd name="adj" fmla="val 4630"/>
            </a:avLst>
          </a:prstGeom>
          <a:solidFill>
            <a:srgbClr val="F5F7FA"/>
          </a:solidFill>
          <a:ln w="12700">
            <a:solidFill>
              <a:srgbClr val="03234B"/>
            </a:solidFill>
            <a:prstDash val="solid"/>
          </a:ln>
        </p:spPr>
        <p:txBody>
          <a:bodyPr/>
          <a:p/>
        </p:txBody>
      </p:sp>
      <p:sp>
        <p:nvSpPr>
          <p:cNvPr id="14" name="Text 10"/>
          <p:cNvSpPr/>
          <p:nvPr/>
        </p:nvSpPr>
        <p:spPr>
          <a:xfrm>
            <a:off x="6190488" y="3867912"/>
            <a:ext cx="2478024" cy="274320"/>
          </a:xfrm>
          <a:prstGeom prst="rect">
            <a:avLst/>
          </a:prstGeom>
          <a:noFill/>
          <a:ln/>
        </p:spPr>
        <p:txBody>
          <a:bodyPr wrap="square" lIns="0" tIns="0" rIns="0" bIns="0" rtlCol="0" anchor="ctr"/>
          <a:lstStyle/>
          <a:p>
            <a:pPr indent="0" marL="0">
              <a:buNone/>
            </a:pPr>
            <a:r>
              <a:rPr lang="en-US" sz="1150" b="1" dirty="0">
                <a:solidFill>
                  <a:srgbClr val="03234B"/>
                </a:solidFill>
                <a:latin typeface="Arial" pitchFamily="34" charset="0"/>
                <a:ea typeface="Arial" pitchFamily="34" charset="-122"/>
                <a:cs typeface="Arial" pitchFamily="34" charset="-120"/>
              </a:rPr>
              <a:t>Where it fits</a:t>
            </a:r>
            <a:endParaRPr lang="en-US" sz="1150" dirty="0"/>
          </a:p>
        </p:txBody>
      </p:sp>
      <p:sp>
        <p:nvSpPr>
          <p:cNvPr id="15" name="Text 11"/>
          <p:cNvSpPr/>
          <p:nvPr/>
        </p:nvSpPr>
        <p:spPr>
          <a:xfrm>
            <a:off x="6190488" y="4169664"/>
            <a:ext cx="2478024" cy="559599"/>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LED drivers, LCD TV, AIO PC, server and telecom front ends, USB-PD — anywhere a few % of 100/120 Hz ripple is fine.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Why unity power factor forces a ripple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The mains delivers 2P sin²θ — the load wants a constant P</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1_power_balance.png"/>
          <p:cNvPicPr>
            <a:picLocks noChangeAspect="1"/>
          </p:cNvPicPr>
          <p:nvPr/>
        </p:nvPicPr>
        <p:blipFill>
          <a:blip r:embed="rId6"/>
          <a:stretch>
            <a:fillRect/>
          </a:stretch>
        </p:blipFill>
        <p:spPr>
          <a:xfrm>
            <a:off x="320040" y="1249382"/>
            <a:ext cx="5532120" cy="3042498"/>
          </a:xfrm>
          <a:prstGeom prst="rect">
            <a:avLst/>
          </a:prstGeom>
        </p:spPr>
      </p:pic>
      <p:sp>
        <p:nvSpPr>
          <p:cNvPr id="7" name="Rounded Rectangle 6"/>
          <p:cNvSpPr/>
          <p:nvPr/>
        </p:nvSpPr>
        <p:spPr>
          <a:xfrm>
            <a:off x="6035040" y="1115568"/>
            <a:ext cx="2788920" cy="1517904"/>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E6007E"/>
                </a:solidFill>
                <a:latin typeface="Arial"/>
              </a:rPr>
              <a:t>Where does the difference go?</a:t>
            </a:r>
          </a:p>
          <a:p>
            <a:pPr>
              <a:spcBef>
                <a:spcPts val="300"/>
              </a:spcBef>
            </a:pPr>
            <a:r>
              <a:rPr sz="1000">
                <a:solidFill>
                  <a:srgbClr val="03234B"/>
                </a:solidFill>
                <a:latin typeface="Arial"/>
              </a:rPr>
              <a:t>In a two-stage supply the 400 V</a:t>
            </a:r>
          </a:p>
          <a:p>
            <a:pPr>
              <a:spcBef>
                <a:spcPts val="300"/>
              </a:spcBef>
            </a:pPr>
            <a:r>
              <a:rPr sz="1000">
                <a:solidFill>
                  <a:srgbClr val="03234B"/>
                </a:solidFill>
                <a:latin typeface="Arial"/>
              </a:rPr>
              <a:t>bulk capacitor stores it.</a:t>
            </a:r>
          </a:p>
          <a:p>
            <a:pPr>
              <a:spcBef>
                <a:spcPts val="300"/>
              </a:spcBef>
            </a:pPr>
            <a:r>
              <a:rPr sz="1000">
                <a:solidFill>
                  <a:srgbClr val="03234B"/>
                </a:solidFill>
                <a:latin typeface="Arial"/>
              </a:rPr>
              <a:t>In a single stage there is no bulk</a:t>
            </a:r>
          </a:p>
          <a:p>
            <a:pPr>
              <a:spcBef>
                <a:spcPts val="300"/>
              </a:spcBef>
            </a:pPr>
            <a:r>
              <a:rPr sz="1000">
                <a:solidFill>
                  <a:srgbClr val="03234B"/>
                </a:solidFill>
                <a:latin typeface="Arial"/>
              </a:rPr>
              <a:t>capacitor — so the OUTPUT</a:t>
            </a:r>
          </a:p>
          <a:p>
            <a:pPr>
              <a:spcBef>
                <a:spcPts val="300"/>
              </a:spcBef>
            </a:pPr>
            <a:r>
              <a:rPr sz="1000">
                <a:solidFill>
                  <a:srgbClr val="03234B"/>
                </a:solidFill>
                <a:latin typeface="Arial"/>
              </a:rPr>
              <a:t>capacitor does the job instead.</a:t>
            </a:r>
          </a:p>
        </p:txBody>
      </p:sp>
      <p:sp>
        <p:nvSpPr>
          <p:cNvPr id="8" name="Rounded Rectangle 7"/>
          <p:cNvSpPr/>
          <p:nvPr/>
        </p:nvSpPr>
        <p:spPr>
          <a:xfrm>
            <a:off x="6035040" y="2761488"/>
            <a:ext cx="2788920" cy="1664208"/>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What it costs</a:t>
            </a:r>
          </a:p>
          <a:p>
            <a:pPr>
              <a:spcBef>
                <a:spcPts val="300"/>
              </a:spcBef>
            </a:pPr>
            <a:r>
              <a:rPr sz="1000">
                <a:solidFill>
                  <a:srgbClr val="03234B"/>
                </a:solidFill>
                <a:latin typeface="Arial"/>
              </a:rPr>
              <a:t>The energy moved from 400 V to</a:t>
            </a:r>
          </a:p>
          <a:p>
            <a:pPr>
              <a:spcBef>
                <a:spcPts val="300"/>
              </a:spcBef>
            </a:pPr>
            <a:r>
              <a:rPr sz="1000">
                <a:solidFill>
                  <a:srgbClr val="03234B"/>
                </a:solidFill>
                <a:latin typeface="Arial"/>
              </a:rPr>
              <a:t>25 V, and energy goes as C·V² —</a:t>
            </a:r>
          </a:p>
          <a:p>
            <a:pPr>
              <a:spcBef>
                <a:spcPts val="300"/>
              </a:spcBef>
            </a:pPr>
            <a:r>
              <a:rPr sz="1000">
                <a:solidFill>
                  <a:srgbClr val="03234B"/>
                </a:solidFill>
                <a:latin typeface="Arial"/>
              </a:rPr>
              <a:t>so the bank is 75 mF.</a:t>
            </a:r>
          </a:p>
          <a:p>
            <a:pPr>
              <a:spcBef>
                <a:spcPts val="300"/>
              </a:spcBef>
            </a:pPr>
            <a:r>
              <a:rPr sz="1000">
                <a:solidFill>
                  <a:srgbClr val="03234B"/>
                </a:solidFill>
                <a:latin typeface="Arial"/>
              </a:rPr>
              <a:t/>
            </a:r>
          </a:p>
          <a:p>
            <a:pPr>
              <a:spcBef>
                <a:spcPts val="300"/>
              </a:spcBef>
            </a:pPr>
            <a:r>
              <a:rPr sz="1000">
                <a:solidFill>
                  <a:srgbClr val="03234B"/>
                </a:solidFill>
                <a:latin typeface="Arial"/>
              </a:rPr>
              <a:t>Everything is sized at 2·P, not P:</a:t>
            </a:r>
          </a:p>
          <a:p>
            <a:pPr>
              <a:spcBef>
                <a:spcPts val="300"/>
              </a:spcBef>
            </a:pPr>
            <a:r>
              <a:rPr sz="1000">
                <a:solidFill>
                  <a:srgbClr val="03234B"/>
                </a:solidFill>
                <a:latin typeface="Arial"/>
              </a:rPr>
              <a:t>peak power 2P, peak current 2I.</a:t>
            </a:r>
          </a:p>
        </p:txBody>
      </p:sp>
      <p:sp>
        <p:nvSpPr>
          <p:cNvPr id="9" name="TextBox 8"/>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 — 25 V / 657.5 W design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Gain is no longer a control variable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Both ports are voltage sources — so the gain is FORCED from outside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Text 3"/>
          <p:cNvSpPr/>
          <p:nvPr/>
        </p:nvSpPr>
        <p:spPr>
          <a:xfrm>
            <a:off x="365760" y="1143000"/>
            <a:ext cx="8412480" cy="343074"/>
          </a:xfrm>
          <a:prstGeom prst="rect">
            <a:avLst/>
          </a:prstGeom>
          <a:noFill/>
          <a:ln/>
        </p:spPr>
        <p:txBody>
          <a:bodyPr wrap="square" lIns="0" tIns="0" rIns="0" bIns="0" rtlCol="0" anchor="ctr"/>
          <a:lstStyle/>
          <a:p>
            <a:pPr indent="0" marL="0">
              <a:buNone/>
            </a:pPr>
            <a:r>
              <a:rPr lang="en-US" sz="1200" dirty="0">
                <a:solidFill>
                  <a:srgbClr val="03234B"/>
                </a:solidFill>
                <a:latin typeface="Arial" pitchFamily="34" charset="0"/>
                <a:ea typeface="Arial" pitchFamily="34" charset="-122"/>
                <a:cs typeface="Arial" pitchFamily="34" charset="-120"/>
              </a:rPr>
              <a:t>In a classic LLC you change the frequency to change the gain, and the gain sets Vₒᵤₜ. Here that reasoning breaks:</a:t>
            </a:r>
            <a:endParaRPr lang="en-US" sz="1200" dirty="0"/>
          </a:p>
        </p:txBody>
      </p:sp>
      <p:sp>
        <p:nvSpPr>
          <p:cNvPr id="7" name="Shape 4"/>
          <p:cNvSpPr/>
          <p:nvPr/>
        </p:nvSpPr>
        <p:spPr>
          <a:xfrm>
            <a:off x="365760" y="1527048"/>
            <a:ext cx="4114800" cy="868680"/>
          </a:xfrm>
          <a:prstGeom prst="roundRect">
            <a:avLst>
              <a:gd name="adj" fmla="val 5263"/>
            </a:avLst>
          </a:prstGeom>
          <a:solidFill>
            <a:srgbClr val="F5F7FA"/>
          </a:solidFill>
          <a:ln w="12700">
            <a:solidFill>
              <a:srgbClr val="3CB4E6"/>
            </a:solidFill>
            <a:prstDash val="solid"/>
          </a:ln>
        </p:spPr>
        <p:txBody>
          <a:bodyPr/>
          <a:p/>
        </p:txBody>
      </p:sp>
      <p:sp>
        <p:nvSpPr>
          <p:cNvPr id="8" name="Text 5"/>
          <p:cNvSpPr/>
          <p:nvPr/>
        </p:nvSpPr>
        <p:spPr>
          <a:xfrm>
            <a:off x="475488" y="1609344"/>
            <a:ext cx="38953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The output is a voltage source</a:t>
            </a:r>
            <a:endParaRPr lang="en-US" sz="1150" dirty="0"/>
          </a:p>
        </p:txBody>
      </p:sp>
      <p:sp>
        <p:nvSpPr>
          <p:cNvPr id="9" name="Text 6"/>
          <p:cNvSpPr/>
          <p:nvPr/>
        </p:nvSpPr>
        <p:spPr>
          <a:xfrm>
            <a:off x="475488" y="1911096"/>
            <a:ext cx="3895344" cy="39319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Cₒᵤₜ is in the millifarad range, so Vₒᵤₜ simply cannot move inside one 10 ms line half cycle.</a:t>
            </a:r>
            <a:endParaRPr lang="en-US" sz="1000" dirty="0"/>
          </a:p>
        </p:txBody>
      </p:sp>
      <p:sp>
        <p:nvSpPr>
          <p:cNvPr id="10" name="Shape 7"/>
          <p:cNvSpPr/>
          <p:nvPr/>
        </p:nvSpPr>
        <p:spPr>
          <a:xfrm>
            <a:off x="4663440" y="1527048"/>
            <a:ext cx="4114800" cy="868680"/>
          </a:xfrm>
          <a:prstGeom prst="roundRect">
            <a:avLst>
              <a:gd name="adj" fmla="val 5263"/>
            </a:avLst>
          </a:prstGeom>
          <a:solidFill>
            <a:srgbClr val="F5F7FA"/>
          </a:solidFill>
          <a:ln w="12700">
            <a:solidFill>
              <a:srgbClr val="3CB4E6"/>
            </a:solidFill>
            <a:prstDash val="solid"/>
          </a:ln>
        </p:spPr>
        <p:txBody>
          <a:bodyPr/>
          <a:p/>
        </p:txBody>
      </p:sp>
      <p:sp>
        <p:nvSpPr>
          <p:cNvPr id="11" name="Text 8"/>
          <p:cNvSpPr/>
          <p:nvPr/>
        </p:nvSpPr>
        <p:spPr>
          <a:xfrm>
            <a:off x="4773168" y="1609344"/>
            <a:ext cx="38953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The input is a voltage source too</a:t>
            </a:r>
            <a:endParaRPr lang="en-US" sz="1150" dirty="0"/>
          </a:p>
        </p:txBody>
      </p:sp>
      <p:sp>
        <p:nvSpPr>
          <p:cNvPr id="12" name="Text 9"/>
          <p:cNvSpPr/>
          <p:nvPr/>
        </p:nvSpPr>
        <p:spPr>
          <a:xfrm>
            <a:off x="4773168" y="1911096"/>
            <a:ext cx="3895344" cy="39319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There is no bulk capacitor, so the bus IS the rectified mains, |v_ac(θ)| — a sine, every cycle.</a:t>
            </a:r>
            <a:endParaRPr lang="en-US" sz="1000" dirty="0"/>
          </a:p>
        </p:txBody>
      </p:sp>
      <p:sp>
        <p:nvSpPr>
          <p:cNvPr id="13" name="Shape 10"/>
          <p:cNvSpPr/>
          <p:nvPr/>
        </p:nvSpPr>
        <p:spPr>
          <a:xfrm>
            <a:off x="2101551" y="2551176"/>
            <a:ext cx="4940898" cy="588706"/>
          </a:xfrm>
          <a:prstGeom prst="roundRect">
            <a:avLst>
              <a:gd name="adj" fmla="val 6213"/>
            </a:avLst>
          </a:prstGeom>
          <a:solidFill>
            <a:srgbClr val="F2F5F9"/>
          </a:solidFill>
          <a:ln w="9525">
            <a:solidFill>
              <a:srgbClr val="E8E8E9"/>
            </a:solidFill>
            <a:prstDash val="solid"/>
          </a:ln>
        </p:spPr>
        <p:txBody>
          <a:bodyPr/>
          <a:p/>
        </p:txBody>
      </p:sp>
      <p:pic>
        <p:nvPicPr>
          <p:cNvPr id="14" name="Image 1" descr="eq/gain_forced.png">    </p:cNvPr>
          <p:cNvPicPr>
            <a:picLocks noChangeAspect="1"/>
          </p:cNvPicPr>
          <p:nvPr/>
        </p:nvPicPr>
        <p:blipFill>
          <a:blip r:embed="rId2"/>
          <a:stretch>
            <a:fillRect/>
          </a:stretch>
        </p:blipFill>
        <p:spPr>
          <a:xfrm>
            <a:off x="2202135" y="2651760"/>
            <a:ext cx="4739730" cy="387538"/>
          </a:xfrm>
          <a:prstGeom prst="rect">
            <a:avLst/>
          </a:prstGeom>
        </p:spPr>
      </p:pic>
      <p:sp>
        <p:nvSpPr>
          <p:cNvPr id="15" name="Text 11"/>
          <p:cNvSpPr/>
          <p:nvPr/>
        </p:nvSpPr>
        <p:spPr>
          <a:xfrm>
            <a:off x="365760" y="3341050"/>
            <a:ext cx="8412480" cy="640080"/>
          </a:xfrm>
          <a:prstGeom prst="rect">
            <a:avLst/>
          </a:prstGeom>
          <a:noFill/>
          <a:ln/>
        </p:spPr>
        <p:txBody>
          <a:bodyPr wrap="square" lIns="0" tIns="0" rIns="0" bIns="0" rtlCol="0" anchor="ctr"/>
          <a:lstStyle/>
          <a:p>
            <a:pPr indent="0" marL="0">
              <a:buNone/>
            </a:pPr>
            <a:r>
              <a:rPr lang="en-US" sz="1250" b="1" dirty="0">
                <a:solidFill>
                  <a:srgbClr val="E6007E"/>
                </a:solidFill>
                <a:latin typeface="Arial" pitchFamily="34" charset="0"/>
                <a:ea typeface="Arial" pitchFamily="34" charset="-122"/>
                <a:cs typeface="Arial" pitchFamily="34" charset="-120"/>
              </a:rPr>
              <a:t>M is already decided at every instant. Feed it back into the FHA gain equation and solve — what the frequency actually sets is Q, and Q is the load. In other words: THE FREQUENCY SETS POWER, NOT VOLTAGE.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Frequency modulation IS the power factor correction</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Follow 2P sin²θ and the input current becomes a sine in phase with the voltage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4_fsw_theta.png"/>
          <p:cNvPicPr>
            <a:picLocks noChangeAspect="1"/>
          </p:cNvPicPr>
          <p:nvPr/>
        </p:nvPicPr>
        <p:blipFill>
          <a:blip r:embed="rId8"/>
          <a:stretch>
            <a:fillRect/>
          </a:stretch>
        </p:blipFill>
        <p:spPr>
          <a:xfrm>
            <a:off x="320040" y="1125124"/>
            <a:ext cx="5806440" cy="3291014"/>
          </a:xfrm>
          <a:prstGeom prst="rect">
            <a:avLst/>
          </a:prstGeom>
        </p:spPr>
      </p:pic>
      <p:sp>
        <p:nvSpPr>
          <p:cNvPr id="7" name="Rounded Rectangle 6"/>
          <p:cNvSpPr/>
          <p:nvPr/>
        </p:nvSpPr>
        <p:spPr>
          <a:xfrm>
            <a:off x="6263640" y="1097280"/>
            <a:ext cx="2606040" cy="1755648"/>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How to read it</a:t>
            </a:r>
          </a:p>
          <a:p>
            <a:pPr>
              <a:spcBef>
                <a:spcPts val="300"/>
              </a:spcBef>
            </a:pPr>
            <a:r>
              <a:rPr sz="1000">
                <a:solidFill>
                  <a:srgbClr val="03234B"/>
                </a:solidFill>
                <a:latin typeface="Arial"/>
              </a:rPr>
              <a:t>One curve per equivalent input</a:t>
            </a:r>
          </a:p>
          <a:p>
            <a:pPr>
              <a:spcBef>
                <a:spcPts val="300"/>
              </a:spcBef>
            </a:pPr>
            <a:r>
              <a:rPr sz="1000">
                <a:solidFill>
                  <a:srgbClr val="03234B"/>
                </a:solidFill>
                <a:latin typeface="Arial"/>
              </a:rPr>
              <a:t>voltage, over one line half cycle.</a:t>
            </a:r>
          </a:p>
          <a:p>
            <a:pPr>
              <a:spcBef>
                <a:spcPts val="300"/>
              </a:spcBef>
            </a:pPr>
            <a:r>
              <a:rPr sz="1000">
                <a:solidFill>
                  <a:srgbClr val="03234B"/>
                </a:solidFill>
                <a:latin typeface="Arial"/>
              </a:rPr>
              <a:t/>
            </a:r>
          </a:p>
          <a:p>
            <a:pPr>
              <a:spcBef>
                <a:spcPts val="300"/>
              </a:spcBef>
            </a:pPr>
            <a:r>
              <a:rPr sz="1000">
                <a:solidFill>
                  <a:srgbClr val="03234B"/>
                </a:solidFill>
                <a:latin typeface="Arial"/>
              </a:rPr>
              <a:t>At each phase θ the gain M and</a:t>
            </a:r>
          </a:p>
          <a:p>
            <a:pPr>
              <a:spcBef>
                <a:spcPts val="300"/>
              </a:spcBef>
            </a:pPr>
            <a:r>
              <a:rPr sz="1000">
                <a:solidFill>
                  <a:srgbClr val="03234B"/>
                </a:solidFill>
                <a:latin typeface="Arial"/>
              </a:rPr>
              <a:t>the load Q are both known, so</a:t>
            </a:r>
          </a:p>
          <a:p>
            <a:pPr>
              <a:spcBef>
                <a:spcPts val="300"/>
              </a:spcBef>
            </a:pPr>
            <a:r>
              <a:rPr sz="1000">
                <a:solidFill>
                  <a:srgbClr val="03234B"/>
                </a:solidFill>
                <a:latin typeface="Arial"/>
              </a:rPr>
              <a:t>f_sw follows from the tank.</a:t>
            </a:r>
          </a:p>
        </p:txBody>
      </p:sp>
      <p:sp>
        <p:nvSpPr>
          <p:cNvPr id="8" name="Rounded Rectangle 7"/>
          <p:cNvSpPr/>
          <p:nvPr/>
        </p:nvSpPr>
        <p:spPr>
          <a:xfrm>
            <a:off x="6263640" y="2980944"/>
            <a:ext cx="2606040" cy="1463040"/>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E6007E"/>
                </a:solidFill>
                <a:latin typeface="Arial"/>
              </a:rPr>
              <a:t>The point</a:t>
            </a:r>
          </a:p>
          <a:p>
            <a:pPr>
              <a:spcBef>
                <a:spcPts val="300"/>
              </a:spcBef>
            </a:pPr>
            <a:r>
              <a:rPr sz="1000">
                <a:solidFill>
                  <a:srgbClr val="03234B"/>
                </a:solidFill>
                <a:latin typeface="Arial"/>
              </a:rPr>
              <a:t>The highest curve is the FB</a:t>
            </a:r>
          </a:p>
          <a:p>
            <a:pPr>
              <a:spcBef>
                <a:spcPts val="300"/>
              </a:spcBef>
            </a:pPr>
            <a:r>
              <a:rPr sz="1000">
                <a:solidFill>
                  <a:srgbClr val="03234B"/>
                </a:solidFill>
                <a:latin typeface="Arial"/>
              </a:rPr>
              <a:t>morphing edge — NOT the</a:t>
            </a:r>
          </a:p>
          <a:p>
            <a:pPr>
              <a:spcBef>
                <a:spcPts val="300"/>
              </a:spcBef>
            </a:pPr>
            <a:r>
              <a:rPr sz="1000">
                <a:solidFill>
                  <a:srgbClr val="03234B"/>
                </a:solidFill>
                <a:latin typeface="Arial"/>
              </a:rPr>
              <a:t>maximum mains.</a:t>
            </a:r>
          </a:p>
          <a:p>
            <a:pPr>
              <a:spcBef>
                <a:spcPts val="300"/>
              </a:spcBef>
            </a:pPr>
            <a:r>
              <a:rPr sz="1000">
                <a:solidFill>
                  <a:srgbClr val="03234B"/>
                </a:solidFill>
                <a:latin typeface="Arial"/>
              </a:rPr>
              <a:t/>
            </a:r>
          </a:p>
          <a:p>
            <a:pPr>
              <a:spcBef>
                <a:spcPts val="300"/>
              </a:spcBef>
            </a:pPr>
            <a:r>
              <a:rPr sz="1000">
                <a:solidFill>
                  <a:srgbClr val="03234B"/>
                </a:solidFill>
                <a:latin typeface="Arial"/>
              </a:rPr>
              <a:t>Miss morphing and you never</a:t>
            </a:r>
          </a:p>
          <a:p>
            <a:pPr>
              <a:spcBef>
                <a:spcPts val="300"/>
              </a:spcBef>
            </a:pPr>
            <a:r>
              <a:rPr sz="1000">
                <a:solidFill>
                  <a:srgbClr val="03234B"/>
                </a:solidFill>
                <a:latin typeface="Arial"/>
              </a:rPr>
              <a:t>plot it.</a:t>
            </a:r>
          </a:p>
        </p:txBody>
      </p:sp>
      <p:sp>
        <p:nvSpPr>
          <p:cNvPr id="9" name="TextBox 8"/>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How does an LLC do power factor correction at all?</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Six steps. Follow them once and the whole topology falls out.</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84048" y="1152144"/>
            <a:ext cx="329184" cy="329184"/>
          </a:xfrm>
          <a:prstGeom prst="roundRect">
            <a:avLst>
              <a:gd name="adj" fmla="val 22222"/>
            </a:avLst>
          </a:prstGeom>
          <a:solidFill>
            <a:srgbClr val="03234B"/>
          </a:solidFill>
          <a:ln/>
        </p:spPr>
        <p:txBody>
          <a:bodyPr/>
          <a:p/>
        </p:txBody>
      </p:sp>
      <p:sp>
        <p:nvSpPr>
          <p:cNvPr id="7" name="Text 4"/>
          <p:cNvSpPr/>
          <p:nvPr/>
        </p:nvSpPr>
        <p:spPr>
          <a:xfrm>
            <a:off x="384048" y="11521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p:nvPr/>
        </p:nvSpPr>
        <p:spPr>
          <a:xfrm>
            <a:off x="841248" y="1133856"/>
            <a:ext cx="2148840" cy="384048"/>
          </a:xfrm>
          <a:prstGeom prst="rect">
            <a:avLst/>
          </a:prstGeom>
          <a:noFill/>
          <a:ln/>
        </p:spPr>
        <p:txBody>
          <a:bodyPr wrap="square" lIns="0" tIns="0" rIns="0" bIns="0" rtlCol="0" anchor="ctr"/>
          <a:lstStyle/>
          <a:p>
            <a:pPr indent="0" marL="0">
              <a:buNone/>
            </a:pPr>
            <a:r>
              <a:rPr lang="en-US" sz="1100" b="1" dirty="0">
                <a:solidFill>
                  <a:srgbClr val="03234B"/>
                </a:solidFill>
                <a:latin typeface="Arial" pitchFamily="34" charset="0"/>
                <a:ea typeface="Arial" pitchFamily="34" charset="-122"/>
                <a:cs typeface="Arial" pitchFamily="34" charset="-120"/>
              </a:rPr>
              <a:t>What PFC actually demands</a:t>
            </a:r>
            <a:endParaRPr lang="en-US" sz="1100" dirty="0"/>
          </a:p>
        </p:txBody>
      </p:sp>
      <p:sp>
        <p:nvSpPr>
          <p:cNvPr id="9" name="Text 6"/>
          <p:cNvSpPr/>
          <p:nvPr/>
        </p:nvSpPr>
        <p:spPr>
          <a:xfrm>
            <a:off x="3063240" y="1097280"/>
            <a:ext cx="5715000" cy="566928"/>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Nothing about voltage. It says the INPUT CURRENT must be a sine in phase with the mains. Multiply the two and you get the instantaneous power the converter must draw: p(θ) = 2P sin²θ.</a:t>
            </a:r>
            <a:endParaRPr lang="en-US" sz="950" dirty="0"/>
          </a:p>
        </p:txBody>
      </p:sp>
      <p:sp>
        <p:nvSpPr>
          <p:cNvPr id="10" name="Shape 7"/>
          <p:cNvSpPr/>
          <p:nvPr/>
        </p:nvSpPr>
        <p:spPr>
          <a:xfrm>
            <a:off x="384048" y="1773936"/>
            <a:ext cx="329184" cy="329184"/>
          </a:xfrm>
          <a:prstGeom prst="roundRect">
            <a:avLst>
              <a:gd name="adj" fmla="val 22222"/>
            </a:avLst>
          </a:prstGeom>
          <a:solidFill>
            <a:srgbClr val="03234B"/>
          </a:solidFill>
          <a:ln/>
        </p:spPr>
        <p:txBody>
          <a:bodyPr/>
          <a:p/>
        </p:txBody>
      </p:sp>
      <p:sp>
        <p:nvSpPr>
          <p:cNvPr id="11" name="Text 8"/>
          <p:cNvSpPr/>
          <p:nvPr/>
        </p:nvSpPr>
        <p:spPr>
          <a:xfrm>
            <a:off x="384048" y="17739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9"/>
          <p:cNvSpPr/>
          <p:nvPr/>
        </p:nvSpPr>
        <p:spPr>
          <a:xfrm>
            <a:off x="841248" y="1755648"/>
            <a:ext cx="2148840" cy="384048"/>
          </a:xfrm>
          <a:prstGeom prst="rect">
            <a:avLst/>
          </a:prstGeom>
          <a:noFill/>
          <a:ln/>
        </p:spPr>
        <p:txBody>
          <a:bodyPr wrap="square" lIns="0" tIns="0" rIns="0" bIns="0" rtlCol="0" anchor="ctr"/>
          <a:lstStyle/>
          <a:p>
            <a:pPr indent="0" marL="0">
              <a:buNone/>
            </a:pPr>
            <a:r>
              <a:rPr lang="en-US" sz="1100" b="1" dirty="0">
                <a:solidFill>
                  <a:srgbClr val="03234B"/>
                </a:solidFill>
                <a:latin typeface="Arial" pitchFamily="34" charset="0"/>
                <a:ea typeface="Arial" pitchFamily="34" charset="-122"/>
                <a:cs typeface="Arial" pitchFamily="34" charset="-120"/>
              </a:rPr>
              <a:t>What the LLC can control</a:t>
            </a:r>
            <a:endParaRPr lang="en-US" sz="1100" dirty="0"/>
          </a:p>
        </p:txBody>
      </p:sp>
      <p:sp>
        <p:nvSpPr>
          <p:cNvPr id="13" name="Text 10"/>
          <p:cNvSpPr/>
          <p:nvPr/>
        </p:nvSpPr>
        <p:spPr>
          <a:xfrm>
            <a:off x="3063240" y="1719072"/>
            <a:ext cx="5715000" cy="566928"/>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Only frequency. The bridge is a fixed 50 % square wave; its height is the mains, which you cannot touch. So frequency is the one and only actuator.</a:t>
            </a:r>
            <a:endParaRPr lang="en-US" sz="950" dirty="0"/>
          </a:p>
        </p:txBody>
      </p:sp>
      <p:sp>
        <p:nvSpPr>
          <p:cNvPr id="14" name="Shape 11"/>
          <p:cNvSpPr/>
          <p:nvPr/>
        </p:nvSpPr>
        <p:spPr>
          <a:xfrm>
            <a:off x="384048" y="2395728"/>
            <a:ext cx="329184" cy="329184"/>
          </a:xfrm>
          <a:prstGeom prst="roundRect">
            <a:avLst>
              <a:gd name="adj" fmla="val 22222"/>
            </a:avLst>
          </a:prstGeom>
          <a:solidFill>
            <a:srgbClr val="03234B"/>
          </a:solidFill>
          <a:ln/>
        </p:spPr>
        <p:txBody>
          <a:bodyPr/>
          <a:p/>
        </p:txBody>
      </p:sp>
      <p:sp>
        <p:nvSpPr>
          <p:cNvPr id="15" name="Text 12"/>
          <p:cNvSpPr/>
          <p:nvPr/>
        </p:nvSpPr>
        <p:spPr>
          <a:xfrm>
            <a:off x="384048" y="23957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3"/>
          <p:cNvSpPr/>
          <p:nvPr/>
        </p:nvSpPr>
        <p:spPr>
          <a:xfrm>
            <a:off x="841248" y="2377440"/>
            <a:ext cx="2148840" cy="384048"/>
          </a:xfrm>
          <a:prstGeom prst="rect">
            <a:avLst/>
          </a:prstGeom>
          <a:noFill/>
          <a:ln/>
        </p:spPr>
        <p:txBody>
          <a:bodyPr wrap="square" lIns="0" tIns="0" rIns="0" bIns="0" rtlCol="0" anchor="ctr"/>
          <a:lstStyle/>
          <a:p>
            <a:pPr indent="0" marL="0">
              <a:buNone/>
            </a:pPr>
            <a:r>
              <a:rPr lang="en-US" sz="1100" b="1" dirty="0">
                <a:solidFill>
                  <a:srgbClr val="03234B"/>
                </a:solidFill>
                <a:latin typeface="Arial" pitchFamily="34" charset="0"/>
                <a:ea typeface="Arial" pitchFamily="34" charset="-122"/>
                <a:cs typeface="Arial" pitchFamily="34" charset="-120"/>
              </a:rPr>
              <a:t>What frequency normally does</a:t>
            </a:r>
            <a:endParaRPr lang="en-US" sz="1100" dirty="0"/>
          </a:p>
        </p:txBody>
      </p:sp>
      <p:sp>
        <p:nvSpPr>
          <p:cNvPr id="17" name="Text 14"/>
          <p:cNvSpPr/>
          <p:nvPr/>
        </p:nvSpPr>
        <p:spPr>
          <a:xfrm>
            <a:off x="3063240" y="2340864"/>
            <a:ext cx="5715000" cy="566928"/>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In a classic LLC it changes the GAIN, and the gain sets Vₒᵤₜ. That path is closed here, because both ends of the converter are already voltage sources.</a:t>
            </a:r>
            <a:endParaRPr lang="en-US" sz="950" dirty="0"/>
          </a:p>
        </p:txBody>
      </p:sp>
      <p:sp>
        <p:nvSpPr>
          <p:cNvPr id="18" name="Shape 15"/>
          <p:cNvSpPr/>
          <p:nvPr/>
        </p:nvSpPr>
        <p:spPr>
          <a:xfrm>
            <a:off x="384048" y="3017520"/>
            <a:ext cx="329184" cy="329184"/>
          </a:xfrm>
          <a:prstGeom prst="roundRect">
            <a:avLst>
              <a:gd name="adj" fmla="val 22222"/>
            </a:avLst>
          </a:prstGeom>
          <a:solidFill>
            <a:srgbClr val="03234B"/>
          </a:solidFill>
          <a:ln/>
        </p:spPr>
        <p:txBody>
          <a:bodyPr/>
          <a:p/>
        </p:txBody>
      </p:sp>
      <p:sp>
        <p:nvSpPr>
          <p:cNvPr id="19" name="Text 16"/>
          <p:cNvSpPr/>
          <p:nvPr/>
        </p:nvSpPr>
        <p:spPr>
          <a:xfrm>
            <a:off x="384048" y="30175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0" name="Text 17"/>
          <p:cNvSpPr/>
          <p:nvPr/>
        </p:nvSpPr>
        <p:spPr>
          <a:xfrm>
            <a:off x="841248" y="2999232"/>
            <a:ext cx="2148840" cy="384048"/>
          </a:xfrm>
          <a:prstGeom prst="rect">
            <a:avLst/>
          </a:prstGeom>
          <a:noFill/>
          <a:ln/>
        </p:spPr>
        <p:txBody>
          <a:bodyPr wrap="square" lIns="0" tIns="0" rIns="0" bIns="0" rtlCol="0" anchor="ctr"/>
          <a:lstStyle/>
          <a:p>
            <a:pPr indent="0" marL="0">
              <a:buNone/>
            </a:pPr>
            <a:r>
              <a:rPr lang="en-US" sz="1100" b="1" dirty="0">
                <a:solidFill>
                  <a:srgbClr val="03234B"/>
                </a:solidFill>
                <a:latin typeface="Arial" pitchFamily="34" charset="0"/>
                <a:ea typeface="Arial" pitchFamily="34" charset="-122"/>
                <a:cs typeface="Arial" pitchFamily="34" charset="-120"/>
              </a:rPr>
              <a:t>So the gain is forced</a:t>
            </a:r>
            <a:endParaRPr lang="en-US" sz="1100" dirty="0"/>
          </a:p>
        </p:txBody>
      </p:sp>
      <p:sp>
        <p:nvSpPr>
          <p:cNvPr id="21" name="Text 18"/>
          <p:cNvSpPr/>
          <p:nvPr/>
        </p:nvSpPr>
        <p:spPr>
          <a:xfrm>
            <a:off x="3063240" y="2962656"/>
            <a:ext cx="5715000" cy="566928"/>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Cₒᵤₜ is millifarads → Vₒᵤₜ cannot move within a line half cycle. No bulk capacitor → the bus IS |v_ac(θ)|. Both ends fixed ⇒ M(θ) is fixed, instant by instant.</a:t>
            </a:r>
            <a:endParaRPr lang="en-US" sz="950" dirty="0"/>
          </a:p>
        </p:txBody>
      </p:sp>
      <p:sp>
        <p:nvSpPr>
          <p:cNvPr id="22" name="Shape 19"/>
          <p:cNvSpPr/>
          <p:nvPr/>
        </p:nvSpPr>
        <p:spPr>
          <a:xfrm>
            <a:off x="384048" y="3639312"/>
            <a:ext cx="329184" cy="329184"/>
          </a:xfrm>
          <a:prstGeom prst="roundRect">
            <a:avLst>
              <a:gd name="adj" fmla="val 22222"/>
            </a:avLst>
          </a:prstGeom>
          <a:solidFill>
            <a:srgbClr val="E6007E"/>
          </a:solidFill>
          <a:ln/>
        </p:spPr>
        <p:txBody>
          <a:bodyPr/>
          <a:p/>
        </p:txBody>
      </p:sp>
      <p:sp>
        <p:nvSpPr>
          <p:cNvPr id="23" name="Text 20"/>
          <p:cNvSpPr/>
          <p:nvPr/>
        </p:nvSpPr>
        <p:spPr>
          <a:xfrm>
            <a:off x="384048" y="36393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4" name="Text 21"/>
          <p:cNvSpPr/>
          <p:nvPr/>
        </p:nvSpPr>
        <p:spPr>
          <a:xfrm>
            <a:off x="841248" y="3621024"/>
            <a:ext cx="2148840" cy="384048"/>
          </a:xfrm>
          <a:prstGeom prst="rect">
            <a:avLst/>
          </a:prstGeom>
          <a:noFill/>
          <a:ln/>
        </p:spPr>
        <p:txBody>
          <a:bodyPr wrap="square" lIns="0" tIns="0" rIns="0" bIns="0" rtlCol="0" anchor="ctr"/>
          <a:lstStyle/>
          <a:p>
            <a:pPr indent="0" marL="0">
              <a:buNone/>
            </a:pPr>
            <a:r>
              <a:rPr lang="en-US" sz="1100" b="1" dirty="0">
                <a:solidFill>
                  <a:srgbClr val="03234B"/>
                </a:solidFill>
                <a:latin typeface="Arial" pitchFamily="34" charset="0"/>
                <a:ea typeface="Arial" pitchFamily="34" charset="-122"/>
                <a:cs typeface="Arial" pitchFamily="34" charset="-120"/>
              </a:rPr>
              <a:t>Which leaves Q</a:t>
            </a:r>
            <a:endParaRPr lang="en-US" sz="1100" dirty="0"/>
          </a:p>
        </p:txBody>
      </p:sp>
      <p:sp>
        <p:nvSpPr>
          <p:cNvPr id="25" name="Text 22"/>
          <p:cNvSpPr/>
          <p:nvPr/>
        </p:nvSpPr>
        <p:spPr>
          <a:xfrm>
            <a:off x="3063240" y="3584448"/>
            <a:ext cx="5715000" cy="566928"/>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Put the forced M(θ) back into the gain equation and solve for fₙ. The only free variable left in that equation is Q — and Q is the load, i.e. the POWER.</a:t>
            </a:r>
            <a:endParaRPr lang="en-US" sz="950" dirty="0"/>
          </a:p>
        </p:txBody>
      </p:sp>
      <p:sp>
        <p:nvSpPr>
          <p:cNvPr id="26" name="Shape 23"/>
          <p:cNvSpPr/>
          <p:nvPr/>
        </p:nvSpPr>
        <p:spPr>
          <a:xfrm>
            <a:off x="384048" y="4261104"/>
            <a:ext cx="329184" cy="329184"/>
          </a:xfrm>
          <a:prstGeom prst="roundRect">
            <a:avLst>
              <a:gd name="adj" fmla="val 22222"/>
            </a:avLst>
          </a:prstGeom>
          <a:solidFill>
            <a:srgbClr val="E6007E"/>
          </a:solidFill>
          <a:ln/>
        </p:spPr>
        <p:txBody>
          <a:bodyPr/>
          <a:p/>
        </p:txBody>
      </p:sp>
      <p:sp>
        <p:nvSpPr>
          <p:cNvPr id="27" name="Text 24"/>
          <p:cNvSpPr/>
          <p:nvPr/>
        </p:nvSpPr>
        <p:spPr>
          <a:xfrm>
            <a:off x="384048" y="42611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8" name="Text 25"/>
          <p:cNvSpPr/>
          <p:nvPr/>
        </p:nvSpPr>
        <p:spPr>
          <a:xfrm>
            <a:off x="841248" y="4242816"/>
            <a:ext cx="2148840" cy="384048"/>
          </a:xfrm>
          <a:prstGeom prst="rect">
            <a:avLst/>
          </a:prstGeom>
          <a:noFill/>
          <a:ln/>
        </p:spPr>
        <p:txBody>
          <a:bodyPr wrap="square" lIns="0" tIns="0" rIns="0" bIns="0" rtlCol="0" anchor="ctr"/>
          <a:lstStyle/>
          <a:p>
            <a:pPr indent="0" marL="0">
              <a:buNone/>
            </a:pPr>
            <a:r>
              <a:rPr lang="en-US" sz="1100" b="1" dirty="0">
                <a:solidFill>
                  <a:srgbClr val="03234B"/>
                </a:solidFill>
                <a:latin typeface="Arial" pitchFamily="34" charset="0"/>
                <a:ea typeface="Arial" pitchFamily="34" charset="-122"/>
                <a:cs typeface="Arial" pitchFamily="34" charset="-120"/>
              </a:rPr>
              <a:t>Therefore frequency = power</a:t>
            </a:r>
            <a:endParaRPr lang="en-US" sz="1100" dirty="0"/>
          </a:p>
        </p:txBody>
      </p:sp>
      <p:sp>
        <p:nvSpPr>
          <p:cNvPr id="29" name="Text 26"/>
          <p:cNvSpPr/>
          <p:nvPr/>
        </p:nvSpPr>
        <p:spPr>
          <a:xfrm>
            <a:off x="3063240" y="4206240"/>
            <a:ext cx="5715000" cy="566928"/>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Sweep fsw over the line half cycle so that the delivered power follows 2P sin²θ, and the input current becomes the sine PFC asked for in step 1. That IS the power factor correction.</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1 · What unity power factor really asks for</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It is a statement about CURRENT, and it becomes a statement about POWER</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2196914" y="1133856"/>
            <a:ext cx="4750173" cy="523778"/>
          </a:xfrm>
          <a:prstGeom prst="roundRect">
            <a:avLst>
              <a:gd name="adj" fmla="val 6983"/>
            </a:avLst>
          </a:prstGeom>
          <a:solidFill>
            <a:srgbClr val="F2F5F9"/>
          </a:solidFill>
          <a:ln w="9525">
            <a:solidFill>
              <a:srgbClr val="E8E8E9"/>
            </a:solidFill>
            <a:prstDash val="solid"/>
          </a:ln>
        </p:spPr>
        <p:txBody>
          <a:bodyPr/>
          <a:p/>
        </p:txBody>
      </p:sp>
      <p:pic>
        <p:nvPicPr>
          <p:cNvPr id="7" name="Image 1" descr="eq/pfc_req.png">    </p:cNvPr>
          <p:cNvPicPr>
            <a:picLocks noChangeAspect="1"/>
          </p:cNvPicPr>
          <p:nvPr/>
        </p:nvPicPr>
        <p:blipFill>
          <a:blip r:embed="rId2"/>
          <a:stretch>
            <a:fillRect/>
          </a:stretch>
        </p:blipFill>
        <p:spPr>
          <a:xfrm>
            <a:off x="2297498" y="1234440"/>
            <a:ext cx="4549005" cy="322610"/>
          </a:xfrm>
          <a:prstGeom prst="rect">
            <a:avLst/>
          </a:prstGeom>
        </p:spPr>
      </p:pic>
      <p:pic>
        <p:nvPicPr>
          <p:cNvPr id="8" name="Image 2" descr="fig/c_energy.png">    </p:cNvPr>
          <p:cNvPicPr>
            <a:picLocks noChangeAspect="1"/>
          </p:cNvPicPr>
          <p:nvPr/>
        </p:nvPicPr>
        <p:blipFill>
          <a:blip r:embed="rId3"/>
          <a:stretch>
            <a:fillRect/>
          </a:stretch>
        </p:blipFill>
        <p:spPr>
          <a:xfrm>
            <a:off x="365760" y="1895821"/>
            <a:ext cx="4846320" cy="2266827"/>
          </a:xfrm>
          <a:prstGeom prst="rect">
            <a:avLst/>
          </a:prstGeom>
        </p:spPr>
      </p:pic>
      <p:sp>
        <p:nvSpPr>
          <p:cNvPr id="9" name="Text 4"/>
          <p:cNvSpPr/>
          <p:nvPr/>
        </p:nvSpPr>
        <p:spPr>
          <a:xfrm>
            <a:off x="5440680" y="1840514"/>
            <a:ext cx="3337560" cy="2377440"/>
          </a:xfrm>
          <a:prstGeom prst="rect">
            <a:avLst/>
          </a:prstGeom>
          <a:noFill/>
          <a:ln/>
        </p:spPr>
        <p:txBody>
          <a:bodyPr wrap="square" lIns="0" tIns="0" rIns="0" bIns="0" rtlCol="0" anchor="t"/>
          <a:lstStyle/>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The mains voltage is √2·Vac·sinθ, fixed by the grid. PF = 1 means the current must have exactly the same shape and phase.</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Their product is the instantaneous power. sinθ × sinθ gives sin²θ, whose average is ½ — hence the factor 2 in front of P.</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So "make the current a sine" and "make the power follow 2P sin²θ" are the SAME instruction. The second form is the useful one, because power is what a resonant converter can actually be told to deliver.</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The load, meanwhile, wants a flat P. The mismatch — the yellow and blue areas — has to be stored for a quarter of a line cycle. In a single stage that store is the output capacitor.</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4 · Why the gain is not yours to choose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Two voltage sources, one tank in between</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65760" y="1133856"/>
            <a:ext cx="4114800" cy="914400"/>
          </a:xfrm>
          <a:prstGeom prst="roundRect">
            <a:avLst>
              <a:gd name="adj" fmla="val 5000"/>
            </a:avLst>
          </a:prstGeom>
          <a:solidFill>
            <a:srgbClr val="F5F7FA"/>
          </a:solidFill>
          <a:ln w="12700">
            <a:solidFill>
              <a:srgbClr val="3CB4E6"/>
            </a:solidFill>
            <a:prstDash val="solid"/>
          </a:ln>
        </p:spPr>
        <p:txBody>
          <a:bodyPr/>
          <a:p/>
        </p:txBody>
      </p:sp>
      <p:sp>
        <p:nvSpPr>
          <p:cNvPr id="7" name="Text 4"/>
          <p:cNvSpPr/>
          <p:nvPr/>
        </p:nvSpPr>
        <p:spPr>
          <a:xfrm>
            <a:off x="475488" y="1216152"/>
            <a:ext cx="38953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The output side is clamped</a:t>
            </a:r>
            <a:endParaRPr lang="en-US" sz="1150" dirty="0"/>
          </a:p>
        </p:txBody>
      </p:sp>
      <p:sp>
        <p:nvSpPr>
          <p:cNvPr id="8" name="Text 5"/>
          <p:cNvSpPr/>
          <p:nvPr/>
        </p:nvSpPr>
        <p:spPr>
          <a:xfrm>
            <a:off x="475488" y="1517904"/>
            <a:ext cx="3895344" cy="43891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Cₒᵤₜ is in the millifarad range. Over one 10 ms line half cycle Vₒᵤₜ simply cannot move. So the voltage the tank must PRODUCE is fixed at n·Vo,eff.</a:t>
            </a:r>
            <a:endParaRPr lang="en-US" sz="1000" dirty="0"/>
          </a:p>
        </p:txBody>
      </p:sp>
      <p:sp>
        <p:nvSpPr>
          <p:cNvPr id="9" name="Shape 6"/>
          <p:cNvSpPr/>
          <p:nvPr/>
        </p:nvSpPr>
        <p:spPr>
          <a:xfrm>
            <a:off x="4663440" y="1133856"/>
            <a:ext cx="4114800" cy="914400"/>
          </a:xfrm>
          <a:prstGeom prst="roundRect">
            <a:avLst>
              <a:gd name="adj" fmla="val 5000"/>
            </a:avLst>
          </a:prstGeom>
          <a:solidFill>
            <a:srgbClr val="F5F7FA"/>
          </a:solidFill>
          <a:ln w="12700">
            <a:solidFill>
              <a:srgbClr val="3CB4E6"/>
            </a:solidFill>
            <a:prstDash val="solid"/>
          </a:ln>
        </p:spPr>
        <p:txBody>
          <a:bodyPr/>
          <a:p/>
        </p:txBody>
      </p:sp>
      <p:sp>
        <p:nvSpPr>
          <p:cNvPr id="10" name="Text 7"/>
          <p:cNvSpPr/>
          <p:nvPr/>
        </p:nvSpPr>
        <p:spPr>
          <a:xfrm>
            <a:off x="4773168" y="1216152"/>
            <a:ext cx="38953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The input side is a raw sine</a:t>
            </a:r>
            <a:endParaRPr lang="en-US" sz="1150" dirty="0"/>
          </a:p>
        </p:txBody>
      </p:sp>
      <p:sp>
        <p:nvSpPr>
          <p:cNvPr id="11" name="Text 8"/>
          <p:cNvSpPr/>
          <p:nvPr/>
        </p:nvSpPr>
        <p:spPr>
          <a:xfrm>
            <a:off x="4773168" y="1517904"/>
            <a:ext cx="3895344" cy="43891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There is no bulk capacitor to hold the bus up. The bus voltage IS |v_ac(θ)| — it sweeps from 0 to 373 V and back, 100 times a second.</a:t>
            </a:r>
            <a:endParaRPr lang="en-US" sz="1000" dirty="0"/>
          </a:p>
        </p:txBody>
      </p:sp>
      <p:sp>
        <p:nvSpPr>
          <p:cNvPr id="12" name="Shape 9"/>
          <p:cNvSpPr/>
          <p:nvPr/>
        </p:nvSpPr>
        <p:spPr>
          <a:xfrm>
            <a:off x="2101551" y="2194560"/>
            <a:ext cx="4940898" cy="588706"/>
          </a:xfrm>
          <a:prstGeom prst="roundRect">
            <a:avLst>
              <a:gd name="adj" fmla="val 6213"/>
            </a:avLst>
          </a:prstGeom>
          <a:solidFill>
            <a:srgbClr val="F2F5F9"/>
          </a:solidFill>
          <a:ln w="9525">
            <a:solidFill>
              <a:srgbClr val="E8E8E9"/>
            </a:solidFill>
            <a:prstDash val="solid"/>
          </a:ln>
        </p:spPr>
        <p:txBody>
          <a:bodyPr/>
          <a:p/>
        </p:txBody>
      </p:sp>
      <p:pic>
        <p:nvPicPr>
          <p:cNvPr id="13" name="Image 1" descr="eq/gain_forced.png">    </p:cNvPr>
          <p:cNvPicPr>
            <a:picLocks noChangeAspect="1"/>
          </p:cNvPicPr>
          <p:nvPr/>
        </p:nvPicPr>
        <p:blipFill>
          <a:blip r:embed="rId2"/>
          <a:stretch>
            <a:fillRect/>
          </a:stretch>
        </p:blipFill>
        <p:spPr>
          <a:xfrm>
            <a:off x="2202135" y="2295144"/>
            <a:ext cx="4739730" cy="387538"/>
          </a:xfrm>
          <a:prstGeom prst="rect">
            <a:avLst/>
          </a:prstGeom>
        </p:spPr>
      </p:pic>
      <p:sp>
        <p:nvSpPr>
          <p:cNvPr id="14" name="Shape 10"/>
          <p:cNvSpPr/>
          <p:nvPr/>
        </p:nvSpPr>
        <p:spPr>
          <a:xfrm>
            <a:off x="1966623" y="2911282"/>
            <a:ext cx="5210754" cy="466966"/>
          </a:xfrm>
          <a:prstGeom prst="roundRect">
            <a:avLst>
              <a:gd name="adj" fmla="val 7833"/>
            </a:avLst>
          </a:prstGeom>
          <a:solidFill>
            <a:srgbClr val="F2F5F9"/>
          </a:solidFill>
          <a:ln w="9525">
            <a:solidFill>
              <a:srgbClr val="E8E8E9"/>
            </a:solidFill>
            <a:prstDash val="solid"/>
          </a:ln>
        </p:spPr>
        <p:txBody>
          <a:bodyPr/>
          <a:p/>
        </p:txBody>
      </p:sp>
      <p:pic>
        <p:nvPicPr>
          <p:cNvPr id="15" name="Image 2" descr="eq/voeff.png">    </p:cNvPr>
          <p:cNvPicPr>
            <a:picLocks noChangeAspect="1"/>
          </p:cNvPicPr>
          <p:nvPr/>
        </p:nvPicPr>
        <p:blipFill>
          <a:blip r:embed="rId3"/>
          <a:stretch>
            <a:fillRect/>
          </a:stretch>
        </p:blipFill>
        <p:spPr>
          <a:xfrm>
            <a:off x="2067207" y="3011866"/>
            <a:ext cx="5009586" cy="265798"/>
          </a:xfrm>
          <a:prstGeom prst="rect">
            <a:avLst/>
          </a:prstGeom>
        </p:spPr>
      </p:pic>
      <p:sp>
        <p:nvSpPr>
          <p:cNvPr id="16" name="Text 11"/>
          <p:cNvSpPr/>
          <p:nvPr/>
        </p:nvSpPr>
        <p:spPr>
          <a:xfrm>
            <a:off x="365760" y="3542840"/>
            <a:ext cx="8412480" cy="54864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Numerator fixed, denominator dictated by the grid ⇒ M(θ) is an INPUT to the problem, not an output. This single fact is what makes a single-stage PF LLC different from every other LLC you have seen.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5 · With M fixed, frequency buys you Q</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and Q is nothing other than the load</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1392959" y="1078992"/>
            <a:ext cx="5718003" cy="637402"/>
          </a:xfrm>
          <a:prstGeom prst="roundRect">
            <a:avLst>
              <a:gd name="adj" fmla="val 5738"/>
            </a:avLst>
          </a:prstGeom>
          <a:solidFill>
            <a:srgbClr val="F2F5F9"/>
          </a:solidFill>
          <a:ln w="9525">
            <a:solidFill>
              <a:srgbClr val="E8E8E9"/>
            </a:solidFill>
            <a:prstDash val="solid"/>
          </a:ln>
        </p:spPr>
        <p:txBody>
          <a:bodyPr/>
          <a:p/>
        </p:txBody>
      </p:sp>
      <p:pic>
        <p:nvPicPr>
          <p:cNvPr id="7" name="Image 1" descr="eq/mreq.png">    </p:cNvPr>
          <p:cNvPicPr>
            <a:picLocks noChangeAspect="1"/>
          </p:cNvPicPr>
          <p:nvPr/>
        </p:nvPicPr>
        <p:blipFill>
          <a:blip r:embed="rId2"/>
          <a:stretch>
            <a:fillRect/>
          </a:stretch>
        </p:blipFill>
        <p:spPr>
          <a:xfrm>
            <a:off x="1493543" y="1179576"/>
            <a:ext cx="5516835" cy="436234"/>
          </a:xfrm>
          <a:prstGeom prst="rect">
            <a:avLst/>
          </a:prstGeom>
        </p:spPr>
      </p:pic>
      <p:sp>
        <p:nvSpPr>
          <p:cNvPr id="8" name="Shape 4"/>
          <p:cNvSpPr/>
          <p:nvPr/>
        </p:nvSpPr>
        <p:spPr>
          <a:xfrm>
            <a:off x="2112237" y="1826122"/>
            <a:ext cx="4279446" cy="635373"/>
          </a:xfrm>
          <a:prstGeom prst="roundRect">
            <a:avLst>
              <a:gd name="adj" fmla="val 5757"/>
            </a:avLst>
          </a:prstGeom>
          <a:solidFill>
            <a:srgbClr val="F2F5F9"/>
          </a:solidFill>
          <a:ln w="9525">
            <a:solidFill>
              <a:srgbClr val="E8E8E9"/>
            </a:solidFill>
            <a:prstDash val="solid"/>
          </a:ln>
        </p:spPr>
        <p:txBody>
          <a:bodyPr/>
          <a:p/>
        </p:txBody>
      </p:sp>
      <p:pic>
        <p:nvPicPr>
          <p:cNvPr id="9" name="Image 2" descr="eq/q_theta.png">    </p:cNvPr>
          <p:cNvPicPr>
            <a:picLocks noChangeAspect="1"/>
          </p:cNvPicPr>
          <p:nvPr/>
        </p:nvPicPr>
        <p:blipFill>
          <a:blip r:embed="rId3"/>
          <a:stretch>
            <a:fillRect/>
          </a:stretch>
        </p:blipFill>
        <p:spPr>
          <a:xfrm>
            <a:off x="2212821" y="1926706"/>
            <a:ext cx="4078278" cy="434205"/>
          </a:xfrm>
          <a:prstGeom prst="rect">
            <a:avLst/>
          </a:prstGeom>
        </p:spPr>
      </p:pic>
      <p:sp>
        <p:nvSpPr>
          <p:cNvPr id="10" name="Shape 5"/>
          <p:cNvSpPr/>
          <p:nvPr/>
        </p:nvSpPr>
        <p:spPr>
          <a:xfrm>
            <a:off x="1297596" y="2571222"/>
            <a:ext cx="5908728" cy="481169"/>
          </a:xfrm>
          <a:prstGeom prst="roundRect">
            <a:avLst>
              <a:gd name="adj" fmla="val 7601"/>
            </a:avLst>
          </a:prstGeom>
          <a:solidFill>
            <a:srgbClr val="F2F5F9"/>
          </a:solidFill>
          <a:ln w="9525">
            <a:solidFill>
              <a:srgbClr val="E8E8E9"/>
            </a:solidFill>
            <a:prstDash val="solid"/>
          </a:ln>
        </p:spPr>
        <p:txBody>
          <a:bodyPr/>
          <a:p/>
        </p:txBody>
      </p:sp>
      <p:pic>
        <p:nvPicPr>
          <p:cNvPr id="11" name="Image 3" descr="eq/solve_fn.png">    </p:cNvPr>
          <p:cNvPicPr>
            <a:picLocks noChangeAspect="1"/>
          </p:cNvPicPr>
          <p:nvPr/>
        </p:nvPicPr>
        <p:blipFill>
          <a:blip r:embed="rId4"/>
          <a:stretch>
            <a:fillRect/>
          </a:stretch>
        </p:blipFill>
        <p:spPr>
          <a:xfrm>
            <a:off x="1398180" y="2671806"/>
            <a:ext cx="5707560" cy="280001"/>
          </a:xfrm>
          <a:prstGeom prst="rect">
            <a:avLst/>
          </a:prstGeom>
        </p:spPr>
      </p:pic>
      <p:sp>
        <p:nvSpPr>
          <p:cNvPr id="12" name="Text 6"/>
          <p:cNvSpPr/>
          <p:nvPr/>
        </p:nvSpPr>
        <p:spPr>
          <a:xfrm>
            <a:off x="365760" y="3235272"/>
            <a:ext cx="8412480" cy="960120"/>
          </a:xfrm>
          <a:prstGeom prst="rect">
            <a:avLst/>
          </a:prstGeom>
          <a:noFill/>
          <a:ln/>
        </p:spPr>
        <p:txBody>
          <a:bodyPr wrap="square" lIns="0" tIns="0" rIns="0" bIns="0" rtlCol="0" anchor="t"/>
          <a:lstStyle/>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Rac is inversely proportional to the power delivered, so Q is DIRECTLY proportional to it — commanding Q is commanding watts.</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At each θ you know Mreq and you know the Q you want, so the gain equation has exactly one unknown left: fₙ. Solve it numerically.</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TAKE THE LARGER ROOT — the smaller one is the capacitive region (hard switching, reversed gain slope, runaway loop). Repeat for every θ and you have the frequency trajectory the IC must follow across the line half cycle.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Step 6 · Why it never runs out of gain</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The demand and the ceiling blow up at the same place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2_two_divergences.png"/>
          <p:cNvPicPr>
            <a:picLocks noChangeAspect="1"/>
          </p:cNvPicPr>
          <p:nvPr/>
        </p:nvPicPr>
        <p:blipFill>
          <a:blip r:embed="rId7"/>
          <a:stretch>
            <a:fillRect/>
          </a:stretch>
        </p:blipFill>
        <p:spPr>
          <a:xfrm>
            <a:off x="1066919" y="1097280"/>
            <a:ext cx="7010160" cy="2834640"/>
          </a:xfrm>
          <a:prstGeom prst="rect">
            <a:avLst/>
          </a:prstGeom>
        </p:spPr>
      </p:pic>
      <p:sp>
        <p:nvSpPr>
          <p:cNvPr id="7" name="TextBox 6"/>
          <p:cNvSpPr txBox="1"/>
          <p:nvPr/>
        </p:nvSpPr>
        <p:spPr>
          <a:xfrm>
            <a:off x="502920" y="4069080"/>
            <a:ext cx="8138160" cy="685800"/>
          </a:xfrm>
          <a:prstGeom prst="rect">
            <a:avLst/>
          </a:prstGeom>
          <a:noFill/>
        </p:spPr>
        <p:txBody>
          <a:bodyPr wrap="square" lIns="36576" rIns="36576" tIns="18288" bIns="18288">
            <a:spAutoFit/>
          </a:bodyPr>
          <a:lstStyle/>
          <a:p>
            <a:pPr algn="l">
              <a:spcAft>
                <a:spcPts val="600"/>
              </a:spcAft>
            </a:pPr>
            <a:r>
              <a:rPr sz="1100" b="0">
                <a:solidFill>
                  <a:srgbClr val="03234B"/>
                </a:solidFill>
                <a:latin typeface="Arial"/>
              </a:rPr>
              <a:t>Near the zero crossing the required gain goes to infinity — which would be fatal if the load stayed on. It does not: the load vanishes as sin²θ, and with no load the gain ceiling itself becomes infinite at fₒ. Two divergences that cancel, so a solution exists at every phase. fₒ is the frequency FLOOR — keep the VCO clamp at or above it.</a:t>
            </a:r>
          </a:p>
        </p:txBody>
      </p:sp>
      <p:sp>
        <p:nvSpPr>
          <p:cNvPr id="8" name="TextBox 7"/>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And where light load goes: burst mode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Below about a quarter load there is simply no continuous solution</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764985" y="1133856"/>
            <a:ext cx="4230750" cy="531894"/>
          </a:xfrm>
          <a:prstGeom prst="roundRect">
            <a:avLst>
              <a:gd name="adj" fmla="val 6877"/>
            </a:avLst>
          </a:prstGeom>
          <a:solidFill>
            <a:srgbClr val="F2F5F9"/>
          </a:solidFill>
          <a:ln w="9525">
            <a:solidFill>
              <a:srgbClr val="E8E8E9"/>
            </a:solidFill>
            <a:prstDash val="solid"/>
          </a:ln>
        </p:spPr>
        <p:txBody>
          <a:bodyPr/>
          <a:p/>
        </p:txBody>
      </p:sp>
      <p:pic>
        <p:nvPicPr>
          <p:cNvPr id="7" name="Image 1" descr="eq/burst.png">    </p:cNvPr>
          <p:cNvPicPr>
            <a:picLocks noChangeAspect="1"/>
          </p:cNvPicPr>
          <p:nvPr/>
        </p:nvPicPr>
        <p:blipFill>
          <a:blip r:embed="rId2"/>
          <a:stretch>
            <a:fillRect/>
          </a:stretch>
        </p:blipFill>
        <p:spPr>
          <a:xfrm>
            <a:off x="865569" y="1234440"/>
            <a:ext cx="4029582" cy="330726"/>
          </a:xfrm>
          <a:prstGeom prst="rect">
            <a:avLst/>
          </a:prstGeom>
        </p:spPr>
      </p:pic>
      <p:sp>
        <p:nvSpPr>
          <p:cNvPr id="8" name="Text 4"/>
          <p:cNvSpPr/>
          <p:nvPr/>
        </p:nvSpPr>
        <p:spPr>
          <a:xfrm>
            <a:off x="365760" y="1830342"/>
            <a:ext cx="5029200" cy="2743200"/>
          </a:xfrm>
          <a:prstGeom prst="rect">
            <a:avLst/>
          </a:prstGeom>
          <a:noFill/>
          <a:ln/>
        </p:spPr>
        <p:txBody>
          <a:bodyPr wrap="square" lIns="0" tIns="0" rIns="0" bIns="0" rtlCol="0" anchor="t"/>
          <a:lstStyle/>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As the load falls, Q falls, and the whole family of gain curves collapses onto the no-load curve. Its high-frequency asymptote is 1/(1+λ) — in this design 0.657.</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Near the full-bridge morphing edge the REQUIRED gain is only 0.638. That is below the ceiling the converter can reach at any frequency.</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So there is nothing to solve: the IC must stop switching for part of the time instead. That is burst mode, and it is STRUCTURAL here, not merely an efficiency option.</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In this design the burst entry point lands at about 68.6 W in, i.e. roughly 28 % load. Everything below that is bursting.</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Practical consequence: the 20 Hz voltage loop leaves 2fl ripple on the FB pin, and that ripple must not straddle the burst threshold or the converter chatters. Trim RBM.</a:t>
            </a:r>
            <a:endParaRPr lang="en-US" sz="1050" dirty="0"/>
          </a:p>
        </p:txBody>
      </p:sp>
      <p:pic>
        <p:nvPicPr>
          <p:cNvPr id="9" name="Image 2" descr="fig/f_gain_q.png">    </p:cNvPr>
          <p:cNvPicPr>
            <a:picLocks noChangeAspect="1"/>
          </p:cNvPicPr>
          <p:nvPr/>
        </p:nvPicPr>
        <p:blipFill>
          <a:blip r:embed="rId3"/>
          <a:stretch>
            <a:fillRect/>
          </a:stretch>
        </p:blipFill>
        <p:spPr>
          <a:xfrm>
            <a:off x="5532120" y="1259290"/>
            <a:ext cx="3246120" cy="3315292"/>
          </a:xfrm>
          <a:prstGeom prst="rect">
            <a:avLst/>
          </a:prstGeom>
        </p:spPr>
      </p:pic>
      <p:sp>
        <p:nvSpPr>
          <p:cNvPr id="10" name="Text 5"/>
          <p:cNvSpPr/>
          <p:nvPr/>
        </p:nvSpPr>
        <p:spPr>
          <a:xfrm>
            <a:off x="914400" y="4869180"/>
            <a:ext cx="4937760" cy="201168"/>
          </a:xfrm>
          <a:prstGeom prst="rect">
            <a:avLst/>
          </a:prstGeom>
          <a:noFill/>
          <a:ln/>
        </p:spPr>
        <p:txBody>
          <a:bodyPr wrap="square" lIns="0" tIns="0" rIns="0" bIns="0" rtlCol="0" anchor="ctr"/>
          <a:lstStyle/>
          <a:p>
            <a:pPr indent="0" marL="0">
              <a:buNone/>
            </a:pPr>
            <a:r>
              <a:rPr lang="en-US" sz="700" i="1" dirty="0">
                <a:solidFill>
                  <a:srgbClr val="BBBBBB"/>
                </a:solidFill>
                <a:latin typeface="Arial" pitchFamily="34" charset="0"/>
                <a:ea typeface="Arial" pitchFamily="34" charset="-122"/>
                <a:cs typeface="Arial" pitchFamily="34" charset="-120"/>
              </a:rPr>
              <a:t>Figure: onsemi / Fairchild AN-4151, Fig. 7</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Topology morphing — why it exists</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One tank cannot cover 2.93 : 1. So do not ask it to — change the bridge instead</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3_morphing.png"/>
          <p:cNvPicPr>
            <a:picLocks noChangeAspect="1"/>
          </p:cNvPicPr>
          <p:nvPr/>
        </p:nvPicPr>
        <p:blipFill>
          <a:blip r:embed="rId9"/>
          <a:stretch>
            <a:fillRect/>
          </a:stretch>
        </p:blipFill>
        <p:spPr>
          <a:xfrm>
            <a:off x="320040" y="1322659"/>
            <a:ext cx="5806440" cy="2649057"/>
          </a:xfrm>
          <a:prstGeom prst="rect">
            <a:avLst/>
          </a:prstGeom>
        </p:spPr>
      </p:pic>
      <p:sp>
        <p:nvSpPr>
          <p:cNvPr id="7" name="Rounded Rectangle 6"/>
          <p:cNvSpPr/>
          <p:nvPr/>
        </p:nvSpPr>
        <p:spPr>
          <a:xfrm>
            <a:off x="6309360" y="1024128"/>
            <a:ext cx="2560320" cy="1572768"/>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100" b="1">
                <a:solidFill>
                  <a:srgbClr val="E6007E"/>
                </a:solidFill>
                <a:latin typeface="Arial"/>
              </a:rPr>
              <a:t>The problem</a:t>
            </a:r>
          </a:p>
          <a:p>
            <a:pPr>
              <a:spcBef>
                <a:spcPts val="300"/>
              </a:spcBef>
            </a:pPr>
            <a:r>
              <a:rPr sz="1050">
                <a:solidFill>
                  <a:srgbClr val="03234B"/>
                </a:solidFill>
                <a:latin typeface="Arial"/>
              </a:rPr>
              <a:t>A resonant tank has a usable gain</a:t>
            </a:r>
          </a:p>
          <a:p>
            <a:pPr>
              <a:spcBef>
                <a:spcPts val="300"/>
              </a:spcBef>
            </a:pPr>
            <a:r>
              <a:rPr sz="1050">
                <a:solidFill>
                  <a:srgbClr val="03234B"/>
                </a:solidFill>
                <a:latin typeface="Arial"/>
              </a:rPr>
              <a:t>range of roughly 1.5 : 1 at full load.</a:t>
            </a:r>
          </a:p>
          <a:p>
            <a:pPr>
              <a:spcBef>
                <a:spcPts val="300"/>
              </a:spcBef>
            </a:pPr>
            <a:r>
              <a:rPr sz="1050">
                <a:solidFill>
                  <a:srgbClr val="03234B"/>
                </a:solidFill>
                <a:latin typeface="Arial"/>
              </a:rPr>
              <a:t>The mains asks for 2.93 : 1</a:t>
            </a:r>
          </a:p>
          <a:p>
            <a:pPr>
              <a:spcBef>
                <a:spcPts val="300"/>
              </a:spcBef>
            </a:pPr>
            <a:r>
              <a:rPr sz="1050">
                <a:solidFill>
                  <a:srgbClr val="03234B"/>
                </a:solidFill>
                <a:latin typeface="Arial"/>
              </a:rPr>
              <a:t>(90 to 264 Vac). No single tank</a:t>
            </a:r>
          </a:p>
          <a:p>
            <a:pPr>
              <a:spcBef>
                <a:spcPts val="300"/>
              </a:spcBef>
            </a:pPr>
            <a:r>
              <a:rPr sz="1050">
                <a:solidFill>
                  <a:srgbClr val="03234B"/>
                </a:solidFill>
                <a:latin typeface="Arial"/>
              </a:rPr>
              <a:t>does that and still keeps ZVS.</a:t>
            </a:r>
          </a:p>
        </p:txBody>
      </p:sp>
      <p:sp>
        <p:nvSpPr>
          <p:cNvPr id="8" name="Rounded Rectangle 7"/>
          <p:cNvSpPr/>
          <p:nvPr/>
        </p:nvSpPr>
        <p:spPr>
          <a:xfrm>
            <a:off x="6309360" y="2697480"/>
            <a:ext cx="2560320" cy="1572768"/>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100" b="1">
                <a:solidFill>
                  <a:srgbClr val="03234B"/>
                </a:solidFill>
                <a:latin typeface="Arial"/>
              </a:rPr>
              <a:t>The answer</a:t>
            </a:r>
          </a:p>
          <a:p>
            <a:pPr>
              <a:spcBef>
                <a:spcPts val="300"/>
              </a:spcBef>
            </a:pPr>
            <a:r>
              <a:rPr sz="1050">
                <a:solidFill>
                  <a:srgbClr val="03234B"/>
                </a:solidFill>
                <a:latin typeface="Arial"/>
              </a:rPr>
              <a:t>Below 235 V peak run a FULL</a:t>
            </a:r>
          </a:p>
          <a:p>
            <a:pPr>
              <a:spcBef>
                <a:spcPts val="300"/>
              </a:spcBef>
            </a:pPr>
            <a:r>
              <a:rPr sz="1050">
                <a:solidFill>
                  <a:srgbClr val="03234B"/>
                </a:solidFill>
                <a:latin typeface="Arial"/>
              </a:rPr>
              <a:t>bridge, which drives the tank with</a:t>
            </a:r>
          </a:p>
          <a:p>
            <a:pPr>
              <a:spcBef>
                <a:spcPts val="300"/>
              </a:spcBef>
            </a:pPr>
            <a:r>
              <a:rPr sz="1050">
                <a:solidFill>
                  <a:srgbClr val="03234B"/>
                </a:solidFill>
                <a:latin typeface="Arial"/>
              </a:rPr>
              <a:t>twice the rail. Above 245 V peak</a:t>
            </a:r>
          </a:p>
          <a:p>
            <a:pPr>
              <a:spcBef>
                <a:spcPts val="300"/>
              </a:spcBef>
            </a:pPr>
            <a:r>
              <a:rPr sz="1050">
                <a:solidFill>
                  <a:srgbClr val="03234B"/>
                </a:solidFill>
                <a:latin typeface="Arial"/>
              </a:rPr>
              <a:t>run a HALF bridge. The tank now</a:t>
            </a:r>
          </a:p>
          <a:p>
            <a:pPr>
              <a:spcBef>
                <a:spcPts val="300"/>
              </a:spcBef>
            </a:pPr>
            <a:r>
              <a:rPr sz="1050">
                <a:solidFill>
                  <a:srgbClr val="03234B"/>
                </a:solidFill>
                <a:latin typeface="Arial"/>
              </a:rPr>
              <a:t>sees only 1.92 : 1.</a:t>
            </a:r>
          </a:p>
        </p:txBody>
      </p:sp>
      <p:sp>
        <p:nvSpPr>
          <p:cNvPr id="9" name="TextBox 8"/>
          <p:cNvSpPr txBox="1"/>
          <p:nvPr/>
        </p:nvSpPr>
        <p:spPr>
          <a:xfrm>
            <a:off x="320040" y="4370832"/>
            <a:ext cx="8503920" cy="365760"/>
          </a:xfrm>
          <a:prstGeom prst="rect">
            <a:avLst/>
          </a:prstGeom>
          <a:noFill/>
        </p:spPr>
        <p:txBody>
          <a:bodyPr wrap="square" lIns="36576" rIns="36576" tIns="18288" bIns="18288">
            <a:spAutoFit/>
          </a:bodyPr>
          <a:lstStyle/>
          <a:p>
            <a:pPr algn="l">
              <a:spcAft>
                <a:spcPts val="600"/>
              </a:spcAft>
            </a:pPr>
            <a:r>
              <a:rPr sz="1150" b="1">
                <a:solidFill>
                  <a:srgbClr val="03234B"/>
                </a:solidFill>
                <a:latin typeface="Arial"/>
              </a:rPr>
              <a:t>It costs nothing in hardware — the same four switches, the same tank, the same control law. Only one gate signal changes.</a:t>
            </a:r>
          </a:p>
        </p:txBody>
      </p:sp>
      <p:sp>
        <p:nvSpPr>
          <p:cNvPr id="10" name="TextBox 9"/>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Full bridge — how the four switches drive the tank</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Diagonal pairs conduct together, so the tank swings the whole rail</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8" name="TextBox 7"/>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a:t>
            </a:r>
          </a:p>
        </p:txBody>
      </p:sp>
      <p:pic>
        <p:nvPicPr>
          <p:cNvPr id="9" name="Picture 8" descr="image.png"/>
          <p:cNvPicPr>
            <a:picLocks noChangeAspect="1"/>
          </p:cNvPicPr>
          <p:nvPr/>
        </p:nvPicPr>
        <p:blipFill>
          <a:blip r:embed="rId2"/>
          <a:stretch>
            <a:fillRect/>
          </a:stretch>
        </p:blipFill>
        <p:spPr>
          <a:xfrm>
            <a:off x="1364859" y="1005840"/>
            <a:ext cx="6825761" cy="3108960"/>
          </a:xfrm>
          <a:prstGeom prst="rect">
            <a:avLst/>
          </a:prstGeom>
        </p:spPr>
      </p:pic>
      <p:sp>
        <p:nvSpPr>
          <p:cNvPr id="10" name="TextBox 9"/>
          <p:cNvSpPr txBox="1"/>
          <p:nvPr/>
        </p:nvSpPr>
        <p:spPr>
          <a:xfrm>
            <a:off x="868680" y="4169663"/>
            <a:ext cx="7818120" cy="731520"/>
          </a:xfrm>
          <a:prstGeom prst="rect">
            <a:avLst/>
          </a:prstGeom>
          <a:noFill/>
        </p:spPr>
        <p:txBody>
          <a:bodyPr wrap="square" lIns="36576" rIns="36576" tIns="18288" bIns="18288">
            <a:spAutoFit/>
          </a:bodyPr>
          <a:lstStyle/>
          <a:p>
            <a:pPr algn="l">
              <a:spcAft>
                <a:spcPts val="400"/>
              </a:spcAft>
            </a:pPr>
            <a:r>
              <a:rPr sz="1050" b="0">
                <a:solidFill>
                  <a:srgbClr val="03234B"/>
                </a:solidFill>
                <a:latin typeface="Arial"/>
              </a:rPr>
              <a:t>Why bother:  at 90 Vac the tank would see only 90 V — far below what it needs to make 150 V of reflected output. The full bridge doubles it to 180 V, and low line becomes possible at all.</a:t>
            </a:r>
          </a:p>
          <a:p>
            <a:pPr algn="l">
              <a:spcAft>
                <a:spcPts val="400"/>
              </a:spcAft>
            </a:pPr>
            <a:r>
              <a:rPr sz="1050" b="0">
                <a:solidFill>
                  <a:srgbClr val="03234B"/>
                </a:solidFill>
                <a:latin typeface="Arial"/>
              </a:rPr>
              <a:t>The cost:  all four devices switch, so all four need ZVS, and each carries the tank current for half of every period.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Half bridge — leg 2 stops, and Cᵣ does the rest</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Q3 never turns on, Q4 never turns off. The tank sees half as much</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8" name="TextBox 7"/>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a:t>
            </a:r>
          </a:p>
        </p:txBody>
      </p:sp>
      <p:pic>
        <p:nvPicPr>
          <p:cNvPr id="9" name="Picture 8" descr="image.png"/>
          <p:cNvPicPr>
            <a:picLocks noChangeAspect="1"/>
          </p:cNvPicPr>
          <p:nvPr/>
        </p:nvPicPr>
        <p:blipFill>
          <a:blip r:embed="rId2"/>
          <a:stretch>
            <a:fillRect/>
          </a:stretch>
        </p:blipFill>
        <p:spPr>
          <a:xfrm>
            <a:off x="1193710" y="1005840"/>
            <a:ext cx="7168059" cy="3108960"/>
          </a:xfrm>
          <a:prstGeom prst="rect">
            <a:avLst/>
          </a:prstGeom>
        </p:spPr>
      </p:pic>
      <p:sp>
        <p:nvSpPr>
          <p:cNvPr id="10" name="TextBox 9"/>
          <p:cNvSpPr txBox="1"/>
          <p:nvPr/>
        </p:nvSpPr>
        <p:spPr>
          <a:xfrm>
            <a:off x="868680" y="4169663"/>
            <a:ext cx="7818120" cy="731520"/>
          </a:xfrm>
          <a:prstGeom prst="rect">
            <a:avLst/>
          </a:prstGeom>
          <a:noFill/>
        </p:spPr>
        <p:txBody>
          <a:bodyPr wrap="square" lIns="36576" rIns="36576" tIns="18288" bIns="18288">
            <a:spAutoFit/>
          </a:bodyPr>
          <a:lstStyle/>
          <a:p>
            <a:pPr algn="l">
              <a:spcAft>
                <a:spcPts val="400"/>
              </a:spcAft>
            </a:pPr>
            <a:r>
              <a:rPr sz="1050" b="0">
                <a:solidFill>
                  <a:srgbClr val="03234B"/>
                </a:solidFill>
                <a:latin typeface="Arial"/>
              </a:rPr>
              <a:t>Why it is not just "turn leg 2 off":  with Q4 held ON the leg-2 midpoint becomes ground, so the tank still has a return path. Turning BOTH leg-2 devices off would simply open the circuit.</a:t>
            </a:r>
          </a:p>
          <a:p>
            <a:pPr algn="l">
              <a:spcAft>
                <a:spcPts val="400"/>
              </a:spcAft>
            </a:pPr>
            <a:r>
              <a:rPr sz="1050" b="0">
                <a:solidFill>
                  <a:srgbClr val="03234B"/>
                </a:solidFill>
                <a:latin typeface="Arial"/>
              </a:rPr>
              <a:t>Watch the standing device:  Q4 never switches, but it conducts the full tank current continuously — 10.9 A rms here, 9.62 W in one package. It is the hottest device in the converter.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How the IC does it — one pin, no extra hardware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LOUT2 held statically high is the entire mechanism</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7_morph_gates.png"/>
          <p:cNvPicPr>
            <a:picLocks noChangeAspect="1"/>
          </p:cNvPicPr>
          <p:nvPr/>
        </p:nvPicPr>
        <p:blipFill>
          <a:blip r:embed="rId2"/>
          <a:stretch>
            <a:fillRect/>
          </a:stretch>
        </p:blipFill>
        <p:spPr>
          <a:xfrm>
            <a:off x="547706" y="1042415"/>
            <a:ext cx="8048586" cy="3127248"/>
          </a:xfrm>
          <a:prstGeom prst="rect">
            <a:avLst/>
          </a:prstGeom>
        </p:spPr>
      </p:pic>
      <p:sp>
        <p:nvSpPr>
          <p:cNvPr id="7" name="Rounded Rectangle 6"/>
          <p:cNvSpPr/>
          <p:nvPr/>
        </p:nvSpPr>
        <p:spPr>
          <a:xfrm>
            <a:off x="457200" y="4224528"/>
            <a:ext cx="2633472" cy="786384"/>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00" b="1">
                <a:solidFill>
                  <a:srgbClr val="E6007E"/>
                </a:solidFill>
                <a:latin typeface="Arial"/>
              </a:rPr>
              <a:t>Never load LOUT2</a:t>
            </a:r>
          </a:p>
          <a:p>
            <a:pPr>
              <a:spcBef>
                <a:spcPts val="300"/>
              </a:spcBef>
            </a:pPr>
            <a:r>
              <a:rPr sz="950">
                <a:solidFill>
                  <a:srgbClr val="03234B"/>
                </a:solidFill>
                <a:latin typeface="Arial"/>
              </a:rPr>
              <a:t>The pin sources 300 µA to strap the</a:t>
            </a:r>
          </a:p>
          <a:p>
            <a:pPr>
              <a:spcBef>
                <a:spcPts val="300"/>
              </a:spcBef>
            </a:pPr>
            <a:r>
              <a:rPr sz="950">
                <a:solidFill>
                  <a:srgbClr val="03234B"/>
                </a:solidFill>
                <a:latin typeface="Arial"/>
              </a:rPr>
              <a:t>configuration. Below ~8 kΩ to ground it</a:t>
            </a:r>
          </a:p>
          <a:p>
            <a:pPr>
              <a:spcBef>
                <a:spcPts val="300"/>
              </a:spcBef>
            </a:pPr>
            <a:r>
              <a:rPr sz="950">
                <a:solidFill>
                  <a:srgbClr val="03234B"/>
                </a:solidFill>
                <a:latin typeface="Arial"/>
              </a:rPr>
              <a:t>reads as fixed half bridge.</a:t>
            </a:r>
          </a:p>
        </p:txBody>
      </p:sp>
      <p:sp>
        <p:nvSpPr>
          <p:cNvPr id="8" name="Rounded Rectangle 7"/>
          <p:cNvSpPr/>
          <p:nvPr/>
        </p:nvSpPr>
        <p:spPr>
          <a:xfrm>
            <a:off x="3255264" y="4224528"/>
            <a:ext cx="2633472" cy="786384"/>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00" b="1">
                <a:solidFill>
                  <a:srgbClr val="03234B"/>
                </a:solidFill>
                <a:latin typeface="Arial"/>
              </a:rPr>
              <a:t>Cᵣ makes it work</a:t>
            </a:r>
          </a:p>
          <a:p>
            <a:pPr>
              <a:spcBef>
                <a:spcPts val="300"/>
              </a:spcBef>
            </a:pPr>
            <a:r>
              <a:rPr sz="950">
                <a:solidFill>
                  <a:srgbClr val="03234B"/>
                </a:solidFill>
                <a:latin typeface="Arial"/>
              </a:rPr>
              <a:t>The half bridge output has Vᵢₙ/2 of DC on</a:t>
            </a:r>
          </a:p>
          <a:p>
            <a:pPr>
              <a:spcBef>
                <a:spcPts val="300"/>
              </a:spcBef>
            </a:pPr>
            <a:r>
              <a:rPr sz="950">
                <a:solidFill>
                  <a:srgbClr val="03234B"/>
                </a:solidFill>
                <a:latin typeface="Arial"/>
              </a:rPr>
              <a:t>it. Cᵣ is already in series with the tank,</a:t>
            </a:r>
          </a:p>
          <a:p>
            <a:pPr>
              <a:spcBef>
                <a:spcPts val="300"/>
              </a:spcBef>
            </a:pPr>
            <a:r>
              <a:rPr sz="950">
                <a:solidFill>
                  <a:srgbClr val="03234B"/>
                </a:solidFill>
                <a:latin typeface="Arial"/>
              </a:rPr>
              <a:t>so it blocks that for free.</a:t>
            </a:r>
          </a:p>
        </p:txBody>
      </p:sp>
      <p:sp>
        <p:nvSpPr>
          <p:cNvPr id="9" name="Rounded Rectangle 8"/>
          <p:cNvSpPr/>
          <p:nvPr/>
        </p:nvSpPr>
        <p:spPr>
          <a:xfrm>
            <a:off x="6053328" y="4224528"/>
            <a:ext cx="2633472" cy="786384"/>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00" b="1">
                <a:solidFill>
                  <a:srgbClr val="03234B"/>
                </a:solidFill>
                <a:latin typeface="Arial"/>
              </a:rPr>
              <a:t>Hysteretic, so silent</a:t>
            </a:r>
          </a:p>
          <a:p>
            <a:pPr>
              <a:spcBef>
                <a:spcPts val="300"/>
              </a:spcBef>
            </a:pPr>
            <a:r>
              <a:rPr sz="950">
                <a:solidFill>
                  <a:srgbClr val="03234B"/>
                </a:solidFill>
                <a:latin typeface="Arial"/>
              </a:rPr>
              <a:t>235 Vₚₖ down, 245 Vₚₖ up. Ten volts of</a:t>
            </a:r>
          </a:p>
          <a:p>
            <a:pPr>
              <a:spcBef>
                <a:spcPts val="300"/>
              </a:spcBef>
            </a:pPr>
            <a:r>
              <a:rPr sz="950">
                <a:solidFill>
                  <a:srgbClr val="03234B"/>
                </a:solidFill>
                <a:latin typeface="Arial"/>
              </a:rPr>
              <a:t>hysteresis is what stops it chattering</a:t>
            </a:r>
          </a:p>
          <a:p>
            <a:pPr>
              <a:spcBef>
                <a:spcPts val="300"/>
              </a:spcBef>
            </a:pPr>
            <a:r>
              <a:rPr sz="950">
                <a:solidFill>
                  <a:srgbClr val="03234B"/>
                </a:solidFill>
                <a:latin typeface="Arial"/>
              </a:rPr>
              <a:t>at the threshold.</a:t>
            </a:r>
          </a:p>
        </p:txBody>
      </p:sp>
      <p:sp>
        <p:nvSpPr>
          <p:cNvPr id="10" name="TextBox 9"/>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Where it changes — and the band in between</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The thresholds are FIXED IC constants. R_CFG does not move them</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8_morph_levels.png"/>
          <p:cNvPicPr>
            <a:picLocks noChangeAspect="1"/>
          </p:cNvPicPr>
          <p:nvPr/>
        </p:nvPicPr>
        <p:blipFill>
          <a:blip r:embed="rId2"/>
          <a:stretch>
            <a:fillRect/>
          </a:stretch>
        </p:blipFill>
        <p:spPr>
          <a:xfrm>
            <a:off x="750998" y="1005840"/>
            <a:ext cx="4715922" cy="3611880"/>
          </a:xfrm>
          <a:prstGeom prst="rect">
            <a:avLst/>
          </a:prstGeom>
        </p:spPr>
      </p:pic>
      <p:sp>
        <p:nvSpPr>
          <p:cNvPr id="7" name="Rounded Rectangle 6"/>
          <p:cNvSpPr/>
          <p:nvPr/>
        </p:nvSpPr>
        <p:spPr>
          <a:xfrm>
            <a:off x="6126480" y="1005840"/>
            <a:ext cx="2743200" cy="1481328"/>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00" b="1">
                <a:solidFill>
                  <a:srgbClr val="E6007E"/>
                </a:solidFill>
                <a:latin typeface="Arial"/>
              </a:rPr>
              <a:t>Two worst corners, not two ends</a:t>
            </a:r>
          </a:p>
          <a:p>
            <a:pPr>
              <a:spcBef>
                <a:spcPts val="300"/>
              </a:spcBef>
            </a:pPr>
            <a:r>
              <a:rPr sz="950">
                <a:solidFill>
                  <a:srgbClr val="03234B"/>
                </a:solidFill>
                <a:latin typeface="Arial"/>
              </a:rPr>
              <a:t>The tank’s hardest points are the</a:t>
            </a:r>
          </a:p>
          <a:p>
            <a:pPr>
              <a:spcBef>
                <a:spcPts val="300"/>
              </a:spcBef>
            </a:pPr>
            <a:r>
              <a:rPr sz="950">
                <a:solidFill>
                  <a:srgbClr val="03234B"/>
                </a:solidFill>
                <a:latin typeface="Arial"/>
              </a:rPr>
              <a:t>morphing EDGES: 173.2 Vac equivalent</a:t>
            </a:r>
          </a:p>
          <a:p>
            <a:pPr>
              <a:spcBef>
                <a:spcPts val="300"/>
              </a:spcBef>
            </a:pPr>
            <a:r>
              <a:rPr sz="950">
                <a:solidFill>
                  <a:srgbClr val="03234B"/>
                </a:solidFill>
                <a:latin typeface="Arial"/>
              </a:rPr>
              <a:t>(worst gain and ZVS) and 332.3</a:t>
            </a:r>
          </a:p>
          <a:p>
            <a:pPr>
              <a:spcBef>
                <a:spcPts val="300"/>
              </a:spcBef>
            </a:pPr>
            <a:r>
              <a:rPr sz="950">
                <a:solidFill>
                  <a:srgbClr val="03234B"/>
                </a:solidFill>
                <a:latin typeface="Arial"/>
              </a:rPr>
              <a:t>(worst frequency). Neither is 90 or 264.</a:t>
            </a:r>
          </a:p>
        </p:txBody>
      </p:sp>
      <p:sp>
        <p:nvSpPr>
          <p:cNvPr id="8" name="Rounded Rectangle 7"/>
          <p:cNvSpPr/>
          <p:nvPr/>
        </p:nvSpPr>
        <p:spPr>
          <a:xfrm>
            <a:off x="6126480" y="2596896"/>
            <a:ext cx="2743200" cy="1188720"/>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00" b="1">
                <a:solidFill>
                  <a:srgbClr val="03234B"/>
                </a:solidFill>
                <a:latin typeface="Arial"/>
              </a:rPr>
              <a:t>The band is a test condition</a:t>
            </a:r>
          </a:p>
          <a:p>
            <a:pPr>
              <a:spcBef>
                <a:spcPts val="300"/>
              </a:spcBef>
            </a:pPr>
            <a:r>
              <a:rPr sz="950">
                <a:solidFill>
                  <a:srgbClr val="03234B"/>
                </a:solidFill>
                <a:latin typeface="Arial"/>
              </a:rPr>
              <a:t>Real mains never sits at 166–173 Vrms,</a:t>
            </a:r>
          </a:p>
          <a:p>
            <a:pPr>
              <a:spcBef>
                <a:spcPts val="300"/>
              </a:spcBef>
            </a:pPr>
            <a:r>
              <a:rPr sz="950">
                <a:solidFill>
                  <a:srgbClr val="03234B"/>
                </a:solidFill>
                <a:latin typeface="Arial"/>
              </a:rPr>
              <a:t>so the mode settles at start-up. You</a:t>
            </a:r>
          </a:p>
          <a:p>
            <a:pPr>
              <a:spcBef>
                <a:spcPts val="300"/>
              </a:spcBef>
            </a:pPr>
            <a:r>
              <a:rPr sz="950">
                <a:solidFill>
                  <a:srgbClr val="03234B"/>
                </a:solidFill>
                <a:latin typeface="Arial"/>
              </a:rPr>
              <a:t>meet the band on an AC source, and</a:t>
            </a:r>
          </a:p>
          <a:p>
            <a:pPr>
              <a:spcBef>
                <a:spcPts val="300"/>
              </a:spcBef>
            </a:pPr>
            <a:r>
              <a:rPr sz="950">
                <a:solidFill>
                  <a:srgbClr val="03234B"/>
                </a:solidFill>
                <a:latin typeface="Arial"/>
              </a:rPr>
              <a:t>in line dip / surge tests.</a:t>
            </a:r>
          </a:p>
        </p:txBody>
      </p:sp>
      <p:sp>
        <p:nvSpPr>
          <p:cNvPr id="9" name="Rounded Rectangle 8"/>
          <p:cNvSpPr/>
          <p:nvPr/>
        </p:nvSpPr>
        <p:spPr>
          <a:xfrm>
            <a:off x="6126480" y="3895344"/>
            <a:ext cx="2743200" cy="932688"/>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00" b="1">
                <a:solidFill>
                  <a:srgbClr val="E6007E"/>
                </a:solidFill>
                <a:latin typeface="Arial"/>
              </a:rPr>
              <a:t>⚠  Transition transient</a:t>
            </a:r>
          </a:p>
          <a:p>
            <a:pPr>
              <a:spcBef>
                <a:spcPts val="300"/>
              </a:spcBef>
            </a:pPr>
            <a:r>
              <a:rPr sz="950">
                <a:solidFill>
                  <a:srgbClr val="03234B"/>
                </a:solidFill>
                <a:latin typeface="Arial"/>
              </a:rPr>
              <a:t>The drive changes 2:1 in one line cycle</a:t>
            </a:r>
          </a:p>
          <a:p>
            <a:pPr>
              <a:spcBef>
                <a:spcPts val="300"/>
              </a:spcBef>
            </a:pPr>
            <a:r>
              <a:rPr sz="950">
                <a:solidFill>
                  <a:srgbClr val="03234B"/>
                </a:solidFill>
                <a:latin typeface="Arial"/>
              </a:rPr>
              <a:t>against a 17.6 Hz loop. Enveloped by</a:t>
            </a:r>
          </a:p>
          <a:p>
            <a:pPr>
              <a:spcBef>
                <a:spcPts val="300"/>
              </a:spcBef>
            </a:pPr>
            <a:r>
              <a:rPr sz="950">
                <a:solidFill>
                  <a:srgbClr val="03234B"/>
                </a:solidFill>
                <a:latin typeface="Arial"/>
              </a:rPr>
              <a:t>hold-up — but not yet checked in time.</a:t>
            </a:r>
          </a:p>
        </p:txBody>
      </p:sp>
      <p:sp>
        <p:nvSpPr>
          <p:cNvPr id="10" name="TextBox 9"/>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FB pin is a POWER command</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Not an error voltage — a set point in watts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2201986" y="1143000"/>
            <a:ext cx="4740028" cy="572474"/>
          </a:xfrm>
          <a:prstGeom prst="roundRect">
            <a:avLst>
              <a:gd name="adj" fmla="val 6389"/>
            </a:avLst>
          </a:prstGeom>
          <a:solidFill>
            <a:srgbClr val="F2F5F9"/>
          </a:solidFill>
          <a:ln w="9525">
            <a:solidFill>
              <a:srgbClr val="E8E8E9"/>
            </a:solidFill>
            <a:prstDash val="solid"/>
          </a:ln>
        </p:spPr>
        <p:txBody>
          <a:bodyPr/>
          <a:p/>
        </p:txBody>
      </p:sp>
      <p:pic>
        <p:nvPicPr>
          <p:cNvPr id="7" name="Image 1" descr="eq/vfb.png">    </p:cNvPr>
          <p:cNvPicPr>
            <a:picLocks noChangeAspect="1"/>
          </p:cNvPicPr>
          <p:nvPr/>
        </p:nvPicPr>
        <p:blipFill>
          <a:blip r:embed="rId2"/>
          <a:stretch>
            <a:fillRect/>
          </a:stretch>
        </p:blipFill>
        <p:spPr>
          <a:xfrm>
            <a:off x="2302570" y="1243584"/>
            <a:ext cx="4538860" cy="371306"/>
          </a:xfrm>
          <a:prstGeom prst="rect">
            <a:avLst/>
          </a:prstGeom>
        </p:spPr>
      </p:pic>
      <p:sp>
        <p:nvSpPr>
          <p:cNvPr id="8" name="Text 4"/>
          <p:cNvSpPr/>
          <p:nvPr/>
        </p:nvSpPr>
        <p:spPr>
          <a:xfrm>
            <a:off x="685800" y="1944074"/>
            <a:ext cx="7772400" cy="182880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03234B"/>
                </a:solidFill>
                <a:latin typeface="Arial" pitchFamily="34" charset="0"/>
                <a:ea typeface="Arial" pitchFamily="34" charset="-122"/>
                <a:cs typeface="Arial" pitchFamily="34" charset="-120"/>
              </a:rPr>
              <a:t>Substituting the datasheet burst-mode relations gives 0.167 V per Ω·W. Multiply by the 2.8 V feedback span and you get 16.8 Ω·W — exactly the maximum-power rule in the datasheet. The two are the same equation.</a:t>
            </a:r>
            <a:endParaRPr lang="en-US" sz="1200" dirty="0"/>
          </a:p>
          <a:p>
            <a:pPr marL="177800" indent="-177800">
              <a:spcAft>
                <a:spcPts val="700"/>
              </a:spcAft>
              <a:buSzPct val="100000"/>
              <a:buChar char="•"/>
            </a:pPr>
            <a:r>
              <a:rPr lang="en-US" sz="1200" dirty="0">
                <a:solidFill>
                  <a:srgbClr val="03234B"/>
                </a:solidFill>
                <a:latin typeface="Arial" pitchFamily="34" charset="0"/>
                <a:ea typeface="Arial" pitchFamily="34" charset="-122"/>
                <a:cs typeface="Arial" pitchFamily="34" charset="-120"/>
              </a:rPr>
              <a:t>So the maximum power limit, the burst-mode entry point and the overload detection all sit on ONE scale: the FB voltage.</a:t>
            </a:r>
            <a:endParaRPr lang="en-US" sz="1200" dirty="0"/>
          </a:p>
          <a:p>
            <a:pPr marL="177800" indent="-177800">
              <a:spcAft>
                <a:spcPts val="700"/>
              </a:spcAft>
              <a:buSzPct val="100000"/>
              <a:buChar char="•"/>
            </a:pPr>
            <a:r>
              <a:rPr lang="en-US" sz="1200" dirty="0">
                <a:solidFill>
                  <a:srgbClr val="03234B"/>
                </a:solidFill>
                <a:latin typeface="Arial" pitchFamily="34" charset="0"/>
                <a:ea typeface="Arial" pitchFamily="34" charset="-122"/>
                <a:cs typeface="Arial" pitchFamily="34" charset="-120"/>
              </a:rPr>
              <a:t>The external opto loop commands an INPUT POWER. The internal loop then distributes that power across the line cycle as sin²θ. That distribution is the PFC.</a:t>
            </a:r>
            <a:endParaRPr lang="en-US" sz="1200" dirty="0"/>
          </a:p>
        </p:txBody>
      </p:sp>
      <p:sp>
        <p:nvSpPr>
          <p:cNvPr id="9" name="Text 5"/>
          <p:cNvSpPr/>
          <p:nvPr/>
        </p:nvSpPr>
        <p:spPr>
          <a:xfrm>
            <a:off x="685800" y="3703320"/>
            <a:ext cx="2377440" cy="502920"/>
          </a:xfrm>
          <a:prstGeom prst="rect">
            <a:avLst/>
          </a:prstGeom>
          <a:noFill/>
          <a:ln/>
        </p:spPr>
        <p:txBody>
          <a:bodyPr wrap="square" lIns="0" tIns="0" rIns="0" bIns="0" rtlCol="0" anchor="ctr"/>
          <a:lstStyle/>
          <a:p>
            <a:pPr algn="ctr" indent="0" marL="0">
              <a:buNone/>
            </a:pPr>
            <a:r>
              <a:rPr lang="en-US" sz="2800" b="1" dirty="0">
                <a:solidFill>
                  <a:srgbClr val="03234B"/>
                </a:solidFill>
                <a:latin typeface="Arial" pitchFamily="34" charset="0"/>
                <a:ea typeface="Arial" pitchFamily="34" charset="-122"/>
                <a:cs typeface="Arial" pitchFamily="34" charset="-120"/>
              </a:rPr>
              <a:t>0.5 V</a:t>
            </a:r>
            <a:endParaRPr lang="en-US" sz="2800" dirty="0"/>
          </a:p>
        </p:txBody>
      </p:sp>
      <p:sp>
        <p:nvSpPr>
          <p:cNvPr id="10" name="Text 6"/>
          <p:cNvSpPr/>
          <p:nvPr/>
        </p:nvSpPr>
        <p:spPr>
          <a:xfrm>
            <a:off x="685800" y="4197096"/>
            <a:ext cx="237744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FB offset  Vos</a:t>
            </a:r>
            <a:endParaRPr lang="en-US" sz="900" dirty="0"/>
          </a:p>
        </p:txBody>
      </p:sp>
      <p:sp>
        <p:nvSpPr>
          <p:cNvPr id="11" name="Text 7"/>
          <p:cNvSpPr/>
          <p:nvPr/>
        </p:nvSpPr>
        <p:spPr>
          <a:xfrm>
            <a:off x="3154680" y="3703320"/>
            <a:ext cx="2377440" cy="502920"/>
          </a:xfrm>
          <a:prstGeom prst="rect">
            <a:avLst/>
          </a:prstGeom>
          <a:noFill/>
          <a:ln/>
        </p:spPr>
        <p:txBody>
          <a:bodyPr wrap="square" lIns="0" tIns="0" rIns="0" bIns="0" rtlCol="0" anchor="ctr"/>
          <a:lstStyle/>
          <a:p>
            <a:pPr algn="ctr" indent="0" marL="0">
              <a:buNone/>
            </a:pPr>
            <a:r>
              <a:rPr lang="en-US" sz="2800" b="1" dirty="0">
                <a:solidFill>
                  <a:srgbClr val="E6007E"/>
                </a:solidFill>
                <a:latin typeface="Arial" pitchFamily="34" charset="0"/>
                <a:ea typeface="Arial" pitchFamily="34" charset="-122"/>
                <a:cs typeface="Arial" pitchFamily="34" charset="-120"/>
              </a:rPr>
              <a:t>0.167 V/ΩW</a:t>
            </a:r>
            <a:endParaRPr lang="en-US" sz="2800" dirty="0"/>
          </a:p>
        </p:txBody>
      </p:sp>
      <p:sp>
        <p:nvSpPr>
          <p:cNvPr id="12" name="Text 8"/>
          <p:cNvSpPr/>
          <p:nvPr/>
        </p:nvSpPr>
        <p:spPr>
          <a:xfrm>
            <a:off x="3154680" y="4197096"/>
            <a:ext cx="237744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power-to-FB gain</a:t>
            </a:r>
            <a:endParaRPr lang="en-US" sz="900" dirty="0"/>
          </a:p>
        </p:txBody>
      </p:sp>
      <p:sp>
        <p:nvSpPr>
          <p:cNvPr id="13" name="Text 9"/>
          <p:cNvSpPr/>
          <p:nvPr/>
        </p:nvSpPr>
        <p:spPr>
          <a:xfrm>
            <a:off x="5623560" y="3703320"/>
            <a:ext cx="2834640" cy="502920"/>
          </a:xfrm>
          <a:prstGeom prst="rect">
            <a:avLst/>
          </a:prstGeom>
          <a:noFill/>
          <a:ln/>
        </p:spPr>
        <p:txBody>
          <a:bodyPr wrap="square" lIns="0" tIns="0" rIns="0" bIns="0" rtlCol="0" anchor="ctr"/>
          <a:lstStyle/>
          <a:p>
            <a:pPr algn="ctr" indent="0" marL="0">
              <a:buNone/>
            </a:pPr>
            <a:r>
              <a:rPr lang="en-US" sz="2800" b="1" dirty="0">
                <a:solidFill>
                  <a:srgbClr val="E6007E"/>
                </a:solidFill>
                <a:latin typeface="Arial" pitchFamily="34" charset="0"/>
                <a:ea typeface="Arial" pitchFamily="34" charset="-122"/>
                <a:cs typeface="Arial" pitchFamily="34" charset="-120"/>
              </a:rPr>
              <a:t>16.8 Ω·W</a:t>
            </a:r>
            <a:endParaRPr lang="en-US" sz="2800" dirty="0"/>
          </a:p>
        </p:txBody>
      </p:sp>
      <p:sp>
        <p:nvSpPr>
          <p:cNvPr id="14" name="Text 10"/>
          <p:cNvSpPr/>
          <p:nvPr/>
        </p:nvSpPr>
        <p:spPr>
          <a:xfrm>
            <a:off x="5623560" y="4197096"/>
            <a:ext cx="283464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RCS × Pᵢₙ,max</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1600200"/>
            <a:ext cx="5852160" cy="960120"/>
          </a:xfrm>
          <a:prstGeom prst="rect">
            <a:avLst/>
          </a:prstGeom>
          <a:solidFill>
            <a:srgbClr val="FFD200"/>
          </a:solidFill>
          <a:ln/>
        </p:spPr>
        <p:txBody>
          <a:bodyPr/>
          <a:p/>
        </p:txBody>
      </p:sp>
      <p:sp>
        <p:nvSpPr>
          <p:cNvPr id="3" name="Text 1"/>
          <p:cNvSpPr/>
          <p:nvPr/>
        </p:nvSpPr>
        <p:spPr>
          <a:xfrm>
            <a:off x="502920" y="1600200"/>
            <a:ext cx="5212080" cy="960120"/>
          </a:xfrm>
          <a:prstGeom prst="rect">
            <a:avLst/>
          </a:prstGeom>
          <a:noFill/>
          <a:ln/>
        </p:spPr>
        <p:txBody>
          <a:bodyPr wrap="square" lIns="0" tIns="0" rIns="0" bIns="0" rtlCol="0" anchor="ctr"/>
          <a:lstStyle/>
          <a:p>
            <a:pPr indent="0" marL="0">
              <a:buNone/>
            </a:pPr>
            <a:r>
              <a:rPr lang="en-US" sz="2600" b="1" dirty="0">
                <a:solidFill>
                  <a:srgbClr val="03234B"/>
                </a:solidFill>
                <a:latin typeface="Arial" pitchFamily="34" charset="0"/>
                <a:ea typeface="Arial" pitchFamily="34" charset="-122"/>
                <a:cs typeface="Arial" pitchFamily="34" charset="-120"/>
              </a:rPr>
              <a:t>The L6790A</a:t>
            </a:r>
            <a:endParaRPr lang="en-US" sz="2600" dirty="0"/>
          </a:p>
        </p:txBody>
      </p:sp>
      <p:sp>
        <p:nvSpPr>
          <p:cNvPr id="4" name="Text 2"/>
          <p:cNvSpPr/>
          <p:nvPr/>
        </p:nvSpPr>
        <p:spPr>
          <a:xfrm>
            <a:off x="502920" y="1143000"/>
            <a:ext cx="3657600" cy="320040"/>
          </a:xfrm>
          <a:prstGeom prst="rect">
            <a:avLst/>
          </a:prstGeom>
          <a:noFill/>
          <a:ln/>
        </p:spPr>
        <p:txBody>
          <a:bodyPr wrap="square" lIns="0" tIns="0" rIns="0" bIns="0" rtlCol="0" anchor="ctr"/>
          <a:lstStyle/>
          <a:p>
            <a:pPr indent="0" marL="0">
              <a:buNone/>
            </a:pPr>
            <a:r>
              <a:rPr lang="en-US" sz="1300" b="1" dirty="0">
                <a:solidFill>
                  <a:srgbClr val="FFD200"/>
                </a:solidFill>
                <a:latin typeface="Arial" pitchFamily="34" charset="0"/>
                <a:ea typeface="Arial" pitchFamily="34" charset="-122"/>
                <a:cs typeface="Arial" pitchFamily="34" charset="-120"/>
              </a:rPr>
              <a:t>PART 3</a:t>
            </a:r>
            <a:endParaRPr lang="en-US" sz="1300" dirty="0"/>
          </a:p>
        </p:txBody>
      </p:sp>
      <p:sp>
        <p:nvSpPr>
          <p:cNvPr id="5" name="Text 3"/>
          <p:cNvSpPr/>
          <p:nvPr/>
        </p:nvSpPr>
        <p:spPr>
          <a:xfrm>
            <a:off x="502920" y="2788920"/>
            <a:ext cx="7772400" cy="1097280"/>
          </a:xfrm>
          <a:prstGeom prst="rect">
            <a:avLst/>
          </a:prstGeom>
          <a:noFill/>
          <a:ln/>
        </p:spPr>
        <p:txBody>
          <a:bodyPr wrap="square" lIns="0" tIns="0" rIns="0" bIns="0" rtlCol="0" anchor="ctr"/>
          <a:lstStyle/>
          <a:p>
            <a:pPr indent="0" marL="0">
              <a:buNone/>
            </a:pPr>
            <a:r>
              <a:rPr lang="en-US" sz="1300" dirty="0">
                <a:solidFill>
                  <a:srgbClr val="C8D4E4"/>
                </a:solidFill>
                <a:latin typeface="Arial" pitchFamily="34" charset="0"/>
                <a:ea typeface="Arial" pitchFamily="34" charset="-122"/>
                <a:cs typeface="Arial" pitchFamily="34" charset="-120"/>
              </a:rPr>
              <a:t>An analog controller that runs an LLC tank directly from the rectified mains, with PF = 1 and a THD optimiser — plus a full protection set.</a:t>
            </a:r>
            <a:endParaRPr lang="en-US" sz="1300" dirty="0"/>
          </a:p>
        </p:txBody>
      </p:sp>
      <p:pic>
        <p:nvPicPr>
          <p:cNvPr id="6" name="Image 0" descr="logo/image1.png">    </p:cNvPr>
          <p:cNvPicPr>
            <a:picLocks noChangeAspect="1"/>
          </p:cNvPicPr>
          <p:nvPr/>
        </p:nvPicPr>
        <p:blipFill>
          <a:blip r:embed="rId1"/>
          <a:stretch>
            <a:fillRect/>
          </a:stretch>
        </p:blipFill>
        <p:spPr>
          <a:xfrm>
            <a:off x="274320" y="4576572"/>
            <a:ext cx="502920" cy="38404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L6790A at a glance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SO16N, 800 V start-up, logic-level outputs — external half-bridge drivers are mandatory</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566928"/>
                <a:gridCol w="868680"/>
                <a:gridCol w="6976872"/>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Pin</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Name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Function — and the rule you must not break</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1</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HVSU</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800 V start-up + mains sensing + X-cap discharge. Connect via two HV diodes AHEAD of the bridge, on the AC side.</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DRV_EN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Enables the external drivers; can also be pulled low to disable the IC. NO capacitor (sampled every 2 ms).</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6</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ISEN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Negative current sense. Feeds OCP1/OCP2, anti-capacitive detection, adaptive dead time AND the max-power law. NO filter, NO series resistor.</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7 / 8</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RT / CT</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Oscillator. RT 5–30 kΩ, CT 270–1000 pF, RT·CT 2.5–12 µs. No capacitor on RT.</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9</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FB</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Opto collector direct. This is the power command (previous slide).</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10</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BM</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Burst-mode threshold, read once at power-up (pin strap). Tie to GND to disable burst. No capacitor.</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11</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CFG</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Brown-out level AND bridge configuration, read at power-up. Outside 15–100 kΩ the IC latches. No capacitor.</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12</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ZCD</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Auxiliary winding divider: output voltage sensing, OVP1/OVP2, demagnetisation. Polarity: ZCD must go POSITIVE when LOUT1 is on.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13–16</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LOUTx / HOUTx</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Logic-level drive signals (VOH = 4 V). LOUT2 also selects half vs full bridge at start-up — never fit a pull-down.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Configuration is a pin strap</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RCFG plus the state of LOUT2 decide the whole operating scheme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1965960"/>
                <a:gridCol w="960120"/>
                <a:gridCol w="777240"/>
                <a:gridCol w="2606040"/>
                <a:gridCol w="210312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Configuration</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RCFG</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LOUT2</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Input peak voltage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Mode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Morphing, fixed BIBO</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15 kΩ</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&lt; 60 V / 70–235 V / &gt; 245 V</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stop / full bridge / half bridge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Morphing, adjusted BIBO</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15–47 kΩ</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&lt; VBO / VBO+10…235 V / &gt; 245 V</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stop / full bridge / half bridge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Fixed full bridge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47–100 kΩ</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OPEN</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&lt; VBO  /  &gt; VBO+10 V</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stop / full bridge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50" dirty="0">
                          <a:solidFill>
                            <a:srgbClr val="03234B"/>
                          </a:solidFill>
                          <a:latin typeface="Arial" pitchFamily="34" charset="0"/>
                          <a:ea typeface="Arial" pitchFamily="34" charset="-122"/>
                          <a:cs typeface="Arial" pitchFamily="34" charset="-120"/>
                        </a:rPr>
                        <a:t>Fixed half bridge</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15–100 kΩ</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GND</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&lt; VBO  /  &gt; VBO+10 V</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50" dirty="0">
                          <a:solidFill>
                            <a:srgbClr val="03234B"/>
                          </a:solidFill>
                          <a:latin typeface="Arial" pitchFamily="34" charset="0"/>
                          <a:ea typeface="Arial" pitchFamily="34" charset="-122"/>
                          <a:cs typeface="Arial" pitchFamily="34" charset="-120"/>
                        </a:rPr>
                        <a:t>stop / half bridge — SPLIT Cᵣ MANDATORY</a:t>
                      </a:r>
                      <a:endParaRPr lang="en-US" sz="9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
        <p:nvSpPr>
          <p:cNvPr id="7" name="Shape 3"/>
          <p:cNvSpPr/>
          <p:nvPr/>
        </p:nvSpPr>
        <p:spPr>
          <a:xfrm>
            <a:off x="460974" y="2926080"/>
            <a:ext cx="3924372" cy="576532"/>
          </a:xfrm>
          <a:prstGeom prst="roundRect">
            <a:avLst>
              <a:gd name="adj" fmla="val 6344"/>
            </a:avLst>
          </a:prstGeom>
          <a:solidFill>
            <a:srgbClr val="F2F5F9"/>
          </a:solidFill>
          <a:ln w="9525">
            <a:solidFill>
              <a:srgbClr val="E8E8E9"/>
            </a:solidFill>
            <a:prstDash val="solid"/>
          </a:ln>
        </p:spPr>
        <p:txBody>
          <a:bodyPr/>
          <a:p/>
        </p:txBody>
      </p:sp>
      <p:pic>
        <p:nvPicPr>
          <p:cNvPr id="8" name="Image 1" descr="eq/osc.png">    </p:cNvPr>
          <p:cNvPicPr>
            <a:picLocks noChangeAspect="1"/>
          </p:cNvPicPr>
          <p:nvPr/>
        </p:nvPicPr>
        <p:blipFill>
          <a:blip r:embed="rId2"/>
          <a:stretch>
            <a:fillRect/>
          </a:stretch>
        </p:blipFill>
        <p:spPr>
          <a:xfrm>
            <a:off x="561558" y="3026664"/>
            <a:ext cx="3723204" cy="375364"/>
          </a:xfrm>
          <a:prstGeom prst="rect">
            <a:avLst/>
          </a:prstGeom>
        </p:spPr>
      </p:pic>
      <p:sp>
        <p:nvSpPr>
          <p:cNvPr id="9" name="Text 4"/>
          <p:cNvSpPr/>
          <p:nvPr/>
        </p:nvSpPr>
        <p:spPr>
          <a:xfrm>
            <a:off x="365760" y="3639772"/>
            <a:ext cx="4114800" cy="640080"/>
          </a:xfrm>
          <a:prstGeom prst="rect">
            <a:avLst/>
          </a:prstGeom>
          <a:noFill/>
          <a:ln/>
        </p:spPr>
        <p:txBody>
          <a:bodyPr wrap="square" lIns="0" tIns="0" rIns="0" bIns="0" rtlCol="0" anchor="ctr"/>
          <a:lstStyle/>
          <a:p>
            <a:pPr indent="0" marL="0">
              <a:buNone/>
            </a:pPr>
            <a:r>
              <a:rPr lang="en-US" sz="1000" dirty="0">
                <a:solidFill>
                  <a:srgbClr val="E6007E"/>
                </a:solidFill>
                <a:latin typeface="Arial" pitchFamily="34" charset="0"/>
                <a:ea typeface="Arial" pitchFamily="34" charset="-122"/>
                <a:cs typeface="Arial" pitchFamily="34" charset="-120"/>
              </a:rPr>
              <a:t>VBO = RCFG × 4 V/kΩ.  The datasheet quotes it as a PEAK value while the design tool and the EVL board notes quote rms — a factor √2 waiting to bite.</a:t>
            </a:r>
            <a:endParaRPr lang="en-US" sz="1000" dirty="0"/>
          </a:p>
        </p:txBody>
      </p:sp>
      <p:sp>
        <p:nvSpPr>
          <p:cNvPr id="10" name="Shape 5"/>
          <p:cNvSpPr/>
          <p:nvPr/>
        </p:nvSpPr>
        <p:spPr>
          <a:xfrm>
            <a:off x="4709160" y="2926080"/>
            <a:ext cx="4069080" cy="868680"/>
          </a:xfrm>
          <a:prstGeom prst="roundRect">
            <a:avLst>
              <a:gd name="adj" fmla="val 5263"/>
            </a:avLst>
          </a:prstGeom>
          <a:solidFill>
            <a:srgbClr val="F5F7FA"/>
          </a:solidFill>
          <a:ln w="12700">
            <a:solidFill>
              <a:srgbClr val="03234B"/>
            </a:solidFill>
            <a:prstDash val="solid"/>
          </a:ln>
        </p:spPr>
        <p:txBody>
          <a:bodyPr/>
          <a:p/>
        </p:txBody>
      </p:sp>
      <p:sp>
        <p:nvSpPr>
          <p:cNvPr id="11" name="Text 6"/>
          <p:cNvSpPr/>
          <p:nvPr/>
        </p:nvSpPr>
        <p:spPr>
          <a:xfrm>
            <a:off x="4818888" y="3008376"/>
            <a:ext cx="3849624" cy="274320"/>
          </a:xfrm>
          <a:prstGeom prst="rect">
            <a:avLst/>
          </a:prstGeom>
          <a:noFill/>
          <a:ln/>
        </p:spPr>
        <p:txBody>
          <a:bodyPr wrap="square" lIns="0" tIns="0" rIns="0" bIns="0" rtlCol="0" anchor="ctr"/>
          <a:lstStyle/>
          <a:p>
            <a:pPr indent="0" marL="0">
              <a:buNone/>
            </a:pPr>
            <a:r>
              <a:rPr lang="en-US" sz="1150" b="1" dirty="0">
                <a:solidFill>
                  <a:srgbClr val="03234B"/>
                </a:solidFill>
                <a:latin typeface="Arial" pitchFamily="34" charset="0"/>
                <a:ea typeface="Arial" pitchFamily="34" charset="-122"/>
                <a:cs typeface="Arial" pitchFamily="34" charset="-120"/>
              </a:rPr>
              <a:t>The only actuator is IEA</a:t>
            </a:r>
            <a:endParaRPr lang="en-US" sz="1150" dirty="0"/>
          </a:p>
        </p:txBody>
      </p:sp>
      <p:sp>
        <p:nvSpPr>
          <p:cNvPr id="12" name="Text 7"/>
          <p:cNvSpPr/>
          <p:nvPr/>
        </p:nvSpPr>
        <p:spPr>
          <a:xfrm>
            <a:off x="4818888" y="3310128"/>
            <a:ext cx="3849624" cy="393192"/>
          </a:xfrm>
          <a:prstGeom prst="rect">
            <a:avLst/>
          </a:prstGeom>
          <a:noFill/>
          <a:ln/>
        </p:spPr>
        <p:txBody>
          <a:bodyPr wrap="square" lIns="0" tIns="0" rIns="0" bIns="0" rtlCol="0" anchor="t"/>
          <a:lstStyle/>
          <a:p>
            <a:pPr indent="0" marL="0">
              <a:buNone/>
            </a:pPr>
            <a:r>
              <a:rPr lang="en-US" sz="950" dirty="0">
                <a:solidFill>
                  <a:srgbClr val="464650"/>
                </a:solidFill>
                <a:latin typeface="Arial" pitchFamily="34" charset="0"/>
                <a:ea typeface="Arial" pitchFamily="34" charset="-122"/>
                <a:cs typeface="Arial" pitchFamily="34" charset="-120"/>
              </a:rPr>
              <a:t>The error amplifier current adds to the CT charging current. More current → higher frequency → LESS power. Everything else in the oscillator is fixed by RT, CT and Tidle.</a:t>
            </a:r>
            <a:endParaRPr lang="en-US" sz="1000" dirty="0"/>
          </a:p>
        </p:txBody>
      </p:sp>
      <p:sp>
        <p:nvSpPr>
          <p:cNvPr id="13" name="Shape 8"/>
          <p:cNvSpPr/>
          <p:nvPr/>
        </p:nvSpPr>
        <p:spPr>
          <a:xfrm>
            <a:off x="4709160" y="3931920"/>
            <a:ext cx="4069080" cy="868680"/>
          </a:xfrm>
          <a:prstGeom prst="roundRect">
            <a:avLst>
              <a:gd name="adj" fmla="val 5263"/>
            </a:avLst>
          </a:prstGeom>
          <a:solidFill>
            <a:srgbClr val="F5F7FA"/>
          </a:solidFill>
          <a:ln w="12700">
            <a:solidFill>
              <a:srgbClr val="E6007E"/>
            </a:solidFill>
            <a:prstDash val="solid"/>
          </a:ln>
        </p:spPr>
        <p:txBody>
          <a:bodyPr/>
          <a:p/>
        </p:txBody>
      </p:sp>
      <p:sp>
        <p:nvSpPr>
          <p:cNvPr id="14" name="Text 9"/>
          <p:cNvSpPr/>
          <p:nvPr/>
        </p:nvSpPr>
        <p:spPr>
          <a:xfrm>
            <a:off x="4818888" y="4014216"/>
            <a:ext cx="384962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Watch Tidle</a:t>
            </a:r>
            <a:endParaRPr lang="en-US" sz="1150" dirty="0"/>
          </a:p>
        </p:txBody>
      </p:sp>
      <p:sp>
        <p:nvSpPr>
          <p:cNvPr id="15" name="Text 10"/>
          <p:cNvSpPr/>
          <p:nvPr/>
        </p:nvSpPr>
        <p:spPr>
          <a:xfrm>
            <a:off x="4818888" y="4315968"/>
            <a:ext cx="3849624" cy="393192"/>
          </a:xfrm>
          <a:prstGeom prst="rect">
            <a:avLst/>
          </a:prstGeom>
          <a:noFill/>
          <a:ln/>
        </p:spPr>
        <p:txBody>
          <a:bodyPr wrap="square" lIns="0" tIns="0" rIns="0" bIns="0" rtlCol="0" anchor="t"/>
          <a:lstStyle/>
          <a:p>
            <a:pPr indent="0" marL="0">
              <a:buNone/>
            </a:pPr>
            <a:r>
              <a:rPr lang="en-US" sz="950" dirty="0">
                <a:solidFill>
                  <a:srgbClr val="464650"/>
                </a:solidFill>
                <a:latin typeface="Arial" pitchFamily="34" charset="0"/>
                <a:ea typeface="Arial" pitchFamily="34" charset="-122"/>
                <a:cs typeface="Arial" pitchFamily="34" charset="-120"/>
              </a:rPr>
              <a:t>The datasheet is self-contradictory: 250, 350 or 700 ns depending on where you read. fMax swings by ±25 %. Keep it as a variable and measure it on the first board.</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Protections</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Two levels almost everywhere, so a fault degrades before it stops the converter</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65760" y="1143000"/>
            <a:ext cx="4114800" cy="822960"/>
          </a:xfrm>
          <a:prstGeom prst="roundRect">
            <a:avLst>
              <a:gd name="adj" fmla="val 5556"/>
            </a:avLst>
          </a:prstGeom>
          <a:solidFill>
            <a:srgbClr val="F5F7FA"/>
          </a:solidFill>
          <a:ln w="12700">
            <a:solidFill>
              <a:srgbClr val="E6007E"/>
            </a:solidFill>
            <a:prstDash val="solid"/>
          </a:ln>
        </p:spPr>
        <p:txBody>
          <a:bodyPr/>
          <a:p/>
        </p:txBody>
      </p:sp>
      <p:sp>
        <p:nvSpPr>
          <p:cNvPr id="7" name="Text 4"/>
          <p:cNvSpPr/>
          <p:nvPr/>
        </p:nvSpPr>
        <p:spPr>
          <a:xfrm>
            <a:off x="475488" y="1225296"/>
            <a:ext cx="389534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OCP1 / OCP2</a:t>
            </a:r>
            <a:endParaRPr lang="en-US" sz="1150" dirty="0"/>
          </a:p>
        </p:txBody>
      </p:sp>
      <p:sp>
        <p:nvSpPr>
          <p:cNvPr id="8" name="Text 5"/>
          <p:cNvSpPr/>
          <p:nvPr/>
        </p:nvSpPr>
        <p:spPr>
          <a:xfrm>
            <a:off x="475488" y="1527048"/>
            <a:ext cx="3895344" cy="424271"/>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−550 mV / −750 mV on ISEN. Level 1 raises the frequency (folds power back); level 2 stops for 50 µs then restarts at the start-up frequency.</a:t>
            </a:r>
            <a:endParaRPr lang="en-US" sz="1000" dirty="0"/>
          </a:p>
        </p:txBody>
      </p:sp>
      <p:sp>
        <p:nvSpPr>
          <p:cNvPr id="9" name="Shape 6"/>
          <p:cNvSpPr/>
          <p:nvPr/>
        </p:nvSpPr>
        <p:spPr>
          <a:xfrm>
            <a:off x="4663440" y="1143000"/>
            <a:ext cx="4114800" cy="822960"/>
          </a:xfrm>
          <a:prstGeom prst="roundRect">
            <a:avLst>
              <a:gd name="adj" fmla="val 5556"/>
            </a:avLst>
          </a:prstGeom>
          <a:solidFill>
            <a:srgbClr val="F5F7FA"/>
          </a:solidFill>
          <a:ln w="12700">
            <a:solidFill>
              <a:srgbClr val="E6007E"/>
            </a:solidFill>
            <a:prstDash val="solid"/>
          </a:ln>
        </p:spPr>
        <p:txBody>
          <a:bodyPr/>
          <a:p/>
        </p:txBody>
      </p:sp>
      <p:sp>
        <p:nvSpPr>
          <p:cNvPr id="10" name="Text 7"/>
          <p:cNvSpPr/>
          <p:nvPr/>
        </p:nvSpPr>
        <p:spPr>
          <a:xfrm>
            <a:off x="4773168" y="1225296"/>
            <a:ext cx="389534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ACP soft / hard</a:t>
            </a:r>
            <a:endParaRPr lang="en-US" sz="1150" dirty="0"/>
          </a:p>
        </p:txBody>
      </p:sp>
      <p:sp>
        <p:nvSpPr>
          <p:cNvPr id="11" name="Text 8"/>
          <p:cNvSpPr/>
          <p:nvPr/>
        </p:nvSpPr>
        <p:spPr>
          <a:xfrm>
            <a:off x="4773168" y="1527048"/>
            <a:ext cx="3895344" cy="424271"/>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Anti-capacitive. Soft raises the frequency; hard stops for 50 µs. This is what keeps the tank out of the capacitive region.</a:t>
            </a:r>
            <a:endParaRPr lang="en-US" sz="1000" dirty="0"/>
          </a:p>
        </p:txBody>
      </p:sp>
      <p:sp>
        <p:nvSpPr>
          <p:cNvPr id="12" name="Shape 9"/>
          <p:cNvSpPr/>
          <p:nvPr/>
        </p:nvSpPr>
        <p:spPr>
          <a:xfrm>
            <a:off x="365760" y="2048256"/>
            <a:ext cx="4114800" cy="822960"/>
          </a:xfrm>
          <a:prstGeom prst="roundRect">
            <a:avLst>
              <a:gd name="adj" fmla="val 5556"/>
            </a:avLst>
          </a:prstGeom>
          <a:solidFill>
            <a:srgbClr val="F5F7FA"/>
          </a:solidFill>
          <a:ln w="12700">
            <a:solidFill>
              <a:srgbClr val="3CB4E6"/>
            </a:solidFill>
            <a:prstDash val="solid"/>
          </a:ln>
        </p:spPr>
        <p:txBody>
          <a:bodyPr/>
          <a:p/>
        </p:txBody>
      </p:sp>
      <p:sp>
        <p:nvSpPr>
          <p:cNvPr id="13" name="Text 10"/>
          <p:cNvSpPr/>
          <p:nvPr/>
        </p:nvSpPr>
        <p:spPr>
          <a:xfrm>
            <a:off x="475488" y="2130552"/>
            <a:ext cx="38953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OVP1 / OVP2</a:t>
            </a:r>
            <a:endParaRPr lang="en-US" sz="1150" dirty="0"/>
          </a:p>
        </p:txBody>
      </p:sp>
      <p:sp>
        <p:nvSpPr>
          <p:cNvPr id="14" name="Text 11"/>
          <p:cNvSpPr/>
          <p:nvPr/>
        </p:nvSpPr>
        <p:spPr>
          <a:xfrm>
            <a:off x="475488" y="2432304"/>
            <a:ext cx="3895344" cy="424271"/>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2.3 V / 2.5 V on ZCD. Level 1 keeps switching with reduced power; level 2 stops for 100 ms and restarts with safe start.</a:t>
            </a:r>
            <a:endParaRPr lang="en-US" sz="1000" dirty="0"/>
          </a:p>
        </p:txBody>
      </p:sp>
      <p:sp>
        <p:nvSpPr>
          <p:cNvPr id="15" name="Shape 12"/>
          <p:cNvSpPr/>
          <p:nvPr/>
        </p:nvSpPr>
        <p:spPr>
          <a:xfrm>
            <a:off x="4663440" y="2048256"/>
            <a:ext cx="4114800" cy="822960"/>
          </a:xfrm>
          <a:prstGeom prst="roundRect">
            <a:avLst>
              <a:gd name="adj" fmla="val 5556"/>
            </a:avLst>
          </a:prstGeom>
          <a:solidFill>
            <a:srgbClr val="F5F7FA"/>
          </a:solidFill>
          <a:ln w="12700">
            <a:solidFill>
              <a:srgbClr val="3CB4E6"/>
            </a:solidFill>
            <a:prstDash val="solid"/>
          </a:ln>
        </p:spPr>
        <p:txBody>
          <a:bodyPr/>
          <a:p/>
        </p:txBody>
      </p:sp>
      <p:sp>
        <p:nvSpPr>
          <p:cNvPr id="16" name="Text 13"/>
          <p:cNvSpPr/>
          <p:nvPr/>
        </p:nvSpPr>
        <p:spPr>
          <a:xfrm>
            <a:off x="4773168" y="2130552"/>
            <a:ext cx="38953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Brown-out / brown-in</a:t>
            </a:r>
            <a:endParaRPr lang="en-US" sz="1150" dirty="0"/>
          </a:p>
        </p:txBody>
      </p:sp>
      <p:sp>
        <p:nvSpPr>
          <p:cNvPr id="17" name="Text 14"/>
          <p:cNvSpPr/>
          <p:nvPr/>
        </p:nvSpPr>
        <p:spPr>
          <a:xfrm>
            <a:off x="4773168" y="2432304"/>
            <a:ext cx="3895344" cy="3474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40 ms debounce, 500 µs deglitch. Threshold set by RCFG.</a:t>
            </a:r>
            <a:endParaRPr lang="en-US" sz="1000" dirty="0"/>
          </a:p>
        </p:txBody>
      </p:sp>
      <p:sp>
        <p:nvSpPr>
          <p:cNvPr id="18" name="Shape 15"/>
          <p:cNvSpPr/>
          <p:nvPr/>
        </p:nvSpPr>
        <p:spPr>
          <a:xfrm>
            <a:off x="365760" y="2953512"/>
            <a:ext cx="4114800" cy="822960"/>
          </a:xfrm>
          <a:prstGeom prst="roundRect">
            <a:avLst>
              <a:gd name="adj" fmla="val 5556"/>
            </a:avLst>
          </a:prstGeom>
          <a:solidFill>
            <a:srgbClr val="F5F7FA"/>
          </a:solidFill>
          <a:ln w="12700">
            <a:solidFill>
              <a:srgbClr val="49B170"/>
            </a:solidFill>
            <a:prstDash val="solid"/>
          </a:ln>
        </p:spPr>
        <p:txBody>
          <a:bodyPr/>
          <a:p/>
        </p:txBody>
      </p:sp>
      <p:sp>
        <p:nvSpPr>
          <p:cNvPr id="19" name="Text 16"/>
          <p:cNvSpPr/>
          <p:nvPr/>
        </p:nvSpPr>
        <p:spPr>
          <a:xfrm>
            <a:off x="475488" y="3035808"/>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Safe start / demag</a:t>
            </a:r>
            <a:endParaRPr lang="en-US" sz="1150" dirty="0"/>
          </a:p>
        </p:txBody>
      </p:sp>
      <p:sp>
        <p:nvSpPr>
          <p:cNvPr id="20" name="Text 17"/>
          <p:cNvSpPr/>
          <p:nvPr/>
        </p:nvSpPr>
        <p:spPr>
          <a:xfrm>
            <a:off x="475488" y="3337560"/>
            <a:ext cx="3895344" cy="3474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Pulse and dead-time shaping during the first cycles so the bridge never hard-switches at start-up.</a:t>
            </a:r>
            <a:endParaRPr lang="en-US" sz="1000" dirty="0"/>
          </a:p>
        </p:txBody>
      </p:sp>
      <p:sp>
        <p:nvSpPr>
          <p:cNvPr id="21" name="Shape 18"/>
          <p:cNvSpPr/>
          <p:nvPr/>
        </p:nvSpPr>
        <p:spPr>
          <a:xfrm>
            <a:off x="4663440" y="2953512"/>
            <a:ext cx="4114800" cy="822960"/>
          </a:xfrm>
          <a:prstGeom prst="roundRect">
            <a:avLst>
              <a:gd name="adj" fmla="val 5556"/>
            </a:avLst>
          </a:prstGeom>
          <a:solidFill>
            <a:srgbClr val="F5F7FA"/>
          </a:solidFill>
          <a:ln w="12700">
            <a:solidFill>
              <a:srgbClr val="49B170"/>
            </a:solidFill>
            <a:prstDash val="solid"/>
          </a:ln>
        </p:spPr>
        <p:txBody>
          <a:bodyPr/>
          <a:p/>
        </p:txBody>
      </p:sp>
      <p:sp>
        <p:nvSpPr>
          <p:cNvPr id="22" name="Text 19"/>
          <p:cNvSpPr/>
          <p:nvPr/>
        </p:nvSpPr>
        <p:spPr>
          <a:xfrm>
            <a:off x="4773168" y="3035808"/>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X-cap discharge</a:t>
            </a:r>
            <a:endParaRPr lang="en-US" sz="1150" dirty="0"/>
          </a:p>
        </p:txBody>
      </p:sp>
      <p:sp>
        <p:nvSpPr>
          <p:cNvPr id="23" name="Text 20"/>
          <p:cNvSpPr/>
          <p:nvPr/>
        </p:nvSpPr>
        <p:spPr>
          <a:xfrm>
            <a:off x="4773168" y="3337560"/>
            <a:ext cx="3895344" cy="3474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Discharges the EMI filter capacitors to a safe level when the mains is unplugged. Needs HVSU on the AC side.</a:t>
            </a:r>
            <a:endParaRPr lang="en-US" sz="1000" dirty="0"/>
          </a:p>
        </p:txBody>
      </p:sp>
      <p:sp>
        <p:nvSpPr>
          <p:cNvPr id="24" name="Shape 21"/>
          <p:cNvSpPr/>
          <p:nvPr/>
        </p:nvSpPr>
        <p:spPr>
          <a:xfrm>
            <a:off x="365760" y="3858768"/>
            <a:ext cx="4114800" cy="822960"/>
          </a:xfrm>
          <a:prstGeom prst="roundRect">
            <a:avLst>
              <a:gd name="adj" fmla="val 5556"/>
            </a:avLst>
          </a:prstGeom>
          <a:solidFill>
            <a:srgbClr val="F5F7FA"/>
          </a:solidFill>
          <a:ln w="12700">
            <a:solidFill>
              <a:srgbClr val="03234B"/>
            </a:solidFill>
            <a:prstDash val="solid"/>
          </a:ln>
        </p:spPr>
        <p:txBody>
          <a:bodyPr/>
          <a:p/>
        </p:txBody>
      </p:sp>
      <p:sp>
        <p:nvSpPr>
          <p:cNvPr id="25" name="Text 22"/>
          <p:cNvSpPr/>
          <p:nvPr/>
        </p:nvSpPr>
        <p:spPr>
          <a:xfrm>
            <a:off x="475488" y="3941064"/>
            <a:ext cx="3895344" cy="274320"/>
          </a:xfrm>
          <a:prstGeom prst="rect">
            <a:avLst/>
          </a:prstGeom>
          <a:noFill/>
          <a:ln/>
        </p:spPr>
        <p:txBody>
          <a:bodyPr wrap="square" lIns="0" tIns="0" rIns="0" bIns="0" rtlCol="0" anchor="ctr"/>
          <a:lstStyle/>
          <a:p>
            <a:pPr indent="0" marL="0">
              <a:buNone/>
            </a:pPr>
            <a:r>
              <a:rPr lang="en-US" sz="1150" b="1" dirty="0">
                <a:solidFill>
                  <a:srgbClr val="03234B"/>
                </a:solidFill>
                <a:latin typeface="Arial" pitchFamily="34" charset="0"/>
                <a:ea typeface="Arial" pitchFamily="34" charset="-122"/>
                <a:cs typeface="Arial" pitchFamily="34" charset="-120"/>
              </a:rPr>
              <a:t>FB / ZCD / ISEN open</a:t>
            </a:r>
            <a:endParaRPr lang="en-US" sz="1150" dirty="0"/>
          </a:p>
        </p:txBody>
      </p:sp>
      <p:sp>
        <p:nvSpPr>
          <p:cNvPr id="26" name="Text 23"/>
          <p:cNvSpPr/>
          <p:nvPr/>
        </p:nvSpPr>
        <p:spPr>
          <a:xfrm>
            <a:off x="475488" y="4242816"/>
            <a:ext cx="3895344" cy="3474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1 s time-out on FB, 14 ms on ZCD, 7 cycles on ISEN — the last two latch.</a:t>
            </a:r>
            <a:endParaRPr lang="en-US" sz="1000" dirty="0"/>
          </a:p>
        </p:txBody>
      </p:sp>
      <p:sp>
        <p:nvSpPr>
          <p:cNvPr id="27" name="Shape 24"/>
          <p:cNvSpPr/>
          <p:nvPr/>
        </p:nvSpPr>
        <p:spPr>
          <a:xfrm>
            <a:off x="4663440" y="3858768"/>
            <a:ext cx="4114800" cy="822960"/>
          </a:xfrm>
          <a:prstGeom prst="roundRect">
            <a:avLst>
              <a:gd name="adj" fmla="val 5556"/>
            </a:avLst>
          </a:prstGeom>
          <a:solidFill>
            <a:srgbClr val="F5F7FA"/>
          </a:solidFill>
          <a:ln w="12700">
            <a:solidFill>
              <a:srgbClr val="03234B"/>
            </a:solidFill>
            <a:prstDash val="solid"/>
          </a:ln>
        </p:spPr>
        <p:txBody>
          <a:bodyPr/>
          <a:p/>
        </p:txBody>
      </p:sp>
      <p:sp>
        <p:nvSpPr>
          <p:cNvPr id="28" name="Text 25"/>
          <p:cNvSpPr/>
          <p:nvPr/>
        </p:nvSpPr>
        <p:spPr>
          <a:xfrm>
            <a:off x="4773168" y="3941064"/>
            <a:ext cx="3895344" cy="274320"/>
          </a:xfrm>
          <a:prstGeom prst="rect">
            <a:avLst/>
          </a:prstGeom>
          <a:noFill/>
          <a:ln/>
        </p:spPr>
        <p:txBody>
          <a:bodyPr wrap="square" lIns="0" tIns="0" rIns="0" bIns="0" rtlCol="0" anchor="ctr"/>
          <a:lstStyle/>
          <a:p>
            <a:pPr indent="0" marL="0">
              <a:buNone/>
            </a:pPr>
            <a:r>
              <a:rPr lang="en-US" sz="1150" b="1" dirty="0">
                <a:solidFill>
                  <a:srgbClr val="03234B"/>
                </a:solidFill>
                <a:latin typeface="Arial" pitchFamily="34" charset="0"/>
                <a:ea typeface="Arial" pitchFamily="34" charset="-122"/>
                <a:cs typeface="Arial" pitchFamily="34" charset="-120"/>
              </a:rPr>
              <a:t>Over-temperature</a:t>
            </a:r>
            <a:endParaRPr lang="en-US" sz="1150" dirty="0"/>
          </a:p>
        </p:txBody>
      </p:sp>
      <p:sp>
        <p:nvSpPr>
          <p:cNvPr id="29" name="Text 26"/>
          <p:cNvSpPr/>
          <p:nvPr/>
        </p:nvSpPr>
        <p:spPr>
          <a:xfrm>
            <a:off x="4773168" y="4242816"/>
            <a:ext cx="3895344" cy="3474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HVSU charge current is reduced until the junction cools.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2">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1600200"/>
            <a:ext cx="5852160" cy="960120"/>
          </a:xfrm>
          <a:prstGeom prst="rect">
            <a:avLst/>
          </a:prstGeom>
          <a:solidFill>
            <a:srgbClr val="FFD200"/>
          </a:solidFill>
          <a:ln/>
        </p:spPr>
        <p:txBody>
          <a:bodyPr/>
          <a:p/>
        </p:txBody>
      </p:sp>
      <p:sp>
        <p:nvSpPr>
          <p:cNvPr id="3" name="Text 1"/>
          <p:cNvSpPr/>
          <p:nvPr/>
        </p:nvSpPr>
        <p:spPr>
          <a:xfrm>
            <a:off x="502920" y="1600200"/>
            <a:ext cx="5212080" cy="960120"/>
          </a:xfrm>
          <a:prstGeom prst="rect">
            <a:avLst/>
          </a:prstGeom>
          <a:noFill/>
          <a:ln/>
        </p:spPr>
        <p:txBody>
          <a:bodyPr wrap="square" lIns="0" tIns="0" rIns="0" bIns="0" rtlCol="0" anchor="ctr"/>
          <a:lstStyle/>
          <a:p>
            <a:pPr indent="0" marL="0">
              <a:buNone/>
            </a:pPr>
            <a:r>
              <a:rPr lang="en-US" sz="2600" b="1" dirty="0">
                <a:solidFill>
                  <a:srgbClr val="03234B"/>
                </a:solidFill>
                <a:latin typeface="Arial" pitchFamily="34" charset="0"/>
                <a:ea typeface="Arial" pitchFamily="34" charset="-122"/>
                <a:cs typeface="Arial" pitchFamily="34" charset="-120"/>
              </a:rPr>
              <a:t>Side by side</a:t>
            </a:r>
            <a:endParaRPr lang="en-US" sz="2600" dirty="0"/>
          </a:p>
        </p:txBody>
      </p:sp>
      <p:sp>
        <p:nvSpPr>
          <p:cNvPr id="4" name="Text 2"/>
          <p:cNvSpPr/>
          <p:nvPr/>
        </p:nvSpPr>
        <p:spPr>
          <a:xfrm>
            <a:off x="502920" y="1143000"/>
            <a:ext cx="3657600" cy="320040"/>
          </a:xfrm>
          <a:prstGeom prst="rect">
            <a:avLst/>
          </a:prstGeom>
          <a:noFill/>
          <a:ln/>
        </p:spPr>
        <p:txBody>
          <a:bodyPr wrap="square" lIns="0" tIns="0" rIns="0" bIns="0" rtlCol="0" anchor="ctr"/>
          <a:lstStyle/>
          <a:p>
            <a:pPr indent="0" marL="0">
              <a:buNone/>
            </a:pPr>
            <a:r>
              <a:rPr lang="en-US" sz="1300" b="1" dirty="0">
                <a:solidFill>
                  <a:srgbClr val="FFD200"/>
                </a:solidFill>
                <a:latin typeface="Arial" pitchFamily="34" charset="0"/>
                <a:ea typeface="Arial" pitchFamily="34" charset="-122"/>
                <a:cs typeface="Arial" pitchFamily="34" charset="-120"/>
              </a:rPr>
              <a:t>PART 4</a:t>
            </a:r>
            <a:endParaRPr lang="en-US" sz="1300" dirty="0"/>
          </a:p>
        </p:txBody>
      </p:sp>
      <p:sp>
        <p:nvSpPr>
          <p:cNvPr id="5" name="Text 3"/>
          <p:cNvSpPr/>
          <p:nvPr/>
        </p:nvSpPr>
        <p:spPr>
          <a:xfrm>
            <a:off x="502920" y="2788920"/>
            <a:ext cx="7772400" cy="1097280"/>
          </a:xfrm>
          <a:prstGeom prst="rect">
            <a:avLst/>
          </a:prstGeom>
          <a:noFill/>
          <a:ln/>
        </p:spPr>
        <p:txBody>
          <a:bodyPr wrap="square" lIns="0" tIns="0" rIns="0" bIns="0" rtlCol="0" anchor="ctr"/>
          <a:lstStyle/>
          <a:p>
            <a:pPr indent="0" marL="0">
              <a:buNone/>
            </a:pPr>
            <a:r>
              <a:rPr lang="en-US" sz="1300" dirty="0">
                <a:solidFill>
                  <a:srgbClr val="C8D4E4"/>
                </a:solidFill>
                <a:latin typeface="Arial" pitchFamily="34" charset="0"/>
                <a:ea typeface="Arial" pitchFamily="34" charset="-122"/>
                <a:cs typeface="Arial" pitchFamily="34" charset="-120"/>
              </a:rPr>
              <a:t>The same eleven design steps — and every place where the single-stage answer is different.</a:t>
            </a:r>
            <a:endParaRPr lang="en-US" sz="1300" dirty="0"/>
          </a:p>
        </p:txBody>
      </p:sp>
      <p:pic>
        <p:nvPicPr>
          <p:cNvPr id="6" name="Image 0" descr="logo/image1.png">    </p:cNvPr>
          <p:cNvPicPr>
            <a:picLocks noChangeAspect="1"/>
          </p:cNvPicPr>
          <p:nvPr/>
        </p:nvPicPr>
        <p:blipFill>
          <a:blip r:embed="rId1"/>
          <a:stretch>
            <a:fillRect/>
          </a:stretch>
        </p:blipFill>
        <p:spPr>
          <a:xfrm>
            <a:off x="274320" y="4576572"/>
            <a:ext cx="502920" cy="38404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Classic LLC vs single-stage PF LLC</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Read this table twice. It is the whole point of the deck.</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1737360"/>
                <a:gridCol w="3246120"/>
                <a:gridCol w="342900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Topic</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Classic LLC (behind a PFC)</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Single-stage PF LLC (L6790A)</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Input to the tank</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pre-regulated 380–400 Vdc, nearly constant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rectified mains |v_ac(θ)|, 0 → 373 V, every 10 ms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What frequency controls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the OUTPUT VOLTAGE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the INPUT POWER — the voltage gain is forced</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Design corner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full load, minimum bus (hold-up)</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the two MORPHING EDGES: 173.2 and 332.3 Vac equivalent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m = Lp/Lr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3 … 8</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2.9  (λ ≈ 0.5, i.e. Lm ≈ 2 Lr)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Rac definition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8n²Vₒ²/(π²Pₒ)</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4n²Vo,eff²/(π²Pᵢₙ)  — defined at the LINE-PEAK power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Operating region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mostly at or just above fᵣ</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mostly BELOW fᵣ; converges to fₒ at the zero crossing</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Circulating current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moderate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large — the price of λ ≈ 0.5</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Bulk storage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400 V electrolytic bank at the input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moved to the OUTPUT; carries the full 2fl ripple current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Output ripple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tens of mV</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a few % of Vₒᵤₜ at 100/120 Hz, by design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Voltage-loop crossing</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kHz range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~20 Hz — limited by the 3rd-harmonic (THD) budget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Burst mode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optional, for light-load efficiency</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structural: below ~28 % load there is no continuous solution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Why λ has to be about 0.5</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The classic rule of thumb will simply not start at low line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Text 3"/>
          <p:cNvSpPr/>
          <p:nvPr/>
        </p:nvSpPr>
        <p:spPr>
          <a:xfrm>
            <a:off x="365760" y="1143000"/>
            <a:ext cx="8412480" cy="274320"/>
          </a:xfrm>
          <a:prstGeom prst="rect">
            <a:avLst/>
          </a:prstGeom>
          <a:noFill/>
          <a:ln/>
        </p:spPr>
        <p:txBody>
          <a:bodyPr wrap="square" lIns="0" tIns="0" rIns="0" bIns="0" rtlCol="0" anchor="ctr"/>
          <a:lstStyle/>
          <a:p>
            <a:pPr indent="0" marL="0">
              <a:buNone/>
            </a:pPr>
            <a:r>
              <a:rPr lang="en-US" sz="1150" dirty="0">
                <a:solidFill>
                  <a:srgbClr val="03234B"/>
                </a:solidFill>
                <a:latin typeface="Arial" pitchFamily="34" charset="0"/>
                <a:ea typeface="Arial" pitchFamily="34" charset="-122"/>
                <a:cs typeface="Arial" pitchFamily="34" charset="-120"/>
              </a:rPr>
              <a:t>Four independent conditions each put a FLOOR under λ. You take the largest.</a:t>
            </a:r>
            <a:endParaRPr lang="en-US" sz="1150" dirty="0"/>
          </a:p>
        </p:txBody>
      </p:sp>
      <p:sp>
        <p:nvSpPr>
          <p:cNvPr id="7" name="Text 4"/>
          <p:cNvSpPr/>
          <p:nvPr/>
        </p:nvSpPr>
        <p:spPr>
          <a:xfrm>
            <a:off x="365760" y="1472184"/>
            <a:ext cx="4114800" cy="237744"/>
          </a:xfrm>
          <a:prstGeom prst="rect">
            <a:avLst/>
          </a:prstGeom>
          <a:noFill/>
          <a:ln/>
        </p:spPr>
        <p:txBody>
          <a:bodyPr wrap="square" lIns="0" tIns="0" rIns="0" bIns="0" rtlCol="0" anchor="ctr"/>
          <a:lstStyle/>
          <a:p>
            <a:pPr indent="0" marL="0">
              <a:buNone/>
            </a:pPr>
            <a:r>
              <a:rPr lang="en-US" sz="950" b="1" dirty="0">
                <a:solidFill>
                  <a:srgbClr val="464650"/>
                </a:solidFill>
                <a:latin typeface="Arial" pitchFamily="34" charset="0"/>
                <a:ea typeface="Arial" pitchFamily="34" charset="-122"/>
                <a:cs typeface="Arial" pitchFamily="34" charset="-120"/>
              </a:rPr>
              <a:t>minimum gain at high line</a:t>
            </a:r>
            <a:endParaRPr lang="en-US" sz="950" dirty="0"/>
          </a:p>
        </p:txBody>
      </p:sp>
      <p:sp>
        <p:nvSpPr>
          <p:cNvPr id="8" name="Shape 5"/>
          <p:cNvSpPr/>
          <p:nvPr/>
        </p:nvSpPr>
        <p:spPr>
          <a:xfrm>
            <a:off x="1007788" y="1728216"/>
            <a:ext cx="2830744" cy="570445"/>
          </a:xfrm>
          <a:prstGeom prst="roundRect">
            <a:avLst>
              <a:gd name="adj" fmla="val 6412"/>
            </a:avLst>
          </a:prstGeom>
          <a:solidFill>
            <a:srgbClr val="F2F5F9"/>
          </a:solidFill>
          <a:ln w="9525">
            <a:solidFill>
              <a:srgbClr val="E8E8E9"/>
            </a:solidFill>
            <a:prstDash val="solid"/>
          </a:ln>
        </p:spPr>
        <p:txBody>
          <a:bodyPr/>
          <a:p/>
        </p:txBody>
      </p:sp>
      <p:pic>
        <p:nvPicPr>
          <p:cNvPr id="9" name="Image 1" descr="eq/lam_min1.png">    </p:cNvPr>
          <p:cNvPicPr>
            <a:picLocks noChangeAspect="1"/>
          </p:cNvPicPr>
          <p:nvPr/>
        </p:nvPicPr>
        <p:blipFill>
          <a:blip r:embed="rId2"/>
          <a:stretch>
            <a:fillRect/>
          </a:stretch>
        </p:blipFill>
        <p:spPr>
          <a:xfrm>
            <a:off x="1108372" y="1828800"/>
            <a:ext cx="2629576" cy="369277"/>
          </a:xfrm>
          <a:prstGeom prst="rect">
            <a:avLst/>
          </a:prstGeom>
        </p:spPr>
      </p:pic>
      <p:sp>
        <p:nvSpPr>
          <p:cNvPr id="10" name="Text 6"/>
          <p:cNvSpPr/>
          <p:nvPr/>
        </p:nvSpPr>
        <p:spPr>
          <a:xfrm>
            <a:off x="4663440" y="1472184"/>
            <a:ext cx="4114800" cy="237744"/>
          </a:xfrm>
          <a:prstGeom prst="rect">
            <a:avLst/>
          </a:prstGeom>
          <a:noFill/>
          <a:ln/>
        </p:spPr>
        <p:txBody>
          <a:bodyPr wrap="square" lIns="0" tIns="0" rIns="0" bIns="0" rtlCol="0" anchor="ctr"/>
          <a:lstStyle/>
          <a:p>
            <a:pPr indent="0" marL="0">
              <a:buNone/>
            </a:pPr>
            <a:r>
              <a:rPr lang="en-US" sz="950" b="1" dirty="0">
                <a:solidFill>
                  <a:srgbClr val="464650"/>
                </a:solidFill>
                <a:latin typeface="Arial" pitchFamily="34" charset="0"/>
                <a:ea typeface="Arial" pitchFamily="34" charset="-122"/>
                <a:cs typeface="Arial" pitchFamily="34" charset="-120"/>
              </a:rPr>
              <a:t>maximum frequency</a:t>
            </a:r>
            <a:endParaRPr lang="en-US" sz="950" dirty="0"/>
          </a:p>
        </p:txBody>
      </p:sp>
      <p:sp>
        <p:nvSpPr>
          <p:cNvPr id="11" name="Shape 7"/>
          <p:cNvSpPr/>
          <p:nvPr/>
        </p:nvSpPr>
        <p:spPr>
          <a:xfrm>
            <a:off x="5262859" y="1728216"/>
            <a:ext cx="2915962" cy="619141"/>
          </a:xfrm>
          <a:prstGeom prst="roundRect">
            <a:avLst>
              <a:gd name="adj" fmla="val 5908"/>
            </a:avLst>
          </a:prstGeom>
          <a:solidFill>
            <a:srgbClr val="F2F5F9"/>
          </a:solidFill>
          <a:ln w="9525">
            <a:solidFill>
              <a:srgbClr val="E8E8E9"/>
            </a:solidFill>
            <a:prstDash val="solid"/>
          </a:ln>
        </p:spPr>
        <p:txBody>
          <a:bodyPr/>
          <a:p/>
        </p:txBody>
      </p:sp>
      <p:pic>
        <p:nvPicPr>
          <p:cNvPr id="12" name="Image 2" descr="eq/lam_min2.png">    </p:cNvPr>
          <p:cNvPicPr>
            <a:picLocks noChangeAspect="1"/>
          </p:cNvPicPr>
          <p:nvPr/>
        </p:nvPicPr>
        <p:blipFill>
          <a:blip r:embed="rId3"/>
          <a:stretch>
            <a:fillRect/>
          </a:stretch>
        </p:blipFill>
        <p:spPr>
          <a:xfrm>
            <a:off x="5363443" y="1828800"/>
            <a:ext cx="2714794" cy="417973"/>
          </a:xfrm>
          <a:prstGeom prst="rect">
            <a:avLst/>
          </a:prstGeom>
        </p:spPr>
      </p:pic>
      <p:sp>
        <p:nvSpPr>
          <p:cNvPr id="13" name="Text 8"/>
          <p:cNvSpPr/>
          <p:nvPr/>
        </p:nvSpPr>
        <p:spPr>
          <a:xfrm>
            <a:off x="365760" y="2551176"/>
            <a:ext cx="4114800" cy="237744"/>
          </a:xfrm>
          <a:prstGeom prst="rect">
            <a:avLst/>
          </a:prstGeom>
          <a:noFill/>
          <a:ln/>
        </p:spPr>
        <p:txBody>
          <a:bodyPr wrap="square" lIns="0" tIns="0" rIns="0" bIns="0" rtlCol="0" anchor="ctr"/>
          <a:lstStyle/>
          <a:p>
            <a:pPr indent="0" marL="0">
              <a:buNone/>
            </a:pPr>
            <a:r>
              <a:rPr lang="en-US" sz="950" b="1" dirty="0">
                <a:solidFill>
                  <a:srgbClr val="E6007E"/>
                </a:solidFill>
                <a:latin typeface="Arial" pitchFamily="34" charset="0"/>
                <a:ea typeface="Arial" pitchFamily="34" charset="-122"/>
                <a:cs typeface="Arial" pitchFamily="34" charset="-120"/>
              </a:rPr>
              <a:t>maximum frequency incl. dead time  ← dominates here</a:t>
            </a:r>
            <a:endParaRPr lang="en-US" sz="950" dirty="0"/>
          </a:p>
        </p:txBody>
      </p:sp>
      <p:sp>
        <p:nvSpPr>
          <p:cNvPr id="14" name="Shape 9"/>
          <p:cNvSpPr/>
          <p:nvPr/>
        </p:nvSpPr>
        <p:spPr>
          <a:xfrm>
            <a:off x="853584" y="2807208"/>
            <a:ext cx="3139151" cy="665808"/>
          </a:xfrm>
          <a:prstGeom prst="roundRect">
            <a:avLst>
              <a:gd name="adj" fmla="val 5493"/>
            </a:avLst>
          </a:prstGeom>
          <a:solidFill>
            <a:srgbClr val="F2F5F9"/>
          </a:solidFill>
          <a:ln w="9525">
            <a:solidFill>
              <a:srgbClr val="E8E8E9"/>
            </a:solidFill>
            <a:prstDash val="solid"/>
          </a:ln>
        </p:spPr>
        <p:txBody>
          <a:bodyPr/>
          <a:p/>
        </p:txBody>
      </p:sp>
      <p:pic>
        <p:nvPicPr>
          <p:cNvPr id="15" name="Image 3" descr="eq/lam_minTD.png">    </p:cNvPr>
          <p:cNvPicPr>
            <a:picLocks noChangeAspect="1"/>
          </p:cNvPicPr>
          <p:nvPr/>
        </p:nvPicPr>
        <p:blipFill>
          <a:blip r:embed="rId4"/>
          <a:stretch>
            <a:fillRect/>
          </a:stretch>
        </p:blipFill>
        <p:spPr>
          <a:xfrm>
            <a:off x="954168" y="2907792"/>
            <a:ext cx="2937983" cy="464640"/>
          </a:xfrm>
          <a:prstGeom prst="rect">
            <a:avLst/>
          </a:prstGeom>
        </p:spPr>
      </p:pic>
      <p:sp>
        <p:nvSpPr>
          <p:cNvPr id="16" name="Text 10"/>
          <p:cNvSpPr/>
          <p:nvPr/>
        </p:nvSpPr>
        <p:spPr>
          <a:xfrm>
            <a:off x="4663440" y="2551176"/>
            <a:ext cx="4114800" cy="237744"/>
          </a:xfrm>
          <a:prstGeom prst="rect">
            <a:avLst/>
          </a:prstGeom>
          <a:noFill/>
          <a:ln/>
        </p:spPr>
        <p:txBody>
          <a:bodyPr wrap="square" lIns="0" tIns="0" rIns="0" bIns="0" rtlCol="0" anchor="ctr"/>
          <a:lstStyle/>
          <a:p>
            <a:pPr indent="0" marL="0">
              <a:buNone/>
            </a:pPr>
            <a:r>
              <a:rPr lang="en-US" sz="950" b="1" dirty="0">
                <a:solidFill>
                  <a:srgbClr val="464650"/>
                </a:solidFill>
                <a:latin typeface="Arial" pitchFamily="34" charset="0"/>
                <a:ea typeface="Arial" pitchFamily="34" charset="-122"/>
                <a:cs typeface="Arial" pitchFamily="34" charset="-120"/>
              </a:rPr>
              <a:t>minimum frequency</a:t>
            </a:r>
            <a:endParaRPr lang="en-US" sz="950" dirty="0"/>
          </a:p>
        </p:txBody>
      </p:sp>
      <p:sp>
        <p:nvSpPr>
          <p:cNvPr id="17" name="Shape 11"/>
          <p:cNvSpPr/>
          <p:nvPr/>
        </p:nvSpPr>
        <p:spPr>
          <a:xfrm>
            <a:off x="5274018" y="2807208"/>
            <a:ext cx="2893643" cy="639431"/>
          </a:xfrm>
          <a:prstGeom prst="roundRect">
            <a:avLst>
              <a:gd name="adj" fmla="val 5720"/>
            </a:avLst>
          </a:prstGeom>
          <a:solidFill>
            <a:srgbClr val="F2F5F9"/>
          </a:solidFill>
          <a:ln w="9525">
            <a:solidFill>
              <a:srgbClr val="E8E8E9"/>
            </a:solidFill>
            <a:prstDash val="solid"/>
          </a:ln>
        </p:spPr>
        <p:txBody>
          <a:bodyPr/>
          <a:p/>
        </p:txBody>
      </p:sp>
      <p:pic>
        <p:nvPicPr>
          <p:cNvPr id="18" name="Image 4" descr="eq/lam_min3.png">    </p:cNvPr>
          <p:cNvPicPr>
            <a:picLocks noChangeAspect="1"/>
          </p:cNvPicPr>
          <p:nvPr/>
        </p:nvPicPr>
        <p:blipFill>
          <a:blip r:embed="rId5"/>
          <a:stretch>
            <a:fillRect/>
          </a:stretch>
        </p:blipFill>
        <p:spPr>
          <a:xfrm>
            <a:off x="5374602" y="2907792"/>
            <a:ext cx="2692475" cy="438263"/>
          </a:xfrm>
          <a:prstGeom prst="rect">
            <a:avLst/>
          </a:prstGeom>
        </p:spPr>
      </p:pic>
      <p:sp>
        <p:nvSpPr>
          <p:cNvPr id="19" name="Shape 12"/>
          <p:cNvSpPr/>
          <p:nvPr/>
        </p:nvSpPr>
        <p:spPr>
          <a:xfrm>
            <a:off x="2183725" y="3685032"/>
            <a:ext cx="4776550" cy="466966"/>
          </a:xfrm>
          <a:prstGeom prst="roundRect">
            <a:avLst>
              <a:gd name="adj" fmla="val 7833"/>
            </a:avLst>
          </a:prstGeom>
          <a:solidFill>
            <a:srgbClr val="F2F5F9"/>
          </a:solidFill>
          <a:ln w="9525">
            <a:solidFill>
              <a:srgbClr val="E8E8E9"/>
            </a:solidFill>
            <a:prstDash val="solid"/>
          </a:ln>
        </p:spPr>
        <p:txBody>
          <a:bodyPr/>
          <a:p/>
        </p:txBody>
      </p:sp>
      <p:pic>
        <p:nvPicPr>
          <p:cNvPr id="20" name="Image 5" descr="eq/lam_max.png">    </p:cNvPr>
          <p:cNvPicPr>
            <a:picLocks noChangeAspect="1"/>
          </p:cNvPicPr>
          <p:nvPr/>
        </p:nvPicPr>
        <p:blipFill>
          <a:blip r:embed="rId6"/>
          <a:stretch>
            <a:fillRect/>
          </a:stretch>
        </p:blipFill>
        <p:spPr>
          <a:xfrm>
            <a:off x="2284309" y="3785616"/>
            <a:ext cx="4575382" cy="265798"/>
          </a:xfrm>
          <a:prstGeom prst="rect">
            <a:avLst/>
          </a:prstGeom>
        </p:spPr>
      </p:pic>
      <p:sp>
        <p:nvSpPr>
          <p:cNvPr id="21" name="Text 13"/>
          <p:cNvSpPr/>
          <p:nvPr/>
        </p:nvSpPr>
        <p:spPr>
          <a:xfrm>
            <a:off x="960120" y="4315968"/>
            <a:ext cx="7772400" cy="457200"/>
          </a:xfrm>
          <a:prstGeom prst="rect">
            <a:avLst/>
          </a:prstGeom>
          <a:noFill/>
          <a:ln/>
        </p:spPr>
        <p:txBody>
          <a:bodyPr wrap="square" lIns="0" tIns="0" rIns="0" bIns="0" rtlCol="0" anchor="ctr"/>
          <a:lstStyle/>
          <a:p>
            <a:pPr indent="0" marL="0">
              <a:buNone/>
            </a:pPr>
            <a:r>
              <a:rPr lang="en-US" sz="1050" b="1" dirty="0">
                <a:solidFill>
                  <a:srgbClr val="E6007E"/>
                </a:solidFill>
                <a:latin typeface="Arial" pitchFamily="34" charset="0"/>
                <a:ea typeface="Arial" pitchFamily="34" charset="-122"/>
                <a:cs typeface="Arial" pitchFamily="34" charset="-120"/>
              </a:rPr>
              <a:t>λ = 0.54 means m = 2.85 — well below the classic 3…8. Use the conventional Lm/Lr = 5…10 here and the converter simply will not start at low line.</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output capacitor does two jobs now</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Hold-up AND the whole 2fl energy buffer</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1131218" y="1143000"/>
            <a:ext cx="3498283" cy="623199"/>
          </a:xfrm>
          <a:prstGeom prst="roundRect">
            <a:avLst>
              <a:gd name="adj" fmla="val 5869"/>
            </a:avLst>
          </a:prstGeom>
          <a:solidFill>
            <a:srgbClr val="F2F5F9"/>
          </a:solidFill>
          <a:ln w="9525">
            <a:solidFill>
              <a:srgbClr val="E8E8E9"/>
            </a:solidFill>
            <a:prstDash val="solid"/>
          </a:ln>
        </p:spPr>
        <p:txBody>
          <a:bodyPr/>
          <a:p/>
        </p:txBody>
      </p:sp>
      <p:pic>
        <p:nvPicPr>
          <p:cNvPr id="7" name="Image 1" descr="eq/cout.png">    </p:cNvPr>
          <p:cNvPicPr>
            <a:picLocks noChangeAspect="1"/>
          </p:cNvPicPr>
          <p:nvPr/>
        </p:nvPicPr>
        <p:blipFill>
          <a:blip r:embed="rId2"/>
          <a:stretch>
            <a:fillRect/>
          </a:stretch>
        </p:blipFill>
        <p:spPr>
          <a:xfrm>
            <a:off x="1231802" y="1243584"/>
            <a:ext cx="3297115" cy="422031"/>
          </a:xfrm>
          <a:prstGeom prst="rect">
            <a:avLst/>
          </a:prstGeom>
        </p:spPr>
      </p:pic>
      <p:sp>
        <p:nvSpPr>
          <p:cNvPr id="8" name="Shape 4"/>
          <p:cNvSpPr/>
          <p:nvPr/>
        </p:nvSpPr>
        <p:spPr>
          <a:xfrm>
            <a:off x="524549" y="1912503"/>
            <a:ext cx="4711622" cy="598851"/>
          </a:xfrm>
          <a:prstGeom prst="roundRect">
            <a:avLst>
              <a:gd name="adj" fmla="val 6108"/>
            </a:avLst>
          </a:prstGeom>
          <a:solidFill>
            <a:srgbClr val="F2F5F9"/>
          </a:solidFill>
          <a:ln w="9525">
            <a:solidFill>
              <a:srgbClr val="E8E8E9"/>
            </a:solidFill>
            <a:prstDash val="solid"/>
          </a:ln>
        </p:spPr>
        <p:txBody>
          <a:bodyPr/>
          <a:p/>
        </p:txBody>
      </p:sp>
      <p:pic>
        <p:nvPicPr>
          <p:cNvPr id="9" name="Image 2" descr="eq/icout.png">    </p:cNvPr>
          <p:cNvPicPr>
            <a:picLocks noChangeAspect="1"/>
          </p:cNvPicPr>
          <p:nvPr/>
        </p:nvPicPr>
        <p:blipFill>
          <a:blip r:embed="rId3"/>
          <a:stretch>
            <a:fillRect/>
          </a:stretch>
        </p:blipFill>
        <p:spPr>
          <a:xfrm>
            <a:off x="625133" y="2013087"/>
            <a:ext cx="4510454" cy="397683"/>
          </a:xfrm>
          <a:prstGeom prst="rect">
            <a:avLst/>
          </a:prstGeom>
        </p:spPr>
      </p:pic>
      <p:sp>
        <p:nvSpPr>
          <p:cNvPr id="10" name="Text 5"/>
          <p:cNvSpPr/>
          <p:nvPr/>
        </p:nvSpPr>
        <p:spPr>
          <a:xfrm>
            <a:off x="365760" y="2657658"/>
            <a:ext cx="5029200" cy="1463040"/>
          </a:xfrm>
          <a:prstGeom prst="rect">
            <a:avLst/>
          </a:prstGeom>
          <a:noFill/>
          <a:ln/>
        </p:spPr>
        <p:txBody>
          <a:bodyPr wrap="square" lIns="0" tIns="0" rIns="0" bIns="0" rtlCol="0" anchor="t"/>
          <a:lstStyle/>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Compute the ripple condition and the hold-up condition separately, and take the larger. WHICH ONE WINS is a question about the SPEC, not about the output voltage — both conditions go as 1/Vₒᵤₜ². Here ripple wins: 71.2 mF against 59.8 mF.</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For the RMS ripple current you MUST include the 2fl component. Looking only at the switching-frequency component under-estimates it by about 40 %.</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ESR must be the value at the SWITCHING frequency. An electrolytic tanδ is quoted at 120 Hz and is 5–10× larger there.</a:t>
            </a:r>
            <a:endParaRPr lang="en-US" sz="1050" dirty="0"/>
          </a:p>
        </p:txBody>
      </p:sp>
      <p:sp>
        <p:nvSpPr>
          <p:cNvPr id="11" name="Shape 6"/>
          <p:cNvSpPr/>
          <p:nvPr/>
        </p:nvSpPr>
        <p:spPr>
          <a:xfrm>
            <a:off x="5577840" y="1188720"/>
            <a:ext cx="3200400" cy="1051560"/>
          </a:xfrm>
          <a:prstGeom prst="roundRect">
            <a:avLst>
              <a:gd name="adj" fmla="val 4348"/>
            </a:avLst>
          </a:prstGeom>
          <a:solidFill>
            <a:srgbClr val="F5F7FA"/>
          </a:solidFill>
          <a:ln w="12700">
            <a:solidFill>
              <a:srgbClr val="3CB4E6"/>
            </a:solidFill>
            <a:prstDash val="solid"/>
          </a:ln>
        </p:spPr>
        <p:txBody>
          <a:bodyPr/>
          <a:p/>
        </p:txBody>
      </p:sp>
      <p:sp>
        <p:nvSpPr>
          <p:cNvPr id="12" name="Text 7"/>
          <p:cNvSpPr/>
          <p:nvPr/>
        </p:nvSpPr>
        <p:spPr>
          <a:xfrm>
            <a:off x="5687568" y="1271016"/>
            <a:ext cx="2980944" cy="274320"/>
          </a:xfrm>
          <a:prstGeom prst="rect">
            <a:avLst/>
          </a:prstGeom>
          <a:noFill/>
          <a:ln/>
        </p:spPr>
        <p:txBody>
          <a:bodyPr wrap="square" lIns="0" tIns="0" rIns="0" bIns="0" rtlCol="0" anchor="ctr"/>
          <a:lstStyle/>
          <a:p>
            <a:pPr indent="0" marL="0">
              <a:buNone/>
            </a:pPr>
            <a:r>
              <a:rPr lang="en-US" sz="1150" b="1" dirty="0">
                <a:solidFill>
                  <a:srgbClr val="3CB4E6"/>
                </a:solidFill>
                <a:latin typeface="Arial" pitchFamily="34" charset="0"/>
                <a:ea typeface="Arial" pitchFamily="34" charset="-122"/>
                <a:cs typeface="Arial" pitchFamily="34" charset="-120"/>
              </a:rPr>
              <a:t>Ripple condition</a:t>
            </a:r>
            <a:endParaRPr lang="en-US" sz="1150" dirty="0"/>
          </a:p>
        </p:txBody>
      </p:sp>
      <p:sp>
        <p:nvSpPr>
          <p:cNvPr id="13" name="Text 8"/>
          <p:cNvSpPr/>
          <p:nvPr/>
        </p:nvSpPr>
        <p:spPr>
          <a:xfrm>
            <a:off x="5687568" y="1572768"/>
            <a:ext cx="2980944" cy="5760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C ≥ Iₒᵤₜ /(2π fl,min Vₒᵤₜ Δv)</a:t>
            </a:r>
            <a:endParaRPr lang="en-US" sz="1000" dirty="0"/>
          </a:p>
          <a:p>
            <a:pPr indent="0" marL="0">
              <a:buNone/>
            </a:pPr>
            <a:r>
              <a:rPr lang="en-US" sz="1000" dirty="0">
                <a:solidFill>
                  <a:srgbClr val="464650"/>
                </a:solidFill>
                <a:latin typeface="Arial" pitchFamily="34" charset="0"/>
                <a:ea typeface="Arial" pitchFamily="34" charset="-122"/>
                <a:cs typeface="Arial" pitchFamily="34" charset="-120"/>
              </a:rPr>
              <a:t>→ 71.2 mF   (dominates)</a:t>
            </a:r>
            <a:endParaRPr lang="en-US" sz="1000" dirty="0"/>
          </a:p>
        </p:txBody>
      </p:sp>
      <p:sp>
        <p:nvSpPr>
          <p:cNvPr id="14" name="Shape 9"/>
          <p:cNvSpPr/>
          <p:nvPr/>
        </p:nvSpPr>
        <p:spPr>
          <a:xfrm>
            <a:off x="5577840" y="2377440"/>
            <a:ext cx="3200400" cy="1051560"/>
          </a:xfrm>
          <a:prstGeom prst="roundRect">
            <a:avLst>
              <a:gd name="adj" fmla="val 4348"/>
            </a:avLst>
          </a:prstGeom>
          <a:solidFill>
            <a:srgbClr val="F5F7FA"/>
          </a:solidFill>
          <a:ln w="12700">
            <a:solidFill>
              <a:srgbClr val="E6007E"/>
            </a:solidFill>
            <a:prstDash val="solid"/>
          </a:ln>
        </p:spPr>
        <p:txBody>
          <a:bodyPr/>
          <a:p/>
        </p:txBody>
      </p:sp>
      <p:sp>
        <p:nvSpPr>
          <p:cNvPr id="15" name="Text 10"/>
          <p:cNvSpPr/>
          <p:nvPr/>
        </p:nvSpPr>
        <p:spPr>
          <a:xfrm>
            <a:off x="5687568" y="2459736"/>
            <a:ext cx="298094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Hold-up condition</a:t>
            </a:r>
            <a:endParaRPr lang="en-US" sz="1150" dirty="0"/>
          </a:p>
        </p:txBody>
      </p:sp>
      <p:sp>
        <p:nvSpPr>
          <p:cNvPr id="16" name="Text 11"/>
          <p:cNvSpPr/>
          <p:nvPr/>
        </p:nvSpPr>
        <p:spPr>
          <a:xfrm>
            <a:off x="5687568" y="2761488"/>
            <a:ext cx="2980944" cy="57607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C ≥ 2 Pₒᵤₜ Thold /(Vₒᵤₜ² − Vo,min²)</a:t>
            </a:r>
            <a:endParaRPr lang="en-US" sz="1000" dirty="0"/>
          </a:p>
          <a:p>
            <a:pPr indent="0" marL="0">
              <a:buNone/>
            </a:pPr>
            <a:r>
              <a:rPr lang="en-US" sz="1000" dirty="0">
                <a:solidFill>
                  <a:srgbClr val="464650"/>
                </a:solidFill>
                <a:latin typeface="Arial" pitchFamily="34" charset="0"/>
                <a:ea typeface="Arial" pitchFamily="34" charset="-122"/>
                <a:cs typeface="Arial" pitchFamily="34" charset="-120"/>
              </a:rPr>
              <a:t>→ 59.8 mF</a:t>
            </a:r>
            <a:endParaRPr lang="en-US" sz="1000" dirty="0"/>
          </a:p>
        </p:txBody>
      </p:sp>
      <p:sp>
        <p:nvSpPr>
          <p:cNvPr id="17" name="Shape 12"/>
          <p:cNvSpPr/>
          <p:nvPr/>
        </p:nvSpPr>
        <p:spPr>
          <a:xfrm>
            <a:off x="5577840" y="3566160"/>
            <a:ext cx="3200400" cy="1234440"/>
          </a:xfrm>
          <a:prstGeom prst="roundRect">
            <a:avLst>
              <a:gd name="adj" fmla="val 3704"/>
            </a:avLst>
          </a:prstGeom>
          <a:solidFill>
            <a:srgbClr val="F5F7FA"/>
          </a:solidFill>
          <a:ln w="12700">
            <a:solidFill>
              <a:srgbClr val="03234B"/>
            </a:solidFill>
            <a:prstDash val="solid"/>
          </a:ln>
        </p:spPr>
        <p:txBody>
          <a:bodyPr/>
          <a:p/>
        </p:txBody>
      </p:sp>
      <p:sp>
        <p:nvSpPr>
          <p:cNvPr id="18" name="Text 13"/>
          <p:cNvSpPr/>
          <p:nvPr/>
        </p:nvSpPr>
        <p:spPr>
          <a:xfrm>
            <a:off x="5687568" y="3648456"/>
            <a:ext cx="2980944" cy="274320"/>
          </a:xfrm>
          <a:prstGeom prst="rect">
            <a:avLst/>
          </a:prstGeom>
          <a:noFill/>
          <a:ln/>
        </p:spPr>
        <p:txBody>
          <a:bodyPr wrap="square" lIns="0" tIns="0" rIns="0" bIns="0" rtlCol="0" anchor="ctr"/>
          <a:lstStyle/>
          <a:p>
            <a:pPr indent="0" marL="0">
              <a:buNone/>
            </a:pPr>
            <a:r>
              <a:rPr lang="en-US" sz="1150" b="1" dirty="0">
                <a:solidFill>
                  <a:srgbClr val="03234B"/>
                </a:solidFill>
                <a:latin typeface="Arial" pitchFamily="34" charset="0"/>
                <a:ea typeface="Arial" pitchFamily="34" charset="-122"/>
                <a:cs typeface="Arial" pitchFamily="34" charset="-120"/>
              </a:rPr>
              <a:t>Selected</a:t>
            </a:r>
            <a:endParaRPr lang="en-US" sz="1150" dirty="0"/>
          </a:p>
        </p:txBody>
      </p:sp>
      <p:sp>
        <p:nvSpPr>
          <p:cNvPr id="19" name="Text 14"/>
          <p:cNvSpPr/>
          <p:nvPr/>
        </p:nvSpPr>
        <p:spPr>
          <a:xfrm>
            <a:off x="5687568" y="3950208"/>
            <a:ext cx="2980944" cy="75895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470 µF × 160 = 75.2 mF, ESR 0.19 mΩ</a:t>
            </a:r>
            <a:endParaRPr lang="en-US" sz="1000" dirty="0"/>
          </a:p>
          <a:p>
            <a:pPr indent="0" marL="0">
              <a:buNone/>
            </a:pPr>
            <a:r>
              <a:rPr lang="en-US" sz="1000" dirty="0">
                <a:solidFill>
                  <a:srgbClr val="464650"/>
                </a:solidFill>
                <a:latin typeface="Arial" pitchFamily="34" charset="0"/>
                <a:ea typeface="Arial" pitchFamily="34" charset="-122"/>
                <a:cs typeface="Arial" pitchFamily="34" charset="-120"/>
              </a:rPr>
              <a:t>ΔVₒ = 1.18 V (4.7 %), Thold = 13.4 ms</a:t>
            </a:r>
            <a:endParaRPr lang="en-US" sz="1000" dirty="0"/>
          </a:p>
          <a:p>
            <a:pPr indent="0" marL="0">
              <a:buNone/>
            </a:pPr>
            <a:r>
              <a:rPr lang="en-US" sz="1000" dirty="0">
                <a:solidFill>
                  <a:srgbClr val="464650"/>
                </a:solidFill>
                <a:latin typeface="Arial" pitchFamily="34" charset="0"/>
                <a:ea typeface="Arial" pitchFamily="34" charset="-122"/>
                <a:cs typeface="Arial" pitchFamily="34" charset="-120"/>
              </a:rPr>
              <a:t>I_rms = 30.2 A  (0.19 A per capacitor)</a:t>
            </a:r>
            <a:endParaRPr lang="en-US" sz="10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Which condition wins is a spec question</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Both go as 1/Vₒᵤₜ² — so only Δv and the allowed droop can separate them</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Picture 5" descr="f19_cout_criterion.png"/>
          <p:cNvPicPr>
            <a:picLocks noChangeAspect="1"/>
          </p:cNvPicPr>
          <p:nvPr/>
        </p:nvPicPr>
        <p:blipFill>
          <a:blip r:embed="rId2"/>
          <a:stretch>
            <a:fillRect/>
          </a:stretch>
        </p:blipFill>
        <p:spPr>
          <a:xfrm>
            <a:off x="1290700" y="1005840"/>
            <a:ext cx="6562599" cy="3127248"/>
          </a:xfrm>
          <a:prstGeom prst="rect">
            <a:avLst/>
          </a:prstGeom>
        </p:spPr>
      </p:pic>
      <p:sp>
        <p:nvSpPr>
          <p:cNvPr id="7" name="TextBox 6"/>
          <p:cNvSpPr txBox="1"/>
          <p:nvPr/>
        </p:nvSpPr>
        <p:spPr>
          <a:xfrm>
            <a:off x="868680" y="4261104"/>
            <a:ext cx="7818120" cy="658368"/>
          </a:xfrm>
          <a:prstGeom prst="rect">
            <a:avLst/>
          </a:prstGeom>
          <a:noFill/>
        </p:spPr>
        <p:txBody>
          <a:bodyPr wrap="square" lIns="36576" rIns="36576" tIns="18288" bIns="18288">
            <a:spAutoFit/>
          </a:bodyPr>
          <a:lstStyle/>
          <a:p>
            <a:pPr algn="l">
              <a:spcAft>
                <a:spcPts val="400"/>
              </a:spcAft>
            </a:pPr>
            <a:r>
              <a:rPr sz="1050" b="0">
                <a:solidFill>
                  <a:srgbClr val="03234B"/>
                </a:solidFill>
                <a:latin typeface="Arial"/>
              </a:rPr>
              <a:t>Read it as one inequality.  The ripple condition asks for Pₒᵤₜ / (2π fₗ Δv Vₒᵤₜ²); the hold-up condition asks for 2 Pₒᵤₜ Thold / (Vₒᵤₜ² (1 − k²)) with k = Vₒ,ₘᵢₙ/Vₒᵤₜ.  Divide them and Vₒᵤₜ cancels.  A tight ripple limit and a generous droop allowance put ripple on top; loosen Δv to 10 % and hold-up takes over.</a:t>
            </a:r>
          </a:p>
        </p:txBody>
      </p:sp>
      <p:sp>
        <p:nvSpPr>
          <p:cNvPr id="8" name="TextBox 7"/>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Figure: generated by figs.py from l6790.py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What 75 mF actually is, as hardware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160 capacitors — the single biggest item on the board, and a new risk with it</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Rounded Rectangle 5"/>
          <p:cNvSpPr/>
          <p:nvPr/>
        </p:nvSpPr>
        <p:spPr>
          <a:xfrm>
            <a:off x="320040" y="1051560"/>
            <a:ext cx="4160520" cy="1481328"/>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The count comes from capacitance, not current</a:t>
            </a:r>
          </a:p>
          <a:p>
            <a:pPr>
              <a:spcBef>
                <a:spcPts val="300"/>
              </a:spcBef>
            </a:pPr>
            <a:r>
              <a:rPr sz="1000">
                <a:solidFill>
                  <a:srgbClr val="03234B"/>
                </a:solidFill>
                <a:latin typeface="Arial"/>
              </a:rPr>
              <a:t>75.2 mF / 470 µF = 160 parts. The bank</a:t>
            </a:r>
          </a:p>
          <a:p>
            <a:pPr>
              <a:spcBef>
                <a:spcPts val="300"/>
              </a:spcBef>
            </a:pPr>
            <a:r>
              <a:rPr sz="1000">
                <a:solidFill>
                  <a:srgbClr val="03234B"/>
                </a:solidFill>
                <a:latin typeface="Arial"/>
              </a:rPr>
              <a:t>carries 30.2 A rms of ripple in total, which</a:t>
            </a:r>
          </a:p>
          <a:p>
            <a:pPr>
              <a:spcBef>
                <a:spcPts val="300"/>
              </a:spcBef>
            </a:pPr>
            <a:r>
              <a:rPr sz="1000">
                <a:solidFill>
                  <a:srgbClr val="03234B"/>
                </a:solidFill>
                <a:latin typeface="Arial"/>
              </a:rPr>
              <a:t>is only 0.19 A each — comfortable. Nothing</a:t>
            </a:r>
          </a:p>
          <a:p>
            <a:pPr>
              <a:spcBef>
                <a:spcPts val="300"/>
              </a:spcBef>
            </a:pPr>
            <a:r>
              <a:rPr sz="1000">
                <a:solidFill>
                  <a:srgbClr val="03234B"/>
                </a:solidFill>
                <a:latin typeface="Arial"/>
              </a:rPr>
              <a:t>here is current-limited; it is all farads.</a:t>
            </a:r>
          </a:p>
        </p:txBody>
      </p:sp>
      <p:sp>
        <p:nvSpPr>
          <p:cNvPr id="7" name="Rounded Rectangle 6"/>
          <p:cNvSpPr/>
          <p:nvPr/>
        </p:nvSpPr>
        <p:spPr>
          <a:xfrm>
            <a:off x="4663440" y="1051560"/>
            <a:ext cx="4160520" cy="1481328"/>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ESR at the SWITCHING frequency</a:t>
            </a:r>
          </a:p>
          <a:p>
            <a:pPr>
              <a:spcBef>
                <a:spcPts val="300"/>
              </a:spcBef>
            </a:pPr>
            <a:r>
              <a:rPr sz="1000">
                <a:solidFill>
                  <a:srgbClr val="03234B"/>
                </a:solidFill>
                <a:latin typeface="Arial"/>
              </a:rPr>
              <a:t>160 in parallel gives 0.1875 mΩ, and</a:t>
            </a:r>
          </a:p>
          <a:p>
            <a:pPr>
              <a:spcBef>
                <a:spcPts val="300"/>
              </a:spcBef>
            </a:pPr>
            <a:r>
              <a:rPr sz="1000">
                <a:solidFill>
                  <a:srgbClr val="03234B"/>
                </a:solidFill>
                <a:latin typeface="Arial"/>
              </a:rPr>
              <a:t>17.4 mV of R&amp;N. Use the ESR at fsw —</a:t>
            </a:r>
          </a:p>
          <a:p>
            <a:pPr>
              <a:spcBef>
                <a:spcPts val="300"/>
              </a:spcBef>
            </a:pPr>
            <a:r>
              <a:rPr sz="1000">
                <a:solidFill>
                  <a:srgbClr val="03234B"/>
                </a:solidFill>
                <a:latin typeface="Arial"/>
              </a:rPr>
              <a:t>the tanδ on the data sheet is quoted at</a:t>
            </a:r>
          </a:p>
          <a:p>
            <a:pPr>
              <a:spcBef>
                <a:spcPts val="300"/>
              </a:spcBef>
            </a:pPr>
            <a:r>
              <a:rPr sz="1000">
                <a:solidFill>
                  <a:srgbClr val="03234B"/>
                </a:solidFill>
                <a:latin typeface="Arial"/>
              </a:rPr>
              <a:t>120 Hz and is 5–10× larger there.</a:t>
            </a:r>
          </a:p>
        </p:txBody>
      </p:sp>
      <p:sp>
        <p:nvSpPr>
          <p:cNvPr id="8" name="Rounded Rectangle 7"/>
          <p:cNvSpPr/>
          <p:nvPr/>
        </p:nvSpPr>
        <p:spPr>
          <a:xfrm>
            <a:off x="320040" y="2670048"/>
            <a:ext cx="4160520" cy="1481328"/>
          </a:xfrm>
          <a:prstGeom prst="roundRect">
            <a:avLst>
              <a:gd name="adj" fmla="val 6000"/>
            </a:avLst>
          </a:prstGeom>
          <a:noFill/>
          <a:ln w="15875">
            <a:solidFill>
              <a:srgbClr val="03234B"/>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03234B"/>
                </a:solidFill>
                <a:latin typeface="Arial"/>
              </a:rPr>
              <a:t>The 2fₗ term is most of the ripple current</a:t>
            </a:r>
          </a:p>
          <a:p>
            <a:pPr>
              <a:spcBef>
                <a:spcPts val="300"/>
              </a:spcBef>
            </a:pPr>
            <a:r>
              <a:rPr sz="1000">
                <a:solidFill>
                  <a:srgbClr val="03234B"/>
                </a:solidFill>
                <a:latin typeface="Arial"/>
              </a:rPr>
              <a:t>Size the rms with the 2fₗ component in it.</a:t>
            </a:r>
          </a:p>
          <a:p>
            <a:pPr>
              <a:spcBef>
                <a:spcPts val="300"/>
              </a:spcBef>
            </a:pPr>
            <a:r>
              <a:rPr sz="1000">
                <a:solidFill>
                  <a:srgbClr val="03234B"/>
                </a:solidFill>
                <a:latin typeface="Arial"/>
              </a:rPr>
              <a:t>Taking only the switching-frequency part</a:t>
            </a:r>
          </a:p>
          <a:p>
            <a:pPr>
              <a:spcBef>
                <a:spcPts val="300"/>
              </a:spcBef>
            </a:pPr>
            <a:r>
              <a:rPr sz="1000">
                <a:solidFill>
                  <a:srgbClr val="03234B"/>
                </a:solidFill>
                <a:latin typeface="Arial"/>
              </a:rPr>
              <a:t>under-estimates by about 40 % — and on a</a:t>
            </a:r>
          </a:p>
          <a:p>
            <a:pPr>
              <a:spcBef>
                <a:spcPts val="300"/>
              </a:spcBef>
            </a:pPr>
            <a:r>
              <a:rPr sz="1000">
                <a:solidFill>
                  <a:srgbClr val="03234B"/>
                </a:solidFill>
                <a:latin typeface="Arial"/>
              </a:rPr>
              <a:t>centre tap, judge it at the OUTPUT NODE.</a:t>
            </a:r>
          </a:p>
        </p:txBody>
      </p:sp>
      <p:sp>
        <p:nvSpPr>
          <p:cNvPr id="9" name="Rounded Rectangle 8"/>
          <p:cNvSpPr/>
          <p:nvPr/>
        </p:nvSpPr>
        <p:spPr>
          <a:xfrm>
            <a:off x="4663440" y="2670048"/>
            <a:ext cx="4160520" cy="1481328"/>
          </a:xfrm>
          <a:prstGeom prst="roundRect">
            <a:avLst>
              <a:gd name="adj" fmla="val 6000"/>
            </a:avLst>
          </a:prstGeom>
          <a:noFill/>
          <a:ln w="15875">
            <a:solidFill>
              <a:srgbClr val="E6007E"/>
            </a:solidFill>
          </a:ln>
        </p:spPr>
        <p:style>
          <a:lnRef idx="1">
            <a:schemeClr val="accent1"/>
          </a:lnRef>
          <a:fillRef idx="3">
            <a:schemeClr val="accent1"/>
          </a:fillRef>
          <a:effectRef idx="2">
            <a:schemeClr val="accent1"/>
          </a:effectRef>
          <a:fontRef idx="minor">
            <a:schemeClr val="lt1"/>
          </a:fontRef>
        </p:style>
        <p:txBody>
          <a:bodyPr rtlCol="0" anchor="t" wrap="square" tIns="64008"/>
          <a:lstStyle/>
          <a:p>
            <a:pPr algn="l"/>
            <a:r>
              <a:rPr sz="1050" b="1">
                <a:solidFill>
                  <a:srgbClr val="E6007E"/>
                </a:solidFill>
                <a:latin typeface="Arial"/>
              </a:rPr>
              <a:t>⚠  Cold start is a NEW risk</a:t>
            </a:r>
          </a:p>
          <a:p>
            <a:pPr>
              <a:spcBef>
                <a:spcPts val="300"/>
              </a:spcBef>
            </a:pPr>
            <a:r>
              <a:rPr sz="1000">
                <a:solidFill>
                  <a:srgbClr val="03234B"/>
                </a:solidFill>
                <a:latin typeface="Arial"/>
              </a:rPr>
              <a:t>The HVSU window is 120 ms. Charging</a:t>
            </a:r>
          </a:p>
          <a:p>
            <a:pPr>
              <a:spcBef>
                <a:spcPts val="300"/>
              </a:spcBef>
            </a:pPr>
            <a:r>
              <a:rPr sz="1000">
                <a:solidFill>
                  <a:srgbClr val="03234B"/>
                </a:solidFill>
                <a:latin typeface="Arial"/>
              </a:rPr>
              <a:t>75 mF inside it has never been done on</a:t>
            </a:r>
          </a:p>
          <a:p>
            <a:pPr>
              <a:spcBef>
                <a:spcPts val="300"/>
              </a:spcBef>
            </a:pPr>
            <a:r>
              <a:rPr sz="1000">
                <a:solidFill>
                  <a:srgbClr val="03234B"/>
                </a:solidFill>
                <a:latin typeface="Arial"/>
              </a:rPr>
              <a:t>this part — the 240 W reference had 4 mF,</a:t>
            </a:r>
          </a:p>
          <a:p>
            <a:pPr>
              <a:spcBef>
                <a:spcPts val="300"/>
              </a:spcBef>
            </a:pPr>
            <a:r>
              <a:rPr sz="1000">
                <a:solidFill>
                  <a:srgbClr val="03234B"/>
                </a:solidFill>
                <a:latin typeface="Arial"/>
              </a:rPr>
              <a:t>eighteen times less. Measure it first.</a:t>
            </a:r>
          </a:p>
        </p:txBody>
      </p:sp>
      <p:sp>
        <p:nvSpPr>
          <p:cNvPr id="10" name="TextBox 9"/>
          <p:cNvSpPr txBox="1"/>
          <p:nvPr/>
        </p:nvSpPr>
        <p:spPr>
          <a:xfrm>
            <a:off x="320040" y="4279392"/>
            <a:ext cx="8503920" cy="411480"/>
          </a:xfrm>
          <a:prstGeom prst="rect">
            <a:avLst/>
          </a:prstGeom>
          <a:noFill/>
        </p:spPr>
        <p:txBody>
          <a:bodyPr wrap="square" lIns="36576" rIns="36576" tIns="18288" bIns="18288">
            <a:spAutoFit/>
          </a:bodyPr>
          <a:lstStyle/>
          <a:p>
            <a:pPr algn="l">
              <a:spcAft>
                <a:spcPts val="600"/>
              </a:spcAft>
            </a:pPr>
            <a:r>
              <a:rPr sz="1100" b="1">
                <a:solidFill>
                  <a:srgbClr val="E6007E"/>
                </a:solidFill>
                <a:latin typeface="Arial"/>
              </a:rPr>
              <a:t>And the part nobody costs: 160 electrolytics need board area, height and airflow. If the set cannot house them, the 25 V direct architecture is what has to change — not the capacitor.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The voltage loop crosses at 17.6 Hz</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A pure integrator plant, and a hard trade against THD</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c_bode.png">    </p:cNvPr>
          <p:cNvPicPr>
            <a:picLocks noChangeAspect="1"/>
          </p:cNvPicPr>
          <p:nvPr/>
        </p:nvPicPr>
        <p:blipFill>
          <a:blip r:embed="rId2"/>
          <a:stretch>
            <a:fillRect/>
          </a:stretch>
        </p:blipFill>
        <p:spPr>
          <a:xfrm>
            <a:off x="365760" y="1264920"/>
            <a:ext cx="4846320" cy="3230880"/>
          </a:xfrm>
          <a:prstGeom prst="rect">
            <a:avLst/>
          </a:prstGeom>
        </p:spPr>
      </p:pic>
      <p:sp>
        <p:nvSpPr>
          <p:cNvPr id="7" name="Shape 3"/>
          <p:cNvSpPr/>
          <p:nvPr/>
        </p:nvSpPr>
        <p:spPr>
          <a:xfrm>
            <a:off x="5440680" y="1188720"/>
            <a:ext cx="3337560" cy="502713"/>
          </a:xfrm>
          <a:prstGeom prst="roundRect">
            <a:avLst>
              <a:gd name="adj" fmla="val 7276"/>
            </a:avLst>
          </a:prstGeom>
          <a:solidFill>
            <a:srgbClr val="F2F5F9"/>
          </a:solidFill>
          <a:ln w="9525">
            <a:solidFill>
              <a:srgbClr val="E8E8E9"/>
            </a:solidFill>
            <a:prstDash val="solid"/>
          </a:ln>
        </p:spPr>
        <p:txBody>
          <a:bodyPr/>
          <a:p/>
        </p:txBody>
      </p:sp>
      <p:pic>
        <p:nvPicPr>
          <p:cNvPr id="8" name="Image 2" descr="eq/plant.png">    </p:cNvPr>
          <p:cNvPicPr>
            <a:picLocks noChangeAspect="1"/>
          </p:cNvPicPr>
          <p:nvPr/>
        </p:nvPicPr>
        <p:blipFill>
          <a:blip r:embed="rId3"/>
          <a:stretch>
            <a:fillRect/>
          </a:stretch>
        </p:blipFill>
        <p:spPr>
          <a:xfrm>
            <a:off x="5541264" y="1289304"/>
            <a:ext cx="3136392" cy="301545"/>
          </a:xfrm>
          <a:prstGeom prst="rect">
            <a:avLst/>
          </a:prstGeom>
        </p:spPr>
      </p:pic>
      <p:sp>
        <p:nvSpPr>
          <p:cNvPr id="9" name="Shape 4"/>
          <p:cNvSpPr/>
          <p:nvPr/>
        </p:nvSpPr>
        <p:spPr>
          <a:xfrm>
            <a:off x="5723508" y="1819449"/>
            <a:ext cx="2771904" cy="592764"/>
          </a:xfrm>
          <a:prstGeom prst="roundRect">
            <a:avLst>
              <a:gd name="adj" fmla="val 6170"/>
            </a:avLst>
          </a:prstGeom>
          <a:solidFill>
            <a:srgbClr val="F2F5F9"/>
          </a:solidFill>
          <a:ln w="9525">
            <a:solidFill>
              <a:srgbClr val="E8E8E9"/>
            </a:solidFill>
            <a:prstDash val="solid"/>
          </a:ln>
        </p:spPr>
        <p:txBody>
          <a:bodyPr/>
          <a:p/>
        </p:txBody>
      </p:sp>
      <p:pic>
        <p:nvPicPr>
          <p:cNvPr id="10" name="Image 3" descr="eq/thd.png">    </p:cNvPr>
          <p:cNvPicPr>
            <a:picLocks noChangeAspect="1"/>
          </p:cNvPicPr>
          <p:nvPr/>
        </p:nvPicPr>
        <p:blipFill>
          <a:blip r:embed="rId4"/>
          <a:stretch>
            <a:fillRect/>
          </a:stretch>
        </p:blipFill>
        <p:spPr>
          <a:xfrm>
            <a:off x="5824092" y="1920033"/>
            <a:ext cx="2570736" cy="391596"/>
          </a:xfrm>
          <a:prstGeom prst="rect">
            <a:avLst/>
          </a:prstGeom>
        </p:spPr>
      </p:pic>
      <p:sp>
        <p:nvSpPr>
          <p:cNvPr id="11" name="Text 5"/>
          <p:cNvSpPr/>
          <p:nvPr/>
        </p:nvSpPr>
        <p:spPr>
          <a:xfrm>
            <a:off x="5440680" y="2558517"/>
            <a:ext cx="3337560" cy="2148840"/>
          </a:xfrm>
          <a:prstGeom prst="rect">
            <a:avLst/>
          </a:prstGeom>
          <a:noFill/>
          <a:ln/>
        </p:spPr>
        <p:txBody>
          <a:bodyPr wrap="square" lIns="0" tIns="0" rIns="0" bIns="0" rtlCol="0" anchor="t"/>
          <a:lstStyle/>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The output is a capacitor fed by a constant-power source, so the control-to-output transfer is a PURE INTEGRATOR: −90° at every frequency.</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Any 2fl ripple that survives the loop and reaches FB becomes input-current distortion — mostly 3rd harmonic.</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Raise the crossover and the ripple falls but the THD rises. The two constraints pull in opposite directions; the high teens is the practical compromise — 17.6 Hz here, for 4.2 % third harmonic.</a:t>
            </a:r>
            <a:endParaRPr lang="en-US" sz="950" dirty="0"/>
          </a:p>
          <a:p>
            <a:pPr marL="177800" indent="-177800">
              <a:spcAft>
                <a:spcPts val="700"/>
              </a:spcAft>
              <a:buSzPct val="100000"/>
              <a:buChar char="•"/>
            </a:pPr>
            <a:r>
              <a:rPr lang="en-US" sz="950" dirty="0">
                <a:solidFill>
                  <a:srgbClr val="03234B"/>
                </a:solidFill>
                <a:latin typeface="Arial" pitchFamily="34" charset="0"/>
                <a:ea typeface="Arial" pitchFamily="34" charset="-122"/>
                <a:cs typeface="Arial" pitchFamily="34" charset="-120"/>
              </a:rPr>
              <a:t>A loop this slow cannot recover from a large load step. The datasheet anti-saturation circuit does that instead — which is why the opto bias resistor RB must be inside its window.</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7">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1600200"/>
            <a:ext cx="5852160" cy="960120"/>
          </a:xfrm>
          <a:prstGeom prst="rect">
            <a:avLst/>
          </a:prstGeom>
          <a:solidFill>
            <a:srgbClr val="FFD200"/>
          </a:solidFill>
          <a:ln/>
        </p:spPr>
        <p:txBody>
          <a:bodyPr/>
          <a:p/>
        </p:txBody>
      </p:sp>
      <p:sp>
        <p:nvSpPr>
          <p:cNvPr id="3" name="Text 1"/>
          <p:cNvSpPr/>
          <p:nvPr/>
        </p:nvSpPr>
        <p:spPr>
          <a:xfrm>
            <a:off x="502920" y="1600200"/>
            <a:ext cx="5212080" cy="960120"/>
          </a:xfrm>
          <a:prstGeom prst="rect">
            <a:avLst/>
          </a:prstGeom>
          <a:noFill/>
          <a:ln/>
        </p:spPr>
        <p:txBody>
          <a:bodyPr wrap="square" lIns="0" tIns="0" rIns="0" bIns="0" rtlCol="0" anchor="ctr"/>
          <a:lstStyle/>
          <a:p>
            <a:pPr indent="0" marL="0">
              <a:buNone/>
            </a:pPr>
            <a:r>
              <a:rPr lang="en-US" sz="2600" b="1" dirty="0">
                <a:solidFill>
                  <a:srgbClr val="03234B"/>
                </a:solidFill>
                <a:latin typeface="Arial" pitchFamily="34" charset="0"/>
                <a:ea typeface="Arial" pitchFamily="34" charset="-122"/>
                <a:cs typeface="Arial" pitchFamily="34" charset="-120"/>
              </a:rPr>
              <a:t>Worked example</a:t>
            </a:r>
            <a:endParaRPr lang="en-US" sz="2600" dirty="0"/>
          </a:p>
        </p:txBody>
      </p:sp>
      <p:sp>
        <p:nvSpPr>
          <p:cNvPr id="4" name="Text 2"/>
          <p:cNvSpPr/>
          <p:nvPr/>
        </p:nvSpPr>
        <p:spPr>
          <a:xfrm>
            <a:off x="502920" y="1143000"/>
            <a:ext cx="3657600" cy="320040"/>
          </a:xfrm>
          <a:prstGeom prst="rect">
            <a:avLst/>
          </a:prstGeom>
          <a:noFill/>
          <a:ln/>
        </p:spPr>
        <p:txBody>
          <a:bodyPr wrap="square" lIns="0" tIns="0" rIns="0" bIns="0" rtlCol="0" anchor="ctr"/>
          <a:lstStyle/>
          <a:p>
            <a:pPr indent="0" marL="0">
              <a:buNone/>
            </a:pPr>
            <a:r>
              <a:rPr lang="en-US" sz="1300" b="1" dirty="0">
                <a:solidFill>
                  <a:srgbClr val="FFD200"/>
                </a:solidFill>
                <a:latin typeface="Arial" pitchFamily="34" charset="0"/>
                <a:ea typeface="Arial" pitchFamily="34" charset="-122"/>
                <a:cs typeface="Arial" pitchFamily="34" charset="-120"/>
              </a:rPr>
              <a:t>PART 5</a:t>
            </a:r>
            <a:endParaRPr lang="en-US" sz="1300" dirty="0"/>
          </a:p>
        </p:txBody>
      </p:sp>
      <p:sp>
        <p:nvSpPr>
          <p:cNvPr id="5" name="Text 3"/>
          <p:cNvSpPr/>
          <p:nvPr/>
        </p:nvSpPr>
        <p:spPr>
          <a:xfrm>
            <a:off x="502920" y="2788920"/>
            <a:ext cx="7772400" cy="1097280"/>
          </a:xfrm>
          <a:prstGeom prst="rect">
            <a:avLst/>
          </a:prstGeom>
          <a:noFill/>
          <a:ln/>
        </p:spPr>
        <p:txBody>
          <a:bodyPr wrap="square" lIns="0" tIns="0" rIns="0" bIns="0" rtlCol="0" anchor="ctr"/>
          <a:lstStyle/>
          <a:p>
            <a:pPr indent="0" marL="0">
              <a:buNone/>
            </a:pPr>
            <a:r>
              <a:rPr lang="en-US" sz="1300" dirty="0">
                <a:solidFill>
                  <a:srgbClr val="C8D4E4"/>
                </a:solidFill>
                <a:latin typeface="Arial" pitchFamily="34" charset="0"/>
                <a:ea typeface="Arial" pitchFamily="34" charset="-122"/>
                <a:cs typeface="Arial" pitchFamily="34" charset="-120"/>
              </a:rPr>
              <a:t>25 V / 26.3 A = 657.5 W, 90–264 Vac universal input, morphing enabled. Every number below is reproducible from the equations in Parts 2–4.</a:t>
            </a:r>
            <a:endParaRPr lang="en-US" sz="1300" dirty="0"/>
          </a:p>
        </p:txBody>
      </p:sp>
      <p:pic>
        <p:nvPicPr>
          <p:cNvPr id="6" name="Image 0" descr="logo/image1.png">    </p:cNvPr>
          <p:cNvPicPr>
            <a:picLocks noChangeAspect="1"/>
          </p:cNvPicPr>
          <p:nvPr/>
        </p:nvPicPr>
        <p:blipFill>
          <a:blip r:embed="rId1"/>
          <a:stretch>
            <a:fillRect/>
          </a:stretch>
        </p:blipFill>
        <p:spPr>
          <a:xfrm>
            <a:off x="274320" y="4576572"/>
            <a:ext cx="502920" cy="38404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1–3   Specification, power budget, equivalent input</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4480560" cy="914400"/>
        </p:xfrm>
        <a:graphic>
          <a:graphicData uri="http://schemas.openxmlformats.org/drawingml/2006/table">
            <a:tbl>
              <a:tblPr/>
              <a:tblGrid>
                <a:gridCol w="1691640"/>
                <a:gridCol w="1097280"/>
                <a:gridCol w="169164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Item</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Symbol</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Value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Input / output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Vac  /  Vₒᵤₜ , Pₒᵤₜ</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90–264 Vac  /  25 V, 26.3 A (657.5 W)</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Hold-up / minimum output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Thold / Vo,min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12 ms / 19 V</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Target series resonance</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fᵣ</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150 kHz</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Rectifier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Nrect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  (secondary centre tap, synchronous)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Dead time assumption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tD</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220 ns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LLC stage efficiency</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η_HB</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98 %</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Rated input power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Pᵢₙ</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684.77 W   (η_tot = 96.02 %)</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
        <p:nvSpPr>
          <p:cNvPr id="6" name="Shape 2"/>
          <p:cNvSpPr/>
          <p:nvPr/>
        </p:nvSpPr>
        <p:spPr>
          <a:xfrm>
            <a:off x="5074920" y="1143000"/>
            <a:ext cx="3703320" cy="555127"/>
          </a:xfrm>
          <a:prstGeom prst="roundRect">
            <a:avLst>
              <a:gd name="adj" fmla="val 6589"/>
            </a:avLst>
          </a:prstGeom>
          <a:solidFill>
            <a:srgbClr val="F2F5F9"/>
          </a:solidFill>
          <a:ln w="9525">
            <a:solidFill>
              <a:srgbClr val="E8E8E9"/>
            </a:solidFill>
            <a:prstDash val="solid"/>
          </a:ln>
        </p:spPr>
        <p:txBody>
          <a:bodyPr/>
          <a:p/>
        </p:txBody>
      </p:sp>
      <p:pic>
        <p:nvPicPr>
          <p:cNvPr id="7" name="Image 1" descr="eq/vinmin.png">    </p:cNvPr>
          <p:cNvPicPr>
            <a:picLocks noChangeAspect="1"/>
          </p:cNvPicPr>
          <p:nvPr/>
        </p:nvPicPr>
        <p:blipFill>
          <a:blip r:embed="rId2"/>
          <a:stretch>
            <a:fillRect/>
          </a:stretch>
        </p:blipFill>
        <p:spPr>
          <a:xfrm>
            <a:off x="5175504" y="1243584"/>
            <a:ext cx="3502152" cy="353959"/>
          </a:xfrm>
          <a:prstGeom prst="rect">
            <a:avLst/>
          </a:prstGeom>
        </p:spPr>
      </p:pic>
      <p:sp>
        <p:nvSpPr>
          <p:cNvPr id="8" name="Shape 3"/>
          <p:cNvSpPr/>
          <p:nvPr/>
        </p:nvSpPr>
        <p:spPr>
          <a:xfrm>
            <a:off x="5285989" y="1807855"/>
            <a:ext cx="3281181" cy="625228"/>
          </a:xfrm>
          <a:prstGeom prst="roundRect">
            <a:avLst>
              <a:gd name="adj" fmla="val 5850"/>
            </a:avLst>
          </a:prstGeom>
          <a:solidFill>
            <a:srgbClr val="F2F5F9"/>
          </a:solidFill>
          <a:ln w="9525">
            <a:solidFill>
              <a:srgbClr val="E8E8E9"/>
            </a:solidFill>
            <a:prstDash val="solid"/>
          </a:ln>
        </p:spPr>
        <p:txBody>
          <a:bodyPr/>
          <a:p/>
        </p:txBody>
      </p:sp>
      <p:pic>
        <p:nvPicPr>
          <p:cNvPr id="9" name="Image 2" descr="eq/vinfbmax.png">    </p:cNvPr>
          <p:cNvPicPr>
            <a:picLocks noChangeAspect="1"/>
          </p:cNvPicPr>
          <p:nvPr/>
        </p:nvPicPr>
        <p:blipFill>
          <a:blip r:embed="rId3"/>
          <a:stretch>
            <a:fillRect/>
          </a:stretch>
        </p:blipFill>
        <p:spPr>
          <a:xfrm>
            <a:off x="5386573" y="1908439"/>
            <a:ext cx="3080013" cy="424060"/>
          </a:xfrm>
          <a:prstGeom prst="rect">
            <a:avLst/>
          </a:prstGeom>
        </p:spPr>
      </p:pic>
      <p:sp>
        <p:nvSpPr>
          <p:cNvPr id="10" name="Text 4"/>
          <p:cNvSpPr/>
          <p:nvPr/>
        </p:nvSpPr>
        <p:spPr>
          <a:xfrm>
            <a:off x="5074920" y="2597675"/>
            <a:ext cx="3703320" cy="256032"/>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This is the step everyone gets wrong.</a:t>
            </a:r>
            <a:endParaRPr lang="en-US" sz="1150" dirty="0"/>
          </a:p>
        </p:txBody>
      </p:sp>
      <p:sp>
        <p:nvSpPr>
          <p:cNvPr id="11" name="Text 5"/>
          <p:cNvSpPr/>
          <p:nvPr/>
        </p:nvSpPr>
        <p:spPr>
          <a:xfrm>
            <a:off x="5074920" y="2890283"/>
            <a:ext cx="3703320" cy="1463040"/>
          </a:xfrm>
          <a:prstGeom prst="rect">
            <a:avLst/>
          </a:prstGeom>
          <a:noFill/>
          <a:ln/>
        </p:spPr>
        <p:txBody>
          <a:bodyPr wrap="square" lIns="0" tIns="0" rIns="0" bIns="0" rtlCol="0" anchor="t"/>
          <a:lstStyle/>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With morphing, the tank does NOT see 90 Vac at the bottom and 264 Vac at the top.</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It sees 173.2 Vac equivalent at the half-bridge edge and 332.3 Vac equivalent at the full-bridge edge.</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Equivalent range = 1.92 : 1 between the two design corners — 2.08 : 1 once the 235/245 Vpk hysteresis band is included. Miss this and you miss BOTH worst corners.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4–6   Turns ratio, gain range, λ</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5" name="Shape 2"/>
          <p:cNvSpPr/>
          <p:nvPr/>
        </p:nvSpPr>
        <p:spPr>
          <a:xfrm>
            <a:off x="2726481" y="1143000"/>
            <a:ext cx="3691038" cy="645518"/>
          </a:xfrm>
          <a:prstGeom prst="roundRect">
            <a:avLst>
              <a:gd name="adj" fmla="val 5666"/>
            </a:avLst>
          </a:prstGeom>
          <a:solidFill>
            <a:srgbClr val="F2F5F9"/>
          </a:solidFill>
          <a:ln w="9525">
            <a:solidFill>
              <a:srgbClr val="E8E8E9"/>
            </a:solidFill>
            <a:prstDash val="solid"/>
          </a:ln>
        </p:spPr>
        <p:txBody>
          <a:bodyPr/>
          <a:p/>
        </p:txBody>
      </p:sp>
      <p:pic>
        <p:nvPicPr>
          <p:cNvPr id="6" name="Image 1" descr="eq/turns.png">    </p:cNvPr>
          <p:cNvPicPr>
            <a:picLocks noChangeAspect="1"/>
          </p:cNvPicPr>
          <p:nvPr/>
        </p:nvPicPr>
        <p:blipFill>
          <a:blip r:embed="rId2"/>
          <a:stretch>
            <a:fillRect/>
          </a:stretch>
        </p:blipFill>
        <p:spPr>
          <a:xfrm>
            <a:off x="2827065" y="1243584"/>
            <a:ext cx="3489870" cy="444350"/>
          </a:xfrm>
          <a:prstGeom prst="rect">
            <a:avLst/>
          </a:prstGeom>
        </p:spPr>
      </p:pic>
      <p:sp>
        <p:nvSpPr>
          <p:cNvPr id="7" name="Shape 3"/>
          <p:cNvSpPr/>
          <p:nvPr/>
        </p:nvSpPr>
        <p:spPr>
          <a:xfrm>
            <a:off x="1710970" y="1916534"/>
            <a:ext cx="5722061" cy="645518"/>
          </a:xfrm>
          <a:prstGeom prst="roundRect">
            <a:avLst>
              <a:gd name="adj" fmla="val 5666"/>
            </a:avLst>
          </a:prstGeom>
          <a:solidFill>
            <a:srgbClr val="F2F5F9"/>
          </a:solidFill>
          <a:ln w="9525">
            <a:solidFill>
              <a:srgbClr val="E8E8E9"/>
            </a:solidFill>
            <a:prstDash val="solid"/>
          </a:ln>
        </p:spPr>
        <p:txBody>
          <a:bodyPr/>
          <a:p/>
        </p:txBody>
      </p:sp>
      <p:pic>
        <p:nvPicPr>
          <p:cNvPr id="8" name="Image 2" descr="eq/gainrange.png">    </p:cNvPr>
          <p:cNvPicPr>
            <a:picLocks noChangeAspect="1"/>
          </p:cNvPicPr>
          <p:nvPr/>
        </p:nvPicPr>
        <p:blipFill>
          <a:blip r:embed="rId3"/>
          <a:stretch>
            <a:fillRect/>
          </a:stretch>
        </p:blipFill>
        <p:spPr>
          <a:xfrm>
            <a:off x="1811554" y="2017118"/>
            <a:ext cx="5520893" cy="444350"/>
          </a:xfrm>
          <a:prstGeom prst="rect">
            <a:avLst/>
          </a:prstGeom>
        </p:spPr>
      </p:pic>
      <p:sp>
        <p:nvSpPr>
          <p:cNvPr id="9" name="Text 4"/>
          <p:cNvSpPr/>
          <p:nvPr/>
        </p:nvSpPr>
        <p:spPr>
          <a:xfrm>
            <a:off x="365760" y="3218688"/>
            <a:ext cx="2011680" cy="502920"/>
          </a:xfrm>
          <a:prstGeom prst="rect">
            <a:avLst/>
          </a:prstGeom>
          <a:noFill/>
          <a:ln/>
        </p:spPr>
        <p:txBody>
          <a:bodyPr wrap="square" lIns="0" tIns="0" rIns="0" bIns="0" rtlCol="0" anchor="ctr"/>
          <a:lstStyle/>
          <a:p>
            <a:pPr algn="ctr" indent="0" marL="0">
              <a:buNone/>
            </a:pPr>
            <a:r>
              <a:rPr lang="en-US" sz="2800" b="1" dirty="0">
                <a:solidFill>
                  <a:srgbClr val="03234B"/>
                </a:solidFill>
                <a:latin typeface="Arial" pitchFamily="34" charset="0"/>
                <a:ea typeface="Arial" pitchFamily="34" charset="-122"/>
                <a:cs typeface="Arial" pitchFamily="34" charset="-120"/>
              </a:rPr>
              <a:t>n = 6</a:t>
            </a:r>
            <a:endParaRPr lang="en-US" sz="2800" dirty="0"/>
          </a:p>
        </p:txBody>
      </p:sp>
      <p:sp>
        <p:nvSpPr>
          <p:cNvPr id="10" name="Text 5"/>
          <p:cNvSpPr/>
          <p:nvPr/>
        </p:nvSpPr>
        <p:spPr>
          <a:xfrm>
            <a:off x="365760" y="3712464"/>
            <a:ext cx="201168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equivalent-model turns ratio</a:t>
            </a:r>
            <a:endParaRPr lang="en-US" sz="900" dirty="0"/>
          </a:p>
        </p:txBody>
      </p:sp>
      <p:sp>
        <p:nvSpPr>
          <p:cNvPr id="11" name="Text 6"/>
          <p:cNvSpPr/>
          <p:nvPr/>
        </p:nvSpPr>
        <p:spPr>
          <a:xfrm>
            <a:off x="2468880" y="3218688"/>
            <a:ext cx="2011680" cy="502920"/>
          </a:xfrm>
          <a:prstGeom prst="rect">
            <a:avLst/>
          </a:prstGeom>
          <a:noFill/>
          <a:ln/>
        </p:spPr>
        <p:txBody>
          <a:bodyPr wrap="square" lIns="0" tIns="0" rIns="0" bIns="0" rtlCol="0" anchor="ctr"/>
          <a:lstStyle/>
          <a:p>
            <a:pPr algn="ctr" indent="0" marL="0">
              <a:buNone/>
            </a:pPr>
            <a:r>
              <a:rPr lang="en-US" sz="2800" b="1" dirty="0">
                <a:solidFill>
                  <a:srgbClr val="E6007E"/>
                </a:solidFill>
                <a:latin typeface="Arial" pitchFamily="34" charset="0"/>
                <a:ea typeface="Arial" pitchFamily="34" charset="-122"/>
                <a:cs typeface="Arial" pitchFamily="34" charset="-120"/>
              </a:rPr>
              <a:t>150 V</a:t>
            </a:r>
            <a:endParaRPr lang="en-US" sz="2800" dirty="0"/>
          </a:p>
        </p:txBody>
      </p:sp>
      <p:sp>
        <p:nvSpPr>
          <p:cNvPr id="12" name="Text 7"/>
          <p:cNvSpPr/>
          <p:nvPr/>
        </p:nvSpPr>
        <p:spPr>
          <a:xfrm>
            <a:off x="2468880" y="3712464"/>
            <a:ext cx="201168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reflected voltage  n·Vo,eff</a:t>
            </a:r>
            <a:endParaRPr lang="en-US" sz="900" dirty="0"/>
          </a:p>
        </p:txBody>
      </p:sp>
      <p:sp>
        <p:nvSpPr>
          <p:cNvPr id="13" name="Text 8"/>
          <p:cNvSpPr/>
          <p:nvPr/>
        </p:nvSpPr>
        <p:spPr>
          <a:xfrm>
            <a:off x="4572000" y="3218688"/>
            <a:ext cx="2011680" cy="502920"/>
          </a:xfrm>
          <a:prstGeom prst="rect">
            <a:avLst/>
          </a:prstGeom>
          <a:noFill/>
          <a:ln/>
        </p:spPr>
        <p:txBody>
          <a:bodyPr wrap="square" lIns="0" tIns="0" rIns="0" bIns="0" rtlCol="0" anchor="ctr"/>
          <a:lstStyle/>
          <a:p>
            <a:pPr algn="ctr" indent="0" marL="0">
              <a:buNone/>
            </a:pPr>
            <a:r>
              <a:rPr lang="en-US" sz="2800" b="1" dirty="0">
                <a:solidFill>
                  <a:srgbClr val="E6007E"/>
                </a:solidFill>
                <a:latin typeface="Arial" pitchFamily="34" charset="0"/>
                <a:ea typeface="Arial" pitchFamily="34" charset="-122"/>
                <a:cs typeface="Arial" pitchFamily="34" charset="-120"/>
              </a:rPr>
              <a:t>λ = 0.55</a:t>
            </a:r>
            <a:endParaRPr lang="en-US" sz="2800" dirty="0"/>
          </a:p>
        </p:txBody>
      </p:sp>
      <p:sp>
        <p:nvSpPr>
          <p:cNvPr id="14" name="Text 9"/>
          <p:cNvSpPr/>
          <p:nvPr/>
        </p:nvSpPr>
        <p:spPr>
          <a:xfrm>
            <a:off x="4572000" y="3712464"/>
            <a:ext cx="201168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design inductance ratio</a:t>
            </a:r>
            <a:endParaRPr lang="en-US" sz="900" dirty="0"/>
          </a:p>
        </p:txBody>
      </p:sp>
      <p:sp>
        <p:nvSpPr>
          <p:cNvPr id="15" name="Text 10"/>
          <p:cNvSpPr/>
          <p:nvPr/>
        </p:nvSpPr>
        <p:spPr>
          <a:xfrm>
            <a:off x="6675120" y="3218688"/>
            <a:ext cx="2103120" cy="502920"/>
          </a:xfrm>
          <a:prstGeom prst="rect">
            <a:avLst/>
          </a:prstGeom>
          <a:noFill/>
          <a:ln/>
        </p:spPr>
        <p:txBody>
          <a:bodyPr wrap="square" lIns="0" tIns="0" rIns="0" bIns="0" rtlCol="0" anchor="ctr"/>
          <a:lstStyle/>
          <a:p>
            <a:pPr algn="ctr" indent="0" marL="0">
              <a:buNone/>
            </a:pPr>
            <a:r>
              <a:rPr lang="en-US" sz="2800" b="1" dirty="0">
                <a:solidFill>
                  <a:srgbClr val="03234B"/>
                </a:solidFill>
                <a:latin typeface="Arial" pitchFamily="34" charset="0"/>
                <a:ea typeface="Arial" pitchFamily="34" charset="-122"/>
                <a:cs typeface="Arial" pitchFamily="34" charset="-120"/>
              </a:rPr>
              <a:t>m = 2.82</a:t>
            </a:r>
            <a:endParaRPr lang="en-US" sz="2800" dirty="0"/>
          </a:p>
        </p:txBody>
      </p:sp>
      <p:sp>
        <p:nvSpPr>
          <p:cNvPr id="16" name="Text 11"/>
          <p:cNvSpPr/>
          <p:nvPr/>
        </p:nvSpPr>
        <p:spPr>
          <a:xfrm>
            <a:off x="6675120" y="3712464"/>
            <a:ext cx="2103120" cy="310896"/>
          </a:xfrm>
          <a:prstGeom prst="rect">
            <a:avLst/>
          </a:prstGeom>
          <a:noFill/>
          <a:ln/>
        </p:spPr>
        <p:txBody>
          <a:bodyPr wrap="square" lIns="0" tIns="0" rIns="0" bIns="0" rtlCol="0" anchor="ctr"/>
          <a:lstStyle/>
          <a:p>
            <a:pPr algn="ctr" indent="0" marL="0">
              <a:buNone/>
            </a:pPr>
            <a:r>
              <a:rPr lang="en-US" sz="900" dirty="0">
                <a:solidFill>
                  <a:srgbClr val="464650"/>
                </a:solidFill>
                <a:latin typeface="Arial" pitchFamily="34" charset="0"/>
                <a:ea typeface="Arial" pitchFamily="34" charset="-122"/>
                <a:cs typeface="Arial" pitchFamily="34" charset="-120"/>
              </a:rPr>
              <a:t>equivalent  Lp / Lr</a:t>
            </a:r>
            <a:endParaRPr lang="en-US" sz="900" dirty="0"/>
          </a:p>
        </p:txBody>
      </p:sp>
      <p:sp>
        <p:nvSpPr>
          <p:cNvPr id="17" name="Shape 12"/>
          <p:cNvSpPr/>
          <p:nvPr/>
        </p:nvSpPr>
        <p:spPr>
          <a:xfrm>
            <a:off x="365760" y="3986784"/>
            <a:ext cx="8412480" cy="786384"/>
          </a:xfrm>
          <a:prstGeom prst="roundRect">
            <a:avLst>
              <a:gd name="adj" fmla="val 5814"/>
            </a:avLst>
          </a:prstGeom>
          <a:solidFill>
            <a:srgbClr val="F5F7FA"/>
          </a:solidFill>
          <a:ln w="12700">
            <a:solidFill>
              <a:srgbClr val="E6007E"/>
            </a:solidFill>
            <a:prstDash val="solid"/>
          </a:ln>
        </p:spPr>
        <p:txBody>
          <a:bodyPr/>
          <a:p/>
        </p:txBody>
      </p:sp>
      <p:sp>
        <p:nvSpPr>
          <p:cNvPr id="18" name="Text 13"/>
          <p:cNvSpPr/>
          <p:nvPr/>
        </p:nvSpPr>
        <p:spPr>
          <a:xfrm>
            <a:off x="475488" y="4069080"/>
            <a:ext cx="819302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Always check the REFLECTED voltage, never the ratio alone</a:t>
            </a:r>
            <a:endParaRPr lang="en-US" sz="1150" dirty="0"/>
          </a:p>
        </p:txBody>
      </p:sp>
      <p:sp>
        <p:nvSpPr>
          <p:cNvPr id="19" name="Text 14"/>
          <p:cNvSpPr/>
          <p:nvPr/>
        </p:nvSpPr>
        <p:spPr>
          <a:xfrm>
            <a:off x="475488" y="4370832"/>
            <a:ext cx="8193024" cy="424271"/>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n only ever appears multiplied by Vo,eff. Same n·Vo,eff = same tank — but every CURRENT that uses n alone is then wrong.</a:t>
            </a:r>
            <a:endParaRPr lang="en-US" sz="1000" dirty="0"/>
          </a:p>
          <a:p>
            <a:pPr indent="0" marL="0">
              <a:buNone/>
            </a:pPr>
            <a:r>
              <a:rPr lang="en-US" sz="1000" dirty="0">
                <a:solidFill>
                  <a:srgbClr val="464650"/>
                </a:solidFill>
                <a:latin typeface="Arial" pitchFamily="34" charset="0"/>
                <a:ea typeface="Arial" pitchFamily="34" charset="-122"/>
                <a:cs typeface="Arial" pitchFamily="34" charset="-120"/>
              </a:rPr>
              <a:t>Nᵣₑₑₜ = 1 here (centre tap), so the spreadsheet’s Nᵣₑₑₜ = 2 defect cannot arise. See Part 6.</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7–8   Quality factor, ZVS check, tank components</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5" name="Shape 2"/>
          <p:cNvSpPr/>
          <p:nvPr/>
        </p:nvSpPr>
        <p:spPr>
          <a:xfrm>
            <a:off x="747671" y="1143000"/>
            <a:ext cx="4173938" cy="645518"/>
          </a:xfrm>
          <a:prstGeom prst="roundRect">
            <a:avLst>
              <a:gd name="adj" fmla="val 5666"/>
            </a:avLst>
          </a:prstGeom>
          <a:solidFill>
            <a:srgbClr val="F2F5F9"/>
          </a:solidFill>
          <a:ln w="9525">
            <a:solidFill>
              <a:srgbClr val="E8E8E9"/>
            </a:solidFill>
            <a:prstDash val="solid"/>
          </a:ln>
        </p:spPr>
        <p:txBody>
          <a:bodyPr/>
          <a:p/>
        </p:txBody>
      </p:sp>
      <p:pic>
        <p:nvPicPr>
          <p:cNvPr id="6" name="Image 1" descr="eq/qzvs.png">    </p:cNvPr>
          <p:cNvPicPr>
            <a:picLocks noChangeAspect="1"/>
          </p:cNvPicPr>
          <p:nvPr/>
        </p:nvPicPr>
        <p:blipFill>
          <a:blip r:embed="rId2"/>
          <a:stretch>
            <a:fillRect/>
          </a:stretch>
        </p:blipFill>
        <p:spPr>
          <a:xfrm>
            <a:off x="848255" y="1243584"/>
            <a:ext cx="3972770" cy="444350"/>
          </a:xfrm>
          <a:prstGeom prst="rect">
            <a:avLst/>
          </a:prstGeom>
        </p:spPr>
      </p:pic>
      <p:sp>
        <p:nvSpPr>
          <p:cNvPr id="7" name="Shape 3"/>
          <p:cNvSpPr/>
          <p:nvPr/>
        </p:nvSpPr>
        <p:spPr>
          <a:xfrm>
            <a:off x="954628" y="1898246"/>
            <a:ext cx="3760024" cy="586677"/>
          </a:xfrm>
          <a:prstGeom prst="roundRect">
            <a:avLst>
              <a:gd name="adj" fmla="val 6234"/>
            </a:avLst>
          </a:prstGeom>
          <a:solidFill>
            <a:srgbClr val="F2F5F9"/>
          </a:solidFill>
          <a:ln w="9525">
            <a:solidFill>
              <a:srgbClr val="E8E8E9"/>
            </a:solidFill>
            <a:prstDash val="solid"/>
          </a:ln>
        </p:spPr>
        <p:txBody>
          <a:bodyPr/>
          <a:p/>
        </p:txBody>
      </p:sp>
      <p:pic>
        <p:nvPicPr>
          <p:cNvPr id="8" name="Image 2" descr="eq/qzvs2.png">    </p:cNvPr>
          <p:cNvPicPr>
            <a:picLocks noChangeAspect="1"/>
          </p:cNvPicPr>
          <p:nvPr/>
        </p:nvPicPr>
        <p:blipFill>
          <a:blip r:embed="rId3"/>
          <a:stretch>
            <a:fillRect/>
          </a:stretch>
        </p:blipFill>
        <p:spPr>
          <a:xfrm>
            <a:off x="1055212" y="1998830"/>
            <a:ext cx="3558856" cy="385509"/>
          </a:xfrm>
          <a:prstGeom prst="rect">
            <a:avLst/>
          </a:prstGeom>
        </p:spPr>
      </p:pic>
      <p:sp>
        <p:nvSpPr>
          <p:cNvPr id="9" name="Shape 4"/>
          <p:cNvSpPr/>
          <p:nvPr/>
        </p:nvSpPr>
        <p:spPr>
          <a:xfrm>
            <a:off x="1102745" y="2594651"/>
            <a:ext cx="3463790" cy="594793"/>
          </a:xfrm>
          <a:prstGeom prst="roundRect">
            <a:avLst>
              <a:gd name="adj" fmla="val 6149"/>
            </a:avLst>
          </a:prstGeom>
          <a:solidFill>
            <a:srgbClr val="F2F5F9"/>
          </a:solidFill>
          <a:ln w="9525">
            <a:solidFill>
              <a:srgbClr val="E8E8E9"/>
            </a:solidFill>
            <a:prstDash val="solid"/>
          </a:ln>
        </p:spPr>
        <p:txBody>
          <a:bodyPr/>
          <a:p/>
        </p:txBody>
      </p:sp>
      <p:pic>
        <p:nvPicPr>
          <p:cNvPr id="10" name="Image 3" descr="eq/tank.png">    </p:cNvPr>
          <p:cNvPicPr>
            <a:picLocks noChangeAspect="1"/>
          </p:cNvPicPr>
          <p:nvPr/>
        </p:nvPicPr>
        <p:blipFill>
          <a:blip r:embed="rId4"/>
          <a:stretch>
            <a:fillRect/>
          </a:stretch>
        </p:blipFill>
        <p:spPr>
          <a:xfrm>
            <a:off x="1203329" y="2695235"/>
            <a:ext cx="3262622" cy="393625"/>
          </a:xfrm>
          <a:prstGeom prst="rect">
            <a:avLst/>
          </a:prstGeom>
        </p:spPr>
      </p:pic>
      <p:sp>
        <p:nvSpPr>
          <p:cNvPr id="11" name="Text 5"/>
          <p:cNvSpPr/>
          <p:nvPr/>
        </p:nvSpPr>
        <p:spPr>
          <a:xfrm>
            <a:off x="914400" y="4224528"/>
            <a:ext cx="4389120" cy="548640"/>
          </a:xfrm>
          <a:prstGeom prst="rect">
            <a:avLst/>
          </a:prstGeom>
          <a:noFill/>
          <a:ln/>
        </p:spPr>
        <p:txBody>
          <a:bodyPr wrap="square" lIns="0" tIns="0" rIns="0" bIns="0" rtlCol="0" anchor="ctr"/>
          <a:lstStyle/>
          <a:p>
            <a:pPr indent="0" marL="0">
              <a:buNone/>
            </a:pPr>
            <a:r>
              <a:rPr lang="en-US" sz="950" b="1" dirty="0">
                <a:solidFill>
                  <a:srgbClr val="E6007E"/>
                </a:solidFill>
                <a:latin typeface="Arial" pitchFamily="34" charset="0"/>
                <a:ea typeface="Arial" pitchFamily="34" charset="-122"/>
                <a:cs typeface="Arial" pitchFamily="34" charset="-120"/>
              </a:rPr>
              <a:t>Never round Lₘ UP. Here 20.3 µH was rounded DOWN to 20 µH, which keeps λ_act at 0.55; rounding up would have lowered it and taken the ZVS margin with it.</a:t>
            </a:r>
            <a:endParaRPr lang="en-US" sz="9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40680" y="1143000"/>
          <a:ext cx="3337560" cy="914400"/>
        </p:xfrm>
        <a:graphic>
          <a:graphicData uri="http://schemas.openxmlformats.org/drawingml/2006/table">
            <a:tbl>
              <a:tblPr/>
              <a:tblGrid>
                <a:gridCol w="1234440"/>
                <a:gridCol w="1051560"/>
                <a:gridCol w="105156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Quantity</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Calculated</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Selected</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Rac</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13.59 Ω</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QZVS,1 / QZVS,2</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0.974 / 6.97</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QZVS = 0.847</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Z₀</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11.51 Ω</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Cᵣ</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92.21 nF</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100 nF   ← rounded UP</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Lᵣ</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11.26 µH</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11 µH</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Lₘ</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20.32 µH</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20 µH   ← rounded DOWN</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λ_act  /  fᵣ  /  fₒ</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0.550 / 151.7 kHz / 90.4 kHz</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
        <p:nvSpPr>
          <p:cNvPr id="13" name="Shape 6"/>
          <p:cNvSpPr/>
          <p:nvPr/>
        </p:nvSpPr>
        <p:spPr>
          <a:xfrm>
            <a:off x="5440680" y="3840480"/>
            <a:ext cx="3337560" cy="401065"/>
          </a:xfrm>
          <a:prstGeom prst="roundRect">
            <a:avLst>
              <a:gd name="adj" fmla="val 9120"/>
            </a:avLst>
          </a:prstGeom>
          <a:solidFill>
            <a:srgbClr val="F2F5F9"/>
          </a:solidFill>
          <a:ln w="9525">
            <a:solidFill>
              <a:srgbClr val="E8E8E9"/>
            </a:solidFill>
            <a:prstDash val="solid"/>
          </a:ln>
        </p:spPr>
        <p:txBody>
          <a:bodyPr/>
          <a:p/>
        </p:txBody>
      </p:sp>
      <p:pic>
        <p:nvPicPr>
          <p:cNvPr id="14" name="Image 4" descr="eq/ntreal.png">    </p:cNvPr>
          <p:cNvPicPr>
            <a:picLocks noChangeAspect="1"/>
          </p:cNvPicPr>
          <p:nvPr/>
        </p:nvPicPr>
        <p:blipFill>
          <a:blip r:embed="rId5"/>
          <a:stretch>
            <a:fillRect/>
          </a:stretch>
        </p:blipFill>
        <p:spPr>
          <a:xfrm>
            <a:off x="5541264" y="3941064"/>
            <a:ext cx="3136392" cy="199897"/>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9   ZVS verification at the REAL operating point</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The closed-form short cut is wrong in BOTH directions — measure at the real operating point</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1679994" y="1143000"/>
            <a:ext cx="2309293" cy="590735"/>
          </a:xfrm>
          <a:prstGeom prst="roundRect">
            <a:avLst>
              <a:gd name="adj" fmla="val 6192"/>
            </a:avLst>
          </a:prstGeom>
          <a:solidFill>
            <a:srgbClr val="F2F5F9"/>
          </a:solidFill>
          <a:ln w="9525">
            <a:solidFill>
              <a:srgbClr val="E8E8E9"/>
            </a:solidFill>
            <a:prstDash val="solid"/>
          </a:ln>
        </p:spPr>
        <p:txBody>
          <a:bodyPr/>
          <a:p/>
        </p:txBody>
      </p:sp>
      <p:pic>
        <p:nvPicPr>
          <p:cNvPr id="7" name="Image 1" descr="eq/tzc.png">    </p:cNvPr>
          <p:cNvPicPr>
            <a:picLocks noChangeAspect="1"/>
          </p:cNvPicPr>
          <p:nvPr/>
        </p:nvPicPr>
        <p:blipFill>
          <a:blip r:embed="rId2"/>
          <a:stretch>
            <a:fillRect/>
          </a:stretch>
        </p:blipFill>
        <p:spPr>
          <a:xfrm>
            <a:off x="1780578" y="1243584"/>
            <a:ext cx="2108125" cy="389567"/>
          </a:xfrm>
          <a:prstGeom prst="rect">
            <a:avLst/>
          </a:prstGeom>
        </p:spPr>
      </p:pic>
      <p:sp>
        <p:nvSpPr>
          <p:cNvPr id="8" name="Shape 4"/>
          <p:cNvSpPr/>
          <p:nvPr/>
        </p:nvSpPr>
        <p:spPr>
          <a:xfrm>
            <a:off x="1242745" y="1843463"/>
            <a:ext cx="3183789" cy="649576"/>
          </a:xfrm>
          <a:prstGeom prst="roundRect">
            <a:avLst>
              <a:gd name="adj" fmla="val 5631"/>
            </a:avLst>
          </a:prstGeom>
          <a:solidFill>
            <a:srgbClr val="F2F5F9"/>
          </a:solidFill>
          <a:ln w="9525">
            <a:solidFill>
              <a:srgbClr val="E8E8E9"/>
            </a:solidFill>
            <a:prstDash val="solid"/>
          </a:ln>
        </p:spPr>
        <p:txBody>
          <a:bodyPr/>
          <a:p/>
        </p:txBody>
      </p:sp>
      <p:pic>
        <p:nvPicPr>
          <p:cNvPr id="9" name="Image 2" descr="eq/phi.png">    </p:cNvPr>
          <p:cNvPicPr>
            <a:picLocks noChangeAspect="1"/>
          </p:cNvPicPr>
          <p:nvPr/>
        </p:nvPicPr>
        <p:blipFill>
          <a:blip r:embed="rId3"/>
          <a:stretch>
            <a:fillRect/>
          </a:stretch>
        </p:blipFill>
        <p:spPr>
          <a:xfrm>
            <a:off x="1343329" y="1944047"/>
            <a:ext cx="2982621" cy="448408"/>
          </a:xfrm>
          <a:prstGeom prst="rect">
            <a:avLst/>
          </a:prstGeom>
        </p:spPr>
      </p:pic>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365760" y="2657631"/>
          <a:ext cx="4937760" cy="914400"/>
        </p:xfrm>
        <a:graphic>
          <a:graphicData uri="http://schemas.openxmlformats.org/drawingml/2006/table">
            <a:tbl>
              <a:tblPr/>
              <a:tblGrid>
                <a:gridCol w="777240"/>
                <a:gridCol w="868680"/>
                <a:gridCol w="685800"/>
                <a:gridCol w="685800"/>
                <a:gridCol w="685800"/>
                <a:gridCol w="123444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Load</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173.2</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180</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225</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264</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332.3 Vac eq.</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100 %</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457 ns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515</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669</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672</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603</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75 %</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752</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771</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787</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716</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559</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50 %</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1078</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1073</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964</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802</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497</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25 %</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1464</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1439</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1223</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965</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394</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
        <p:nvSpPr>
          <p:cNvPr id="11" name="Text 5"/>
          <p:cNvSpPr/>
          <p:nvPr/>
        </p:nvSpPr>
        <p:spPr>
          <a:xfrm>
            <a:off x="5440680" y="1143000"/>
            <a:ext cx="3337560" cy="3566160"/>
          </a:xfrm>
          <a:prstGeom prst="rect">
            <a:avLst/>
          </a:prstGeom>
          <a:noFill/>
          <a:ln/>
        </p:spPr>
        <p:txBody>
          <a:bodyPr wrap="square" lIns="0" tIns="0" rIns="0" bIns="0" rtlCol="0" anchor="t"/>
          <a:lstStyle/>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Sweep θ, input voltage and load with the SELECTED tank, then take the minimum.</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Worst point: full load, 173.2 Vac equivalent, θ = 90° → TZC = 457 ns.</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Against tD = 220 ns that is 2.08× margin. Verified: the phase expression is EXACTLY the tank input-impedance phase, so the accuracy equals that of FHA itself.</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The margin comes from the tank choice: Cᵣ was taken ABOVE its calculated value (92 → 100 nF) and Lₘ BELOW (20.3 → 20 µH), which lowers Q_pk and holds λ_act.</a:t>
            </a:r>
            <a:endParaRPr lang="en-US" sz="1050" dirty="0"/>
          </a:p>
          <a:p>
            <a:pPr marL="177800" indent="-177800">
              <a:spcAft>
                <a:spcPts val="700"/>
              </a:spcAft>
              <a:buSzPct val="100000"/>
              <a:buChar char="•"/>
            </a:pPr>
            <a:r>
              <a:rPr lang="en-US" sz="1050" dirty="0">
                <a:solidFill>
                  <a:srgbClr val="03234B"/>
                </a:solidFill>
                <a:latin typeface="Arial" pitchFamily="34" charset="0"/>
                <a:ea typeface="Arial" pitchFamily="34" charset="-122"/>
                <a:cs typeface="Arial" pitchFamily="34" charset="-120"/>
              </a:rPr>
              <a:t>Measure ZVS at the morphing edge on the first board. No exceptions.</a:t>
            </a:r>
            <a:endParaRPr lang="en-US" sz="1050" dirty="0"/>
          </a:p>
          <a:p>
            <a:pPr>
              <a:spcBef>
                <a:spcPts val="600"/>
              </a:spcBef>
            </a:pPr>
            <a:r>
              <a:rPr sz="900" b="1">
                <a:solidFill>
                  <a:srgbClr val="E6007E"/>
                </a:solidFill>
                <a:latin typeface="Arial"/>
              </a:rPr>
              <a:t>The [36]–[38] closed form has NO fixed sign. On this tank it UNDERSTATES the margin by 34 % (300 against the swept 457 ns); on a 240 W tank measured the same way it OVERSTATES by 23 % (302.8 against 246.5 ns). Two causes: [36] is a fitted approximation, and it is evaluated at the design Q_ZVS rather than the Q the converter actually runs at. Optimistic is the dangerous direction — it reports ZVS margin that is not there. Never trust it. Sweep.</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10   Currents over the line cycle</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Ratings come from the worst switching cycle; losses from the line-cycle rms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pic>
        <p:nvPicPr>
          <p:cNvPr id="6" name="Image 1" descr="fig/c_ilr.png">    </p:cNvPr>
          <p:cNvPicPr>
            <a:picLocks noChangeAspect="1"/>
          </p:cNvPicPr>
          <p:nvPr/>
        </p:nvPicPr>
        <p:blipFill>
          <a:blip r:embed="rId2"/>
          <a:stretch>
            <a:fillRect/>
          </a:stretch>
        </p:blipFill>
        <p:spPr>
          <a:xfrm>
            <a:off x="365760" y="1384874"/>
            <a:ext cx="4480560" cy="2168013"/>
          </a:xfrm>
          <a:prstGeom prst="rect">
            <a:avLst/>
          </a:prstGeom>
        </p:spPr>
      </p:pic>
      <p:sp>
        <p:nvSpPr>
          <p:cNvPr id="7" name="Shape 3"/>
          <p:cNvSpPr/>
          <p:nvPr/>
        </p:nvSpPr>
        <p:spPr>
          <a:xfrm>
            <a:off x="5158095" y="1143000"/>
            <a:ext cx="3445530" cy="617112"/>
          </a:xfrm>
          <a:prstGeom prst="roundRect">
            <a:avLst>
              <a:gd name="adj" fmla="val 5927"/>
            </a:avLst>
          </a:prstGeom>
          <a:solidFill>
            <a:srgbClr val="F2F5F9"/>
          </a:solidFill>
          <a:ln w="9525">
            <a:solidFill>
              <a:srgbClr val="E8E8E9"/>
            </a:solidFill>
            <a:prstDash val="solid"/>
          </a:ln>
        </p:spPr>
        <p:txBody>
          <a:bodyPr/>
          <a:p/>
        </p:txBody>
      </p:sp>
      <p:pic>
        <p:nvPicPr>
          <p:cNvPr id="8" name="Image 2" descr="eq/isecpk.png">    </p:cNvPr>
          <p:cNvPicPr>
            <a:picLocks noChangeAspect="1"/>
          </p:cNvPicPr>
          <p:nvPr/>
        </p:nvPicPr>
        <p:blipFill>
          <a:blip r:embed="rId3"/>
          <a:stretch>
            <a:fillRect/>
          </a:stretch>
        </p:blipFill>
        <p:spPr>
          <a:xfrm>
            <a:off x="5258679" y="1243584"/>
            <a:ext cx="3244362" cy="415944"/>
          </a:xfrm>
          <a:prstGeom prst="rect">
            <a:avLst/>
          </a:prstGeom>
        </p:spPr>
      </p:pic>
      <p:sp>
        <p:nvSpPr>
          <p:cNvPr id="9" name="Shape 4"/>
          <p:cNvSpPr/>
          <p:nvPr/>
        </p:nvSpPr>
        <p:spPr>
          <a:xfrm>
            <a:off x="4983480" y="1851552"/>
            <a:ext cx="3794760" cy="525566"/>
          </a:xfrm>
          <a:prstGeom prst="roundRect">
            <a:avLst>
              <a:gd name="adj" fmla="val 6959"/>
            </a:avLst>
          </a:prstGeom>
          <a:solidFill>
            <a:srgbClr val="F2F5F9"/>
          </a:solidFill>
          <a:ln w="9525">
            <a:solidFill>
              <a:srgbClr val="E8E8E9"/>
            </a:solidFill>
            <a:prstDash val="solid"/>
          </a:ln>
        </p:spPr>
        <p:txBody>
          <a:bodyPr/>
          <a:p/>
        </p:txBody>
      </p:sp>
      <p:pic>
        <p:nvPicPr>
          <p:cNvPr id="10" name="Image 3" descr="eq/isecrms.png">    </p:cNvPr>
          <p:cNvPicPr>
            <a:picLocks noChangeAspect="1"/>
          </p:cNvPicPr>
          <p:nvPr/>
        </p:nvPicPr>
        <p:blipFill>
          <a:blip r:embed="rId4"/>
          <a:stretch>
            <a:fillRect/>
          </a:stretch>
        </p:blipFill>
        <p:spPr>
          <a:xfrm>
            <a:off x="5084064" y="1952136"/>
            <a:ext cx="3593592" cy="324398"/>
          </a:xfrm>
          <a:prstGeom prst="rect">
            <a:avLst/>
          </a:prstGeom>
        </p:spPr>
      </p:pic>
      <p:sp>
        <p:nvSpPr>
          <p:cNvPr id="11" name="Shape 5"/>
          <p:cNvSpPr/>
          <p:nvPr/>
        </p:nvSpPr>
        <p:spPr>
          <a:xfrm>
            <a:off x="5212878" y="2468558"/>
            <a:ext cx="3335964" cy="629286"/>
          </a:xfrm>
          <a:prstGeom prst="roundRect">
            <a:avLst>
              <a:gd name="adj" fmla="val 5812"/>
            </a:avLst>
          </a:prstGeom>
          <a:solidFill>
            <a:srgbClr val="F2F5F9"/>
          </a:solidFill>
          <a:ln w="9525">
            <a:solidFill>
              <a:srgbClr val="E8E8E9"/>
            </a:solidFill>
            <a:prstDash val="solid"/>
          </a:ln>
        </p:spPr>
        <p:txBody>
          <a:bodyPr/>
          <a:p/>
        </p:txBody>
      </p:sp>
      <p:pic>
        <p:nvPicPr>
          <p:cNvPr id="12" name="Image 4" descr="eq/ilm.png">    </p:cNvPr>
          <p:cNvPicPr>
            <a:picLocks noChangeAspect="1"/>
          </p:cNvPicPr>
          <p:nvPr/>
        </p:nvPicPr>
        <p:blipFill>
          <a:blip r:embed="rId5"/>
          <a:stretch>
            <a:fillRect/>
          </a:stretch>
        </p:blipFill>
        <p:spPr>
          <a:xfrm>
            <a:off x="5313462" y="2569142"/>
            <a:ext cx="3134796" cy="428118"/>
          </a:xfrm>
          <a:prstGeom prst="rect">
            <a:avLst/>
          </a:prstGeom>
        </p:spPr>
      </p:pic>
      <p:sp>
        <p:nvSpPr>
          <p:cNvPr id="13" name="Shape 6"/>
          <p:cNvSpPr/>
          <p:nvPr/>
        </p:nvSpPr>
        <p:spPr>
          <a:xfrm>
            <a:off x="4983480" y="3189284"/>
            <a:ext cx="3794760" cy="424133"/>
          </a:xfrm>
          <a:prstGeom prst="roundRect">
            <a:avLst>
              <a:gd name="adj" fmla="val 8624"/>
            </a:avLst>
          </a:prstGeom>
          <a:solidFill>
            <a:srgbClr val="F2F5F9"/>
          </a:solidFill>
          <a:ln w="9525">
            <a:solidFill>
              <a:srgbClr val="E8E8E9"/>
            </a:solidFill>
            <a:prstDash val="solid"/>
          </a:ln>
        </p:spPr>
        <p:txBody>
          <a:bodyPr/>
          <a:p/>
        </p:txBody>
      </p:sp>
      <p:pic>
        <p:nvPicPr>
          <p:cNvPr id="14" name="Image 5" descr="eq/ilr.png">    </p:cNvPr>
          <p:cNvPicPr>
            <a:picLocks noChangeAspect="1"/>
          </p:cNvPicPr>
          <p:nvPr/>
        </p:nvPicPr>
        <p:blipFill>
          <a:blip r:embed="rId6"/>
          <a:stretch>
            <a:fillRect/>
          </a:stretch>
        </p:blipFill>
        <p:spPr>
          <a:xfrm>
            <a:off x="5084064" y="3289868"/>
            <a:ext cx="3593592" cy="222965"/>
          </a:xfrm>
          <a:prstGeom prst="rect">
            <a:avLst/>
          </a:prstGeom>
        </p:spPr>
      </p:pic>
      <p:sp>
        <p:nvSpPr>
          <p:cNvPr id="15" name="Text 7"/>
          <p:cNvSpPr/>
          <p:nvPr/>
        </p:nvSpPr>
        <p:spPr>
          <a:xfrm>
            <a:off x="4983480" y="4160520"/>
            <a:ext cx="3794760" cy="640080"/>
          </a:xfrm>
          <a:prstGeom prst="rect">
            <a:avLst/>
          </a:prstGeom>
          <a:noFill/>
          <a:ln/>
        </p:spPr>
        <p:txBody>
          <a:bodyPr wrap="square" lIns="0" tIns="0" rIns="0" bIns="0" rtlCol="0" anchor="ctr"/>
          <a:lstStyle/>
          <a:p>
            <a:pPr indent="0" marL="0">
              <a:buNone/>
            </a:pPr>
            <a:r>
              <a:rPr lang="en-US" sz="900" dirty="0">
                <a:solidFill>
                  <a:srgbClr val="E6007E"/>
                </a:solidFill>
                <a:latin typeface="Arial" pitchFamily="34" charset="0"/>
                <a:ea typeface="Arial" pitchFamily="34" charset="-122"/>
                <a:cs typeface="Arial" pitchFamily="34" charset="-120"/>
              </a:rPr>
              <a:t>The conduction ratio √d matters: below resonance the secondary current flows only for d = fsw/fᵣ of each half period. Here d = 0.84, so ignoring it over-estimates the line-cycle rms by 12 %.</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65760" y="3840480"/>
          <a:ext cx="4480560" cy="914400"/>
        </p:xfrm>
        <a:graphic>
          <a:graphicData uri="http://schemas.openxmlformats.org/drawingml/2006/table">
            <a:tbl>
              <a:tblPr/>
              <a:tblGrid>
                <a:gridCol w="2834640"/>
                <a:gridCol w="164592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At 173.2 Vac eq., θ = 90°</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Value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fsw</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127.5 kHz</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Isec,pk</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98.36 A</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Itrafo,pk  /  ILm,pk</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16.39 A  /  12.36 A</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composite tank peak</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18.32 A</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Iₚᵣᵢ,rms  /  I_mos,rms</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13.75 A  /  9.73 A</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Step 11   IC network and component selection</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5" name="Shape 2"/>
          <p:cNvSpPr/>
          <p:nvPr/>
        </p:nvSpPr>
        <p:spPr>
          <a:xfrm>
            <a:off x="1116407" y="1143000"/>
            <a:ext cx="2704947" cy="576532"/>
          </a:xfrm>
          <a:prstGeom prst="roundRect">
            <a:avLst>
              <a:gd name="adj" fmla="val 6344"/>
            </a:avLst>
          </a:prstGeom>
          <a:solidFill>
            <a:srgbClr val="F2F5F9"/>
          </a:solidFill>
          <a:ln w="9525">
            <a:solidFill>
              <a:srgbClr val="E8E8E9"/>
            </a:solidFill>
            <a:prstDash val="solid"/>
          </a:ln>
        </p:spPr>
        <p:txBody>
          <a:bodyPr/>
          <a:p/>
        </p:txBody>
      </p:sp>
      <p:pic>
        <p:nvPicPr>
          <p:cNvPr id="6" name="Image 1" descr="eq/rcs.png">    </p:cNvPr>
          <p:cNvPicPr>
            <a:picLocks noChangeAspect="1"/>
          </p:cNvPicPr>
          <p:nvPr/>
        </p:nvPicPr>
        <p:blipFill>
          <a:blip r:embed="rId2"/>
          <a:stretch>
            <a:fillRect/>
          </a:stretch>
        </p:blipFill>
        <p:spPr>
          <a:xfrm>
            <a:off x="1216991" y="1243584"/>
            <a:ext cx="2503779" cy="375364"/>
          </a:xfrm>
          <a:prstGeom prst="rect">
            <a:avLst/>
          </a:prstGeom>
        </p:spPr>
      </p:pic>
      <p:sp>
        <p:nvSpPr>
          <p:cNvPr id="7" name="Shape 3"/>
          <p:cNvSpPr/>
          <p:nvPr/>
        </p:nvSpPr>
        <p:spPr>
          <a:xfrm>
            <a:off x="365760" y="1810972"/>
            <a:ext cx="4206240" cy="522628"/>
          </a:xfrm>
          <a:prstGeom prst="roundRect">
            <a:avLst>
              <a:gd name="adj" fmla="val 6998"/>
            </a:avLst>
          </a:prstGeom>
          <a:solidFill>
            <a:srgbClr val="F2F5F9"/>
          </a:solidFill>
          <a:ln w="9525">
            <a:solidFill>
              <a:srgbClr val="E8E8E9"/>
            </a:solidFill>
            <a:prstDash val="solid"/>
          </a:ln>
        </p:spPr>
        <p:txBody>
          <a:bodyPr/>
          <a:p/>
        </p:txBody>
      </p:sp>
      <p:pic>
        <p:nvPicPr>
          <p:cNvPr id="8" name="Image 2" descr="eq/rbm.png">    </p:cNvPr>
          <p:cNvPicPr>
            <a:picLocks noChangeAspect="1"/>
          </p:cNvPicPr>
          <p:nvPr/>
        </p:nvPicPr>
        <p:blipFill>
          <a:blip r:embed="rId3"/>
          <a:stretch>
            <a:fillRect/>
          </a:stretch>
        </p:blipFill>
        <p:spPr>
          <a:xfrm>
            <a:off x="466344" y="1911556"/>
            <a:ext cx="4005072" cy="321460"/>
          </a:xfrm>
          <a:prstGeom prst="rect">
            <a:avLst/>
          </a:prstGeom>
        </p:spPr>
      </p:pic>
      <p:sp>
        <p:nvSpPr>
          <p:cNvPr id="9" name="Text 4"/>
          <p:cNvSpPr/>
          <p:nvPr/>
        </p:nvSpPr>
        <p:spPr>
          <a:xfrm>
            <a:off x="365760" y="2479904"/>
            <a:ext cx="4206240" cy="1737360"/>
          </a:xfrm>
          <a:prstGeom prst="rect">
            <a:avLst/>
          </a:prstGeom>
          <a:noFill/>
          <a:ln/>
        </p:spPr>
        <p:txBody>
          <a:bodyPr wrap="square" lIns="0" tIns="0" rIns="0" bIns="0" rtlCol="0" anchor="t"/>
          <a:lstStyle/>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RCS is set by the LOWER of the two conditions. Here the maximum-power rule wins: 24.53 mΩ against 30.02 mΩ.</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Judge the OCP margin against the COMPOSITE tank peak (18.32 A), not against Itrafo,pk (16.39 A). Using the load component alone overstates the margin.</a:t>
            </a:r>
            <a:endParaRPr lang="en-US" sz="1000" dirty="0"/>
          </a:p>
          <a:p>
            <a:pPr marL="177800" indent="-177800">
              <a:spcAft>
                <a:spcPts val="700"/>
              </a:spcAft>
              <a:buSzPct val="100000"/>
              <a:buChar char="•"/>
            </a:pPr>
            <a:r>
              <a:rPr lang="en-US" sz="1000" dirty="0">
                <a:solidFill>
                  <a:srgbClr val="03234B"/>
                </a:solidFill>
                <a:latin typeface="Arial" pitchFamily="34" charset="0"/>
                <a:ea typeface="Arial" pitchFamily="34" charset="-122"/>
                <a:cs typeface="Arial" pitchFamily="34" charset="-120"/>
              </a:rPr>
              <a:t>fMin must sit at or above fₒ = 90.4 kHz, or nothing but the ACP protection stands between you and the capacitive region. RT = 11 kΩ puts it at 92.3 kHz — clear, but by only 2.1 %. That is the THINNEST margin in this whole design, and it moves with Tidle: at 700 ns it goes negative.</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892040" y="1143000"/>
          <a:ext cx="3886200" cy="914400"/>
        </p:xfrm>
        <a:graphic>
          <a:graphicData uri="http://schemas.openxmlformats.org/drawingml/2006/table">
            <a:tbl>
              <a:tblPr/>
              <a:tblGrid>
                <a:gridCol w="1234440"/>
                <a:gridCol w="1463040"/>
                <a:gridCol w="118872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Part</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Value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Result</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CT / RT</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470 pF / 11 kΩ</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fMin 92.3 k, fMax 319.6 k</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RCS</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24.0 mΩ  (5 × 120 mΩ ‖)</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Pᵢₙ,max 700 W; OCP1 22.9 A</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RBM</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27.4 kΩ  → 30 kΩ selected</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burst entry 75 W in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RCFG</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30 kΩ</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VBO 84.9 Vrms, morphing on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RZCD,H / L</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330 kΩ / 19 kΩ</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OVP1 28.2 V, OVP2 30.6 V</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Cᵢₙ</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2200 nF film</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3.2 nF/W — NO bulk capacitor</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Cₒᵤₜ</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470 µF × 160 + 10 µF</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ΔVₒ 1.18 V, R&amp;N 17.4 mV</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Primary switches</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600 V, 45 mΩ  × 4 positions</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full bridge (morphing), 1 device each</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Secondary SR</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80 V, 3.7 mΩ  × 2 per leg</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leg carries 28.4 A rms</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50" dirty="0">
                          <a:solidFill>
                            <a:srgbClr val="03234B"/>
                          </a:solidFill>
                          <a:latin typeface="Arial" pitchFamily="34" charset="0"/>
                          <a:ea typeface="Arial" pitchFamily="34" charset="-122"/>
                          <a:cs typeface="Arial" pitchFamily="34" charset="-120"/>
                        </a:rPr>
                        <a:t>Compensation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82 n / 560 n / 47 k / 1.55 n</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50" dirty="0">
                          <a:solidFill>
                            <a:srgbClr val="03234B"/>
                          </a:solidFill>
                          <a:latin typeface="Arial" pitchFamily="34" charset="0"/>
                          <a:ea typeface="Arial" pitchFamily="34" charset="-122"/>
                          <a:cs typeface="Arial" pitchFamily="34" charset="-120"/>
                        </a:rPr>
                        <a:t>fcross 17.6 Hz, Φ_M 49.6°</a:t>
                      </a:r>
                      <a:endParaRPr lang="en-US" sz="85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Sanity check against real silicon</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The same procedure applied backwards to the EVL6790_670W evaluation board</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1234440"/>
                <a:gridCol w="2148840"/>
                <a:gridCol w="3246120"/>
                <a:gridCol w="178308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Item</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Fitted on the board</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Recomputed with these equations</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Board note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Cᵣ</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33 nF × 3 = 99 nF</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fᵣ = 152.5 kHz</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Lᵣ / Lₘ</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11 / 22 µH</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λ = 0.500, fₒ = 88.1 kHz</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matches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n / naux</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3.2 / 0.33</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equivalent 217 Vac design, centre-tap rectifier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matches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RCS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68 ‖ 68 ‖ 75 mΩ</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23.4 mΩ → Pᵢₙ,max = 718 W</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670 W output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RCFG</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31 kΩ</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124 Vpk = 87.7 Vrms</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VBO = 85 V</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RBM</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24 kΩ</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Pin,BM = 61.4 W → 55.3 W out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BMi = 55 W</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ZCD divider</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150 k / 23 kΩ</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OVP1 52.4 V, OVP2 57.0 V</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52 V / 57 V</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900" dirty="0">
                          <a:solidFill>
                            <a:srgbClr val="03234B"/>
                          </a:solidFill>
                          <a:latin typeface="Arial" pitchFamily="34" charset="0"/>
                          <a:ea typeface="Arial" pitchFamily="34" charset="-122"/>
                          <a:cs typeface="Arial" pitchFamily="34" charset="-120"/>
                        </a:rPr>
                        <a:t>Cₒᵤₜ</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4700 µF × 4 = 18.8 mF</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hold-up 10 ms, 48 → 40 V needs 19.0 mF</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900" dirty="0">
                          <a:solidFill>
                            <a:srgbClr val="03234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
        <p:nvSpPr>
          <p:cNvPr id="7" name="Shape 3"/>
          <p:cNvSpPr/>
          <p:nvPr/>
        </p:nvSpPr>
        <p:spPr>
          <a:xfrm>
            <a:off x="365760" y="3712464"/>
            <a:ext cx="4114800" cy="1005840"/>
          </a:xfrm>
          <a:prstGeom prst="roundRect">
            <a:avLst>
              <a:gd name="adj" fmla="val 4545"/>
            </a:avLst>
          </a:prstGeom>
          <a:solidFill>
            <a:srgbClr val="F5F7FA"/>
          </a:solidFill>
          <a:ln w="12700">
            <a:solidFill>
              <a:srgbClr val="49B170"/>
            </a:solidFill>
            <a:prstDash val="solid"/>
          </a:ln>
        </p:spPr>
        <p:txBody>
          <a:bodyPr/>
          <a:p/>
        </p:txBody>
      </p:sp>
      <p:sp>
        <p:nvSpPr>
          <p:cNvPr id="8" name="Text 4"/>
          <p:cNvSpPr/>
          <p:nvPr/>
        </p:nvSpPr>
        <p:spPr>
          <a:xfrm>
            <a:off x="475488" y="3794760"/>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It closes</a:t>
            </a:r>
            <a:endParaRPr lang="en-US" sz="1150" dirty="0"/>
          </a:p>
        </p:txBody>
      </p:sp>
      <p:sp>
        <p:nvSpPr>
          <p:cNvPr id="9" name="Text 5"/>
          <p:cNvSpPr/>
          <p:nvPr/>
        </p:nvSpPr>
        <p:spPr>
          <a:xfrm>
            <a:off x="475488" y="4096512"/>
            <a:ext cx="3895344" cy="53035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Every fitted value falls out of the same equations, including the two annotations the ST designers wrote on the schematic (BMi = 55 W and VBO = 85 V).</a:t>
            </a:r>
            <a:endParaRPr lang="en-US" sz="1000" dirty="0"/>
          </a:p>
        </p:txBody>
      </p:sp>
      <p:sp>
        <p:nvSpPr>
          <p:cNvPr id="10" name="Shape 6"/>
          <p:cNvSpPr/>
          <p:nvPr/>
        </p:nvSpPr>
        <p:spPr>
          <a:xfrm>
            <a:off x="4663440" y="3712464"/>
            <a:ext cx="4114800" cy="1005840"/>
          </a:xfrm>
          <a:prstGeom prst="roundRect">
            <a:avLst>
              <a:gd name="adj" fmla="val 4545"/>
            </a:avLst>
          </a:prstGeom>
          <a:solidFill>
            <a:srgbClr val="F5F7FA"/>
          </a:solidFill>
          <a:ln w="12700">
            <a:solidFill>
              <a:srgbClr val="E6007E"/>
            </a:solidFill>
            <a:prstDash val="solid"/>
          </a:ln>
        </p:spPr>
        <p:txBody>
          <a:bodyPr/>
          <a:p/>
        </p:txBody>
      </p:sp>
      <p:sp>
        <p:nvSpPr>
          <p:cNvPr id="11" name="Text 7"/>
          <p:cNvSpPr/>
          <p:nvPr/>
        </p:nvSpPr>
        <p:spPr>
          <a:xfrm>
            <a:off x="4773168" y="3794760"/>
            <a:ext cx="3895344" cy="274320"/>
          </a:xfrm>
          <a:prstGeom prst="rect">
            <a:avLst/>
          </a:prstGeom>
          <a:noFill/>
          <a:ln/>
        </p:spPr>
        <p:txBody>
          <a:bodyPr wrap="square" lIns="0" tIns="0" rIns="0" bIns="0" rtlCol="0" anchor="ctr"/>
          <a:lstStyle/>
          <a:p>
            <a:pPr indent="0" marL="0">
              <a:buNone/>
            </a:pPr>
            <a:r>
              <a:rPr lang="en-US" sz="1150" b="1" dirty="0">
                <a:solidFill>
                  <a:srgbClr val="E6007E"/>
                </a:solidFill>
                <a:latin typeface="Arial" pitchFamily="34" charset="0"/>
                <a:ea typeface="Arial" pitchFamily="34" charset="-122"/>
                <a:cs typeface="Arial" pitchFamily="34" charset="-120"/>
              </a:rPr>
              <a:t>Note the λ</a:t>
            </a:r>
            <a:endParaRPr lang="en-US" sz="1150" dirty="0"/>
          </a:p>
        </p:txBody>
      </p:sp>
      <p:sp>
        <p:nvSpPr>
          <p:cNvPr id="12" name="Text 8"/>
          <p:cNvSpPr/>
          <p:nvPr/>
        </p:nvSpPr>
        <p:spPr>
          <a:xfrm>
            <a:off x="4773168" y="4096512"/>
            <a:ext cx="3895344" cy="530352"/>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The board runs λ = 0.500, essentially the same as our 0.55. That is the strongest single confirmation that λ ≈ 0.5 is structural, not a quirk of our</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5">
    <p:bg>
      <p:bgPr>
        <a:solidFill>
          <a:srgbClr val="03234B"/>
        </a:solidFill>
      </p:bgPr>
    </p:bg>
    <p:spTree>
      <p:nvGrpSpPr>
        <p:cNvPr id="1" name=""/>
        <p:cNvGrpSpPr/>
        <p:nvPr/>
      </p:nvGrpSpPr>
      <p:grpSpPr>
        <a:xfrm>
          <a:off x="0" y="0"/>
          <a:ext cx="0" cy="0"/>
          <a:chOff x="0" y="0"/>
          <a:chExt cx="0" cy="0"/>
        </a:xfrm>
      </p:grpSpPr>
      <p:sp>
        <p:nvSpPr>
          <p:cNvPr id="2" name="Shape 0"/>
          <p:cNvSpPr/>
          <p:nvPr/>
        </p:nvSpPr>
        <p:spPr>
          <a:xfrm>
            <a:off x="0" y="1600200"/>
            <a:ext cx="5852160" cy="960120"/>
          </a:xfrm>
          <a:prstGeom prst="rect">
            <a:avLst/>
          </a:prstGeom>
          <a:solidFill>
            <a:srgbClr val="FFD200"/>
          </a:solidFill>
          <a:ln/>
        </p:spPr>
        <p:txBody>
          <a:bodyPr/>
          <a:p/>
        </p:txBody>
      </p:sp>
      <p:sp>
        <p:nvSpPr>
          <p:cNvPr id="3" name="Text 1"/>
          <p:cNvSpPr/>
          <p:nvPr/>
        </p:nvSpPr>
        <p:spPr>
          <a:xfrm>
            <a:off x="502920" y="1600200"/>
            <a:ext cx="5212080" cy="960120"/>
          </a:xfrm>
          <a:prstGeom prst="rect">
            <a:avLst/>
          </a:prstGeom>
          <a:noFill/>
          <a:ln/>
        </p:spPr>
        <p:txBody>
          <a:bodyPr wrap="square" lIns="0" tIns="0" rIns="0" bIns="0" rtlCol="0" anchor="ctr"/>
          <a:lstStyle/>
          <a:p>
            <a:pPr indent="0" marL="0">
              <a:buNone/>
            </a:pPr>
            <a:r>
              <a:rPr lang="en-US" sz="2600" b="1" dirty="0">
                <a:solidFill>
                  <a:srgbClr val="03234B"/>
                </a:solidFill>
                <a:latin typeface="Arial" pitchFamily="34" charset="0"/>
                <a:ea typeface="Arial" pitchFamily="34" charset="-122"/>
                <a:cs typeface="Arial" pitchFamily="34" charset="-120"/>
              </a:rPr>
              <a:t>Verification and errata</a:t>
            </a:r>
            <a:endParaRPr lang="en-US" sz="2600" dirty="0"/>
          </a:p>
        </p:txBody>
      </p:sp>
      <p:sp>
        <p:nvSpPr>
          <p:cNvPr id="4" name="Text 2"/>
          <p:cNvSpPr/>
          <p:nvPr/>
        </p:nvSpPr>
        <p:spPr>
          <a:xfrm>
            <a:off x="502920" y="1143000"/>
            <a:ext cx="3657600" cy="320040"/>
          </a:xfrm>
          <a:prstGeom prst="rect">
            <a:avLst/>
          </a:prstGeom>
          <a:noFill/>
          <a:ln/>
        </p:spPr>
        <p:txBody>
          <a:bodyPr wrap="square" lIns="0" tIns="0" rIns="0" bIns="0" rtlCol="0" anchor="ctr"/>
          <a:lstStyle/>
          <a:p>
            <a:pPr indent="0" marL="0">
              <a:buNone/>
            </a:pPr>
            <a:r>
              <a:rPr lang="en-US" sz="1300" b="1" dirty="0">
                <a:solidFill>
                  <a:srgbClr val="FFD200"/>
                </a:solidFill>
                <a:latin typeface="Arial" pitchFamily="34" charset="0"/>
                <a:ea typeface="Arial" pitchFamily="34" charset="-122"/>
                <a:cs typeface="Arial" pitchFamily="34" charset="-120"/>
              </a:rPr>
              <a:t>PART 6</a:t>
            </a:r>
            <a:endParaRPr lang="en-US" sz="1300" dirty="0"/>
          </a:p>
        </p:txBody>
      </p:sp>
      <p:sp>
        <p:nvSpPr>
          <p:cNvPr id="5" name="Text 3"/>
          <p:cNvSpPr/>
          <p:nvPr/>
        </p:nvSpPr>
        <p:spPr>
          <a:xfrm>
            <a:off x="502920" y="2788920"/>
            <a:ext cx="7772400" cy="1097280"/>
          </a:xfrm>
          <a:prstGeom prst="rect">
            <a:avLst/>
          </a:prstGeom>
          <a:noFill/>
          <a:ln/>
        </p:spPr>
        <p:txBody>
          <a:bodyPr wrap="square" lIns="0" tIns="0" rIns="0" bIns="0" rtlCol="0" anchor="ctr"/>
          <a:lstStyle/>
          <a:p>
            <a:pPr indent="0" marL="0">
              <a:buNone/>
            </a:pPr>
            <a:r>
              <a:rPr lang="en-US" sz="1300" dirty="0">
                <a:solidFill>
                  <a:srgbClr val="C8D4E4"/>
                </a:solidFill>
                <a:latin typeface="Arial" pitchFamily="34" charset="0"/>
                <a:ea typeface="Arial" pitchFamily="34" charset="-122"/>
                <a:cs typeface="Arial" pitchFamily="34" charset="-120"/>
              </a:rPr>
              <a:t>Every one of the 148 design equations was re-implemented independently and cross-checked against waveform integration and impedance analysis. Here is what came out.</a:t>
            </a:r>
            <a:endParaRPr lang="en-US" sz="1300" dirty="0"/>
          </a:p>
        </p:txBody>
      </p:sp>
      <p:pic>
        <p:nvPicPr>
          <p:cNvPr id="6" name="Image 0" descr="logo/image1.png">    </p:cNvPr>
          <p:cNvPicPr>
            <a:picLocks noChangeAspect="1"/>
          </p:cNvPicPr>
          <p:nvPr/>
        </p:nvPicPr>
        <p:blipFill>
          <a:blip r:embed="rId1"/>
          <a:stretch>
            <a:fillRect/>
          </a:stretch>
        </p:blipFill>
        <p:spPr>
          <a:xfrm>
            <a:off x="274320" y="4576572"/>
            <a:ext cx="502920" cy="38404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What was verified, and how</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5" name="Shape 2"/>
          <p:cNvSpPr/>
          <p:nvPr/>
        </p:nvSpPr>
        <p:spPr>
          <a:xfrm>
            <a:off x="365760" y="1143000"/>
            <a:ext cx="4114800" cy="1078992"/>
          </a:xfrm>
          <a:prstGeom prst="roundRect">
            <a:avLst>
              <a:gd name="adj" fmla="val 4237"/>
            </a:avLst>
          </a:prstGeom>
          <a:solidFill>
            <a:srgbClr val="F5F7FA"/>
          </a:solidFill>
          <a:ln w="12700">
            <a:solidFill>
              <a:srgbClr val="49B170"/>
            </a:solidFill>
            <a:prstDash val="solid"/>
          </a:ln>
        </p:spPr>
        <p:txBody>
          <a:bodyPr/>
          <a:p/>
        </p:txBody>
      </p:sp>
      <p:sp>
        <p:nvSpPr>
          <p:cNvPr id="6" name="Text 3"/>
          <p:cNvSpPr/>
          <p:nvPr/>
        </p:nvSpPr>
        <p:spPr>
          <a:xfrm>
            <a:off x="475488" y="1225296"/>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All 148 equations re-derived</a:t>
            </a:r>
            <a:endParaRPr lang="en-US" sz="1150" dirty="0"/>
          </a:p>
        </p:txBody>
      </p:sp>
      <p:sp>
        <p:nvSpPr>
          <p:cNvPr id="7" name="Text 4"/>
          <p:cNvSpPr/>
          <p:nvPr/>
        </p:nvSpPr>
        <p:spPr>
          <a:xfrm>
            <a:off x="475488" y="1527048"/>
            <a:ext cx="3895344" cy="603504"/>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Independent second implementation (l6790.py). Every worksheet build re-checks it term by term and refuses to write on any mismatch.</a:t>
            </a:r>
            <a:endParaRPr lang="en-US" sz="1000" dirty="0"/>
          </a:p>
        </p:txBody>
      </p:sp>
      <p:sp>
        <p:nvSpPr>
          <p:cNvPr id="8" name="Shape 5"/>
          <p:cNvSpPr/>
          <p:nvPr/>
        </p:nvSpPr>
        <p:spPr>
          <a:xfrm>
            <a:off x="4663440" y="1143000"/>
            <a:ext cx="4114800" cy="1078992"/>
          </a:xfrm>
          <a:prstGeom prst="roundRect">
            <a:avLst>
              <a:gd name="adj" fmla="val 4237"/>
            </a:avLst>
          </a:prstGeom>
          <a:solidFill>
            <a:srgbClr val="F5F7FA"/>
          </a:solidFill>
          <a:ln w="12700">
            <a:solidFill>
              <a:srgbClr val="49B170"/>
            </a:solidFill>
            <a:prstDash val="solid"/>
          </a:ln>
        </p:spPr>
        <p:txBody>
          <a:bodyPr/>
          <a:p/>
        </p:txBody>
      </p:sp>
      <p:sp>
        <p:nvSpPr>
          <p:cNvPr id="9" name="Text 6"/>
          <p:cNvSpPr/>
          <p:nvPr/>
        </p:nvSpPr>
        <p:spPr>
          <a:xfrm>
            <a:off x="4773168" y="1225296"/>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FHA solved at the real operating point</a:t>
            </a:r>
            <a:endParaRPr lang="en-US" sz="1150" dirty="0"/>
          </a:p>
        </p:txBody>
      </p:sp>
      <p:sp>
        <p:nvSpPr>
          <p:cNvPr id="10" name="Text 7"/>
          <p:cNvSpPr/>
          <p:nvPr/>
        </p:nvSpPr>
        <p:spPr>
          <a:xfrm>
            <a:off x="4773168" y="1527048"/>
            <a:ext cx="3895344" cy="603504"/>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θ, input voltage and load swept over the whole range with the SELECTED tank, instead of the closed-form short cut.</a:t>
            </a:r>
            <a:endParaRPr lang="en-US" sz="1000" dirty="0"/>
          </a:p>
        </p:txBody>
      </p:sp>
      <p:sp>
        <p:nvSpPr>
          <p:cNvPr id="11" name="Shape 8"/>
          <p:cNvSpPr/>
          <p:nvPr/>
        </p:nvSpPr>
        <p:spPr>
          <a:xfrm>
            <a:off x="365760" y="2313432"/>
            <a:ext cx="4114800" cy="1078992"/>
          </a:xfrm>
          <a:prstGeom prst="roundRect">
            <a:avLst>
              <a:gd name="adj" fmla="val 4237"/>
            </a:avLst>
          </a:prstGeom>
          <a:solidFill>
            <a:srgbClr val="F5F7FA"/>
          </a:solidFill>
          <a:ln w="12700">
            <a:solidFill>
              <a:srgbClr val="49B170"/>
            </a:solidFill>
            <a:prstDash val="solid"/>
          </a:ln>
        </p:spPr>
        <p:txBody>
          <a:bodyPr/>
          <a:p/>
        </p:txBody>
      </p:sp>
      <p:sp>
        <p:nvSpPr>
          <p:cNvPr id="12" name="Text 9"/>
          <p:cNvSpPr/>
          <p:nvPr/>
        </p:nvSpPr>
        <p:spPr>
          <a:xfrm>
            <a:off x="475488" y="2395728"/>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Phase expression proved exact</a:t>
            </a:r>
            <a:endParaRPr lang="en-US" sz="1150" dirty="0"/>
          </a:p>
        </p:txBody>
      </p:sp>
      <p:sp>
        <p:nvSpPr>
          <p:cNvPr id="13" name="Text 10"/>
          <p:cNvSpPr/>
          <p:nvPr/>
        </p:nvSpPr>
        <p:spPr>
          <a:xfrm>
            <a:off x="475488" y="2697480"/>
            <a:ext cx="3895344" cy="603504"/>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The φ formula is identical to the tank input-impedance phase to 1e−16. So TZC is as accurate as FHA itself.</a:t>
            </a:r>
            <a:endParaRPr lang="en-US" sz="1000" dirty="0"/>
          </a:p>
        </p:txBody>
      </p:sp>
      <p:sp>
        <p:nvSpPr>
          <p:cNvPr id="14" name="Shape 11"/>
          <p:cNvSpPr/>
          <p:nvPr/>
        </p:nvSpPr>
        <p:spPr>
          <a:xfrm>
            <a:off x="4663440" y="2313432"/>
            <a:ext cx="4114800" cy="1078992"/>
          </a:xfrm>
          <a:prstGeom prst="roundRect">
            <a:avLst>
              <a:gd name="adj" fmla="val 4237"/>
            </a:avLst>
          </a:prstGeom>
          <a:solidFill>
            <a:srgbClr val="F5F7FA"/>
          </a:solidFill>
          <a:ln w="12700">
            <a:solidFill>
              <a:srgbClr val="49B170"/>
            </a:solidFill>
            <a:prstDash val="solid"/>
          </a:ln>
        </p:spPr>
        <p:txBody>
          <a:bodyPr/>
          <a:p/>
        </p:txBody>
      </p:sp>
      <p:sp>
        <p:nvSpPr>
          <p:cNvPr id="15" name="Text 12"/>
          <p:cNvSpPr/>
          <p:nvPr/>
        </p:nvSpPr>
        <p:spPr>
          <a:xfrm>
            <a:off x="4773168" y="2395728"/>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Waveforms integrated numerically</a:t>
            </a:r>
            <a:endParaRPr lang="en-US" sz="1150" dirty="0"/>
          </a:p>
        </p:txBody>
      </p:sp>
      <p:sp>
        <p:nvSpPr>
          <p:cNvPr id="16" name="Text 13"/>
          <p:cNvSpPr/>
          <p:nvPr/>
        </p:nvSpPr>
        <p:spPr>
          <a:xfrm>
            <a:off x="4773168" y="2697480"/>
            <a:ext cx="3895344" cy="603504"/>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Confirms Isec,pk is exact, the √d correction on the rms is exact for fsw ≤ fᵣ, and the composite tank peak matches the true maximum.</a:t>
            </a:r>
            <a:endParaRPr lang="en-US" sz="1000" dirty="0"/>
          </a:p>
        </p:txBody>
      </p:sp>
      <p:sp>
        <p:nvSpPr>
          <p:cNvPr id="17" name="Shape 14"/>
          <p:cNvSpPr/>
          <p:nvPr/>
        </p:nvSpPr>
        <p:spPr>
          <a:xfrm>
            <a:off x="365760" y="3483864"/>
            <a:ext cx="4114800" cy="1078992"/>
          </a:xfrm>
          <a:prstGeom prst="roundRect">
            <a:avLst>
              <a:gd name="adj" fmla="val 4237"/>
            </a:avLst>
          </a:prstGeom>
          <a:solidFill>
            <a:srgbClr val="F5F7FA"/>
          </a:solidFill>
          <a:ln w="12700">
            <a:solidFill>
              <a:srgbClr val="49B170"/>
            </a:solidFill>
            <a:prstDash val="solid"/>
          </a:ln>
        </p:spPr>
        <p:txBody>
          <a:bodyPr/>
          <a:p/>
        </p:txBody>
      </p:sp>
      <p:sp>
        <p:nvSpPr>
          <p:cNvPr id="18" name="Text 15"/>
          <p:cNvSpPr/>
          <p:nvPr/>
        </p:nvSpPr>
        <p:spPr>
          <a:xfrm>
            <a:off x="475488" y="3566160"/>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Loop closed numerically</a:t>
            </a:r>
            <a:endParaRPr lang="en-US" sz="1150" dirty="0"/>
          </a:p>
        </p:txBody>
      </p:sp>
      <p:sp>
        <p:nvSpPr>
          <p:cNvPr id="19" name="Text 16"/>
          <p:cNvSpPr/>
          <p:nvPr/>
        </p:nvSpPr>
        <p:spPr>
          <a:xfrm>
            <a:off x="475488" y="3867912"/>
            <a:ext cx="3895344" cy="603504"/>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fcross = 17.57 Hz, Φ_M = 49.64°, 3rd harmonic 4.23 % — all as printed. Gain margin: f180 = sqrt(fp*fpx − fz*(fp+fpx)) in closed form.</a:t>
            </a:r>
            <a:endParaRPr lang="en-US" sz="1000" dirty="0"/>
          </a:p>
        </p:txBody>
      </p:sp>
      <p:sp>
        <p:nvSpPr>
          <p:cNvPr id="20" name="Shape 17"/>
          <p:cNvSpPr/>
          <p:nvPr/>
        </p:nvSpPr>
        <p:spPr>
          <a:xfrm>
            <a:off x="4663440" y="3483864"/>
            <a:ext cx="4114800" cy="1078992"/>
          </a:xfrm>
          <a:prstGeom prst="roundRect">
            <a:avLst>
              <a:gd name="adj" fmla="val 4237"/>
            </a:avLst>
          </a:prstGeom>
          <a:solidFill>
            <a:srgbClr val="F5F7FA"/>
          </a:solidFill>
          <a:ln w="12700">
            <a:solidFill>
              <a:srgbClr val="49B170"/>
            </a:solidFill>
            <a:prstDash val="solid"/>
          </a:ln>
        </p:spPr>
        <p:txBody>
          <a:bodyPr/>
          <a:p/>
        </p:txBody>
      </p:sp>
      <p:sp>
        <p:nvSpPr>
          <p:cNvPr id="21" name="Text 18"/>
          <p:cNvSpPr/>
          <p:nvPr/>
        </p:nvSpPr>
        <p:spPr>
          <a:xfrm>
            <a:off x="4773168" y="3566160"/>
            <a:ext cx="3895344" cy="274320"/>
          </a:xfrm>
          <a:prstGeom prst="rect">
            <a:avLst/>
          </a:prstGeom>
          <a:noFill/>
          <a:ln/>
        </p:spPr>
        <p:txBody>
          <a:bodyPr wrap="square" lIns="0" tIns="0" rIns="0" bIns="0" rtlCol="0" anchor="ctr"/>
          <a:lstStyle/>
          <a:p>
            <a:pPr indent="0" marL="0">
              <a:buNone/>
            </a:pPr>
            <a:r>
              <a:rPr lang="en-US" sz="1150" b="1" dirty="0">
                <a:solidFill>
                  <a:srgbClr val="49B170"/>
                </a:solidFill>
                <a:latin typeface="Arial" pitchFamily="34" charset="0"/>
                <a:ea typeface="Arial" pitchFamily="34" charset="-122"/>
                <a:cs typeface="Arial" pitchFamily="34" charset="-120"/>
              </a:rPr>
              <a:t>Board back-calculated</a:t>
            </a:r>
            <a:endParaRPr lang="en-US" sz="1150" dirty="0"/>
          </a:p>
        </p:txBody>
      </p:sp>
      <p:sp>
        <p:nvSpPr>
          <p:cNvPr id="22" name="Text 19"/>
          <p:cNvSpPr/>
          <p:nvPr/>
        </p:nvSpPr>
        <p:spPr>
          <a:xfrm>
            <a:off x="4773168" y="3867912"/>
            <a:ext cx="3895344" cy="603504"/>
          </a:xfrm>
          <a:prstGeom prst="rect">
            <a:avLst/>
          </a:prstGeom>
          <a:noFill/>
          <a:ln/>
        </p:spPr>
        <p:txBody>
          <a:bodyPr wrap="square" lIns="0" tIns="0" rIns="0" bIns="0" rtlCol="0" anchor="t"/>
          <a:lstStyle/>
          <a:p>
            <a:pPr indent="0" marL="0">
              <a:buNone/>
            </a:pPr>
            <a:r>
              <a:rPr lang="en-US" sz="1000" dirty="0">
                <a:solidFill>
                  <a:srgbClr val="464650"/>
                </a:solidFill>
                <a:latin typeface="Arial" pitchFamily="34" charset="0"/>
                <a:ea typeface="Arial" pitchFamily="34" charset="-122"/>
                <a:cs typeface="Arial" pitchFamily="34" charset="-120"/>
              </a:rPr>
              <a:t>EVL6790_670W reproduced from the same equations, including the designer annotations. Workbook vs SMath sheet: 145 quantities, 0 unexplained differences.</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Findings — design tool r1.0</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Corrected copies of the spreadsheet and the SMath sheet accompany this deck</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1783080"/>
                <a:gridCol w="3063240"/>
                <a:gridCol w="356616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Where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is wrong</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Effect</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Res.Tank D9 (+ the whole RTC grid)</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Vo,eff divided by Nrect a second time, so n is doubled when Nrect = 2</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n comes out DOUBLED. Wind that and the required gain doubles — no start-up at low line. The tank values themselves are unaffected. This design uses Nrect = 1, so it cannot arise here.</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Design Spec D20 / D79</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Equivalent input range taken as 165–180 and 264 Vac</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Both morphing corners missed. The sheet stops at 264 Vac and reports 189.2 kHz; the real FB corner is 332.3 Vac equivalent and 249.6 kHz</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Device Setting D3</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fsw,max,design = MIN(spec, 1.5·fₒp) — the outer MAX is missing</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The oscillator can be sized for a ceiling BELOW the real operating point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Res.Tank D35</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IR1,pk uses the average power instead of the line-peak power</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Exactly half; under-states the ZVS current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CC C25/D25/E25</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Secondary rms has no √d conduction-ratio term (row 31 does have it)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Up to 12 % over-estimate — and inconsistent inside one sheet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CC C31</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Output-capacitor rms holds only the switching-frequency part at one θ</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About 40 % low — the 2fl component is the larger one and it is missing</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Device Setting D83</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(naux/nsec)max divided by Nrect while V_aux,OVP2 is not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Twice as permissive; a legal-looking choice can exceed the VCC rating</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Comp D15 / D43</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CTR applied twice to IFB,max</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The whole RB window moves; the value it lands on is outside it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Prelim D17</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labelled η_HB but computes η_rect·η_HB</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identical only while Vrect = 0</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Findings — design tool r1.0  (2/2)</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Found after rev 1.1 — compensation check, the ISEN block, and one approximation that is not labelled as one</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1783080"/>
                <a:gridCol w="3063240"/>
                <a:gridCol w="356616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Where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is wrong</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Effect</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CN H132/H134/H139, bisection H141:N167</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the high-frequency pole f_px is absent from the loop check</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phase 0.8–1.1° optimistic near crossover</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CN D73 (and D125)</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labelled "@2fL,min" but divides by the ripple at NOMINAL fl; D68 computes the fl,min ripple and is never referenced</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1.064x optimistic; propagates into EA_o, f_MB, f_z, C_Fo and R_F</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Device Setting D39</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R_CS,max2 divided by I_trafo,pk — the load component only</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R_CS sees the COMPOSITE tank peak. 1.10x optimistic</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Device Setting D45</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labelled "Select…" but is a formula that hard-codes the EVL board network 220‖220‖220‖440</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R_CS never moves, whatever the spec. And it may violate D44 with no warning</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Device Setting D33</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R_CS loss current is CC!C29, a single θ = π/4 sample</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neither the line-cycle rms nor the worst switching cycle. 3 parts sized where 5 are needed</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nowhere in the workbook</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the OCP trip point is never computed — no 0.75 V, no "OCP" anywhere</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a sense resistor that trips OCP continuously can pass every check in the sheet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CC C25/C26/C29/C30 used as "mains cycle"</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θ = π/4 sampled once; exact only if the envelope were sin θ, and it is sin²θ</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I_diode 17.6 % low → rectifier loss 1.38x low → required Rth 12.6 → 9.1 °C/W</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Res.Tank D20 QZVS.3</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a third Q limit is computed and then discarded; eq [34] uses only two</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not a real limit - the FHA ceiling clears the requirement by 15.6 % and the ZVS sweep by 108 %. Applying it would cut Q by 3 % for nothing</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Device Setting D24 "RT.min"</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f_Min FALLS as R_T rises, so this is a CEILING, not a floor</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read literally you round R_T up and push the VCO clamp below f_o - the one thing rule 3 forbids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R_P selection (tool, sheet AND this deck)</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R_P,max = V_F/I_min = 1.4375 k was rounded UP to 1.5 k</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shunt regulator sits at 0.767 mA against its 0.8 mA minimum. A MAXIMUM rounds DOWN</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five limit/selection pairs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C_T, R_T, n_aux/n_sec, R_P and C_in all have a computed limit and no cell comparing it with the selection</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a violation passes silently - exactly the C.15 shape. Ratio cells added on both sides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Findings — datasheet and SMath sheet</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The datasheet is still a DRAFT; treat these as open items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8412480" cy="914400"/>
        </p:xfrm>
        <a:graphic>
          <a:graphicData uri="http://schemas.openxmlformats.org/drawingml/2006/table">
            <a:tbl>
              <a:tblPr/>
              <a:tblGrid>
                <a:gridCol w="1783080"/>
                <a:gridCol w="3246120"/>
                <a:gridCol w="3383280"/>
              </a:tblGrid>
              <a:tr h="0">
                <a:tc>
                  <a:txBody>
                    <a:bodyPr/>
                    <a:lstStyle/>
                    <a:p>
                      <a:pPr indent="0" marL="0">
                        <a:buNone/>
                      </a:pPr>
                      <a:r>
                        <a:rPr lang="en-US" sz="1000" b="1" dirty="0">
                          <a:solidFill>
                            <a:srgbClr val="FFFFFF"/>
                          </a:solidFill>
                          <a:latin typeface="Arial" pitchFamily="34" charset="0"/>
                          <a:ea typeface="Arial" pitchFamily="34" charset="-122"/>
                          <a:cs typeface="Arial" pitchFamily="34" charset="-120"/>
                        </a:rPr>
                        <a:t>Item</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Issue</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to do</a:t>
                      </a:r>
                      <a:endParaRPr lang="en-US" sz="10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solidFill>
                      <a:srgbClr val="03234B"/>
                    </a:solidFill>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Tidle</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§5.3.2 implies 700 ns in one equation and 350 ns in another; all EIGHT cells of the Table 5 fosc range reverse-calculate to 250 ns within 0.2 ns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Evidence favours 250 ns. Until measured: check margins at 700 ns, predict performance at 250 ns. Every oscillator constant hangs on it.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VBO</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written as min(60 V, RCFG·4 V/kΩ), which would give 60 V for every legal RCFG</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Read it as RCFG·4 with 15 kΩ as the floor. Also: datasheet peak vs tool/board rms — a √2 trap.</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RZCD,L formula §5.3.4</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dimensionally A⁻¹, not Ω; gives 95.7 kΩ and a 24 µA divider current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Use RZCD,L = V_OVP1,th / I_bias. The EVL board fits exactly that.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SMath as-built ZVS re-check</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used the DESIGN λ with the AS-BUILT Q</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WITHDRAWN 2026-08-24: the closed form has no fixed sign at all. It is now used nowhere — the sweep [38a] is the only ZVS check.</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SMath summary annotations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still carried rev 0.2 numbers (Q 0.9298, Z₀ 34.62 Ω, TZC 275.8 ns)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FIXED, and every input now carries a real SMath unit</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Guide [125]/[130]</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G_o and EA_o labelled "Hz" but they are rad/s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Cosmetic, but fcross = G_o/2π only makes sense in rad/s</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Guide [134]/[135]</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CF and RF examples are computed from the SELECTED CFo, not the calculated one</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State it explicitly, as [96] already does for RZCD</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r h="0">
                <a:tc>
                  <a:txBody>
                    <a:bodyPr/>
                    <a:lstStyle/>
                    <a:p>
                      <a:pPr indent="0" marL="0">
                        <a:buNone/>
                      </a:pPr>
                      <a:r>
                        <a:rPr lang="en-US" sz="800" dirty="0">
                          <a:solidFill>
                            <a:srgbClr val="03234B"/>
                          </a:solidFill>
                          <a:latin typeface="Arial" pitchFamily="34" charset="0"/>
                          <a:ea typeface="Arial" pitchFamily="34" charset="-122"/>
                          <a:cs typeface="Arial" pitchFamily="34" charset="-120"/>
                        </a:rPr>
                        <a:t>DS §5.3.1 LOUT1 / LOUT2</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the text says "a strong pull down on LOUT1", but Table 6 and the actual pin strap are LOUT2 — the EVL board leaves the LOUT2 pull-down unfitted</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c>
                  <a:txBody>
                    <a:bodyPr/>
                    <a:lstStyle/>
                    <a:p>
                      <a:pPr indent="0" marL="0">
                        <a:buNone/>
                      </a:pPr>
                      <a:r>
                        <a:rPr lang="en-US" sz="800" dirty="0">
                          <a:solidFill>
                            <a:srgbClr val="03234B"/>
                          </a:solidFill>
                          <a:latin typeface="Arial" pitchFamily="34" charset="0"/>
                          <a:ea typeface="Arial" pitchFamily="34" charset="-122"/>
                          <a:cs typeface="Arial" pitchFamily="34" charset="-120"/>
                        </a:rPr>
                        <a:t>Read it as LOUT2. A pull-down on LOUT1 breaks something else entirely.</a:t>
                      </a:r>
                      <a:endParaRPr lang="en-US" sz="800" dirty="0">
                        <a:latin typeface="Arial" charset="0"/>
                        <a:ea typeface="Arial" charset="0"/>
                        <a:cs typeface="Arial" charset="0"/>
                      </a:endParaRPr>
                    </a:p>
                  </a:txBody>
                  <a:tcPr marL="91440" marR="91440" marT="45720" marB="45720" anchor="ctr">
                    <a:lnL w="6350" cap="flat" cmpd="sng" algn="ctr">
                      <a:solidFill>
                        <a:srgbClr val="E8E8E9"/>
                      </a:solidFill>
                      <a:prstDash val="solid"/>
                      <a:round/>
                      <a:headEnd type="none" w="med" len="med"/>
                      <a:tailEnd type="none" w="med" len="med"/>
                    </a:lnL>
                    <a:lnR w="6350" cap="flat" cmpd="sng" algn="ctr">
                      <a:solidFill>
                        <a:srgbClr val="E8E8E9"/>
                      </a:solidFill>
                      <a:prstDash val="solid"/>
                      <a:round/>
                      <a:headEnd type="none" w="med" len="med"/>
                      <a:tailEnd type="none" w="med" len="med"/>
                    </a:lnR>
                    <a:lnT w="6350" cap="flat" cmpd="sng" algn="ctr">
                      <a:solidFill>
                        <a:srgbClr val="E8E8E9"/>
                      </a:solidFill>
                      <a:prstDash val="solid"/>
                      <a:round/>
                      <a:headEnd type="none" w="med" len="med"/>
                      <a:tailEnd type="none" w="med" len="med"/>
                    </a:lnT>
                    <a:lnB w="6350" cap="flat" cmpd="sng" algn="ctr">
                      <a:solidFill>
                        <a:srgbClr val="E8E8E9"/>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lang="en-US" sz="2000" b="1" dirty="0">
                <a:solidFill>
                  <a:srgbClr val="03234B"/>
                </a:solidFill>
                <a:latin typeface="Arial" pitchFamily="34" charset="0"/>
                <a:ea typeface="Arial" pitchFamily="34" charset="-122"/>
                <a:cs typeface="Arial" pitchFamily="34" charset="-120"/>
              </a:rPr>
              <a:t>Measure these first</a:t>
            </a:r>
            <a:endParaRPr lang="en-US" sz="20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The eight things that will decide whether the board works</a:t>
            </a:r>
            <a:endParaRPr lang="en-US" sz="1200" dirty="0"/>
          </a:p>
        </p:txBody>
      </p:sp>
      <p:sp>
        <p:nvSpPr>
          <p:cNvPr id="5" name="Text 2"/>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6" name="Shape 3"/>
          <p:cNvSpPr/>
          <p:nvPr/>
        </p:nvSpPr>
        <p:spPr>
          <a:xfrm>
            <a:off x="365760" y="1161288"/>
            <a:ext cx="310896" cy="310896"/>
          </a:xfrm>
          <a:prstGeom prst="roundRect">
            <a:avLst>
              <a:gd name="adj" fmla="val 23529"/>
            </a:avLst>
          </a:prstGeom>
          <a:solidFill>
            <a:srgbClr val="E6007E"/>
          </a:solidFill>
          <a:ln/>
        </p:spPr>
        <p:txBody>
          <a:bodyPr/>
          <a:p/>
        </p:txBody>
      </p:sp>
      <p:sp>
        <p:nvSpPr>
          <p:cNvPr id="7" name="Text 4"/>
          <p:cNvSpPr/>
          <p:nvPr/>
        </p:nvSpPr>
        <p:spPr>
          <a:xfrm>
            <a:off x="365760" y="1161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5"/>
          <p:cNvSpPr/>
          <p:nvPr/>
        </p:nvSpPr>
        <p:spPr>
          <a:xfrm>
            <a:off x="804672" y="11612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ZVS at the HB morphing edge</a:t>
            </a:r>
            <a:endParaRPr lang="en-US" sz="1050" dirty="0"/>
          </a:p>
        </p:txBody>
      </p:sp>
      <p:sp>
        <p:nvSpPr>
          <p:cNvPr id="9" name="Text 6"/>
          <p:cNvSpPr/>
          <p:nvPr/>
        </p:nvSpPr>
        <p:spPr>
          <a:xfrm>
            <a:off x="3291840" y="11612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245 Vpk, full load. Calculated TZC = 457 ns against tD = 220 ns — the worst point anywhere. Look at the gate and midpoint waveforms directly.</a:t>
            </a:r>
            <a:endParaRPr lang="en-US" sz="950" dirty="0"/>
          </a:p>
        </p:txBody>
      </p:sp>
      <p:sp>
        <p:nvSpPr>
          <p:cNvPr id="10" name="Shape 7"/>
          <p:cNvSpPr/>
          <p:nvPr/>
        </p:nvSpPr>
        <p:spPr>
          <a:xfrm>
            <a:off x="365760" y="1618488"/>
            <a:ext cx="310896" cy="310896"/>
          </a:xfrm>
          <a:prstGeom prst="roundRect">
            <a:avLst>
              <a:gd name="adj" fmla="val 23529"/>
            </a:avLst>
          </a:prstGeom>
          <a:solidFill>
            <a:srgbClr val="E6007E"/>
          </a:solidFill>
          <a:ln/>
        </p:spPr>
        <p:txBody>
          <a:bodyPr/>
          <a:p/>
        </p:txBody>
      </p:sp>
      <p:sp>
        <p:nvSpPr>
          <p:cNvPr id="11" name="Text 8"/>
          <p:cNvSpPr/>
          <p:nvPr/>
        </p:nvSpPr>
        <p:spPr>
          <a:xfrm>
            <a:off x="365760" y="16184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9"/>
          <p:cNvSpPr/>
          <p:nvPr/>
        </p:nvSpPr>
        <p:spPr>
          <a:xfrm>
            <a:off x="804672" y="16184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fsw at the FB morphing edge</a:t>
            </a:r>
            <a:endParaRPr lang="en-US" sz="1050" dirty="0"/>
          </a:p>
        </p:txBody>
      </p:sp>
      <p:sp>
        <p:nvSpPr>
          <p:cNvPr id="13" name="Text 10"/>
          <p:cNvSpPr/>
          <p:nvPr/>
        </p:nvSpPr>
        <p:spPr>
          <a:xfrm>
            <a:off x="3291840" y="16184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235 Vpk, full load. Calculated 249.6 kHz. The VCO ceiling is 319.6 kHz at Tidle = 250 ns, but only ~252 kHz at 700 ns — level with the requirement.</a:t>
            </a:r>
            <a:endParaRPr lang="en-US" sz="950" dirty="0"/>
          </a:p>
        </p:txBody>
      </p:sp>
      <p:sp>
        <p:nvSpPr>
          <p:cNvPr id="14" name="Shape 11"/>
          <p:cNvSpPr/>
          <p:nvPr/>
        </p:nvSpPr>
        <p:spPr>
          <a:xfrm>
            <a:off x="365760" y="2075688"/>
            <a:ext cx="310896" cy="310896"/>
          </a:xfrm>
          <a:prstGeom prst="roundRect">
            <a:avLst>
              <a:gd name="adj" fmla="val 23529"/>
            </a:avLst>
          </a:prstGeom>
          <a:solidFill>
            <a:srgbClr val="03234B"/>
          </a:solidFill>
          <a:ln/>
        </p:spPr>
        <p:txBody>
          <a:bodyPr/>
          <a:p/>
        </p:txBody>
      </p:sp>
      <p:sp>
        <p:nvSpPr>
          <p:cNvPr id="15" name="Text 12"/>
          <p:cNvSpPr/>
          <p:nvPr/>
        </p:nvSpPr>
        <p:spPr>
          <a:xfrm>
            <a:off x="365760" y="2075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3"/>
          <p:cNvSpPr/>
          <p:nvPr/>
        </p:nvSpPr>
        <p:spPr>
          <a:xfrm>
            <a:off x="804672" y="20756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fsw(θ) over a line half cycle</a:t>
            </a:r>
            <a:endParaRPr lang="en-US" sz="1050" dirty="0"/>
          </a:p>
        </p:txBody>
      </p:sp>
      <p:sp>
        <p:nvSpPr>
          <p:cNvPr id="17" name="Text 14"/>
          <p:cNvSpPr/>
          <p:nvPr/>
        </p:nvSpPr>
        <p:spPr>
          <a:xfrm>
            <a:off x="3291840" y="20756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Confirms Tidle and the margin against the fₒ floor.</a:t>
            </a:r>
            <a:endParaRPr lang="en-US" sz="950" dirty="0"/>
          </a:p>
        </p:txBody>
      </p:sp>
      <p:sp>
        <p:nvSpPr>
          <p:cNvPr id="18" name="Shape 15"/>
          <p:cNvSpPr/>
          <p:nvPr/>
        </p:nvSpPr>
        <p:spPr>
          <a:xfrm>
            <a:off x="365760" y="2532888"/>
            <a:ext cx="310896" cy="310896"/>
          </a:xfrm>
          <a:prstGeom prst="roundRect">
            <a:avLst>
              <a:gd name="adj" fmla="val 23529"/>
            </a:avLst>
          </a:prstGeom>
          <a:solidFill>
            <a:srgbClr val="03234B"/>
          </a:solidFill>
          <a:ln/>
        </p:spPr>
        <p:txBody>
          <a:bodyPr/>
          <a:p/>
        </p:txBody>
      </p:sp>
      <p:sp>
        <p:nvSpPr>
          <p:cNvPr id="19" name="Text 16"/>
          <p:cNvSpPr/>
          <p:nvPr/>
        </p:nvSpPr>
        <p:spPr>
          <a:xfrm>
            <a:off x="365760" y="25328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7"/>
          <p:cNvSpPr/>
          <p:nvPr/>
        </p:nvSpPr>
        <p:spPr>
          <a:xfrm>
            <a:off x="804672" y="25328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Input current and THD at 90 Vac full load</a:t>
            </a:r>
            <a:endParaRPr lang="en-US" sz="1050" dirty="0"/>
          </a:p>
        </p:txBody>
      </p:sp>
      <p:sp>
        <p:nvSpPr>
          <p:cNvPr id="21" name="Text 18"/>
          <p:cNvSpPr/>
          <p:nvPr/>
        </p:nvSpPr>
        <p:spPr>
          <a:xfrm>
            <a:off x="3291840" y="25328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Quantifies the zero-crossing dead zone.</a:t>
            </a:r>
            <a:endParaRPr lang="en-US" sz="950" dirty="0"/>
          </a:p>
        </p:txBody>
      </p:sp>
      <p:sp>
        <p:nvSpPr>
          <p:cNvPr id="22" name="Shape 19"/>
          <p:cNvSpPr/>
          <p:nvPr/>
        </p:nvSpPr>
        <p:spPr>
          <a:xfrm>
            <a:off x="365760" y="2990088"/>
            <a:ext cx="310896" cy="310896"/>
          </a:xfrm>
          <a:prstGeom prst="roundRect">
            <a:avLst>
              <a:gd name="adj" fmla="val 23529"/>
            </a:avLst>
          </a:prstGeom>
          <a:solidFill>
            <a:srgbClr val="03234B"/>
          </a:solidFill>
          <a:ln/>
        </p:spPr>
        <p:txBody>
          <a:bodyPr/>
          <a:p/>
        </p:txBody>
      </p:sp>
      <p:sp>
        <p:nvSpPr>
          <p:cNvPr id="23" name="Text 20"/>
          <p:cNvSpPr/>
          <p:nvPr/>
        </p:nvSpPr>
        <p:spPr>
          <a:xfrm>
            <a:off x="365760" y="29900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1"/>
          <p:cNvSpPr/>
          <p:nvPr/>
        </p:nvSpPr>
        <p:spPr>
          <a:xfrm>
            <a:off x="804672" y="29900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Cold start-up</a:t>
            </a:r>
            <a:endParaRPr lang="en-US" sz="1050" dirty="0"/>
          </a:p>
        </p:txBody>
      </p:sp>
      <p:sp>
        <p:nvSpPr>
          <p:cNvPr id="25" name="Text 22"/>
          <p:cNvSpPr/>
          <p:nvPr/>
        </p:nvSpPr>
        <p:spPr>
          <a:xfrm>
            <a:off x="3291840" y="29900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Can a millifarad output bank be charged inside the 120 ms HVSU window?</a:t>
            </a:r>
            <a:endParaRPr lang="en-US" sz="950" dirty="0"/>
          </a:p>
        </p:txBody>
      </p:sp>
      <p:sp>
        <p:nvSpPr>
          <p:cNvPr id="26" name="Shape 23"/>
          <p:cNvSpPr/>
          <p:nvPr/>
        </p:nvSpPr>
        <p:spPr>
          <a:xfrm>
            <a:off x="365760" y="3447288"/>
            <a:ext cx="310896" cy="310896"/>
          </a:xfrm>
          <a:prstGeom prst="roundRect">
            <a:avLst>
              <a:gd name="adj" fmla="val 23529"/>
            </a:avLst>
          </a:prstGeom>
          <a:solidFill>
            <a:srgbClr val="03234B"/>
          </a:solidFill>
          <a:ln/>
        </p:spPr>
        <p:txBody>
          <a:bodyPr/>
          <a:p/>
        </p:txBody>
      </p:sp>
      <p:sp>
        <p:nvSpPr>
          <p:cNvPr id="27" name="Text 24"/>
          <p:cNvSpPr/>
          <p:nvPr/>
        </p:nvSpPr>
        <p:spPr>
          <a:xfrm>
            <a:off x="365760" y="3447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8" name="Text 25"/>
          <p:cNvSpPr/>
          <p:nvPr/>
        </p:nvSpPr>
        <p:spPr>
          <a:xfrm>
            <a:off x="804672" y="34472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FB ripple against the burst threshold</a:t>
            </a:r>
            <a:endParaRPr lang="en-US" sz="1050" dirty="0"/>
          </a:p>
        </p:txBody>
      </p:sp>
      <p:sp>
        <p:nvSpPr>
          <p:cNvPr id="29" name="Text 26"/>
          <p:cNvSpPr/>
          <p:nvPr/>
        </p:nvSpPr>
        <p:spPr>
          <a:xfrm>
            <a:off x="3291840" y="34472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A 20 Hz loop leaves 2fl ripple on FB. Trim RBM if it chatters.</a:t>
            </a:r>
            <a:endParaRPr lang="en-US" sz="950" dirty="0"/>
          </a:p>
        </p:txBody>
      </p:sp>
      <p:sp>
        <p:nvSpPr>
          <p:cNvPr id="30" name="Shape 27"/>
          <p:cNvSpPr/>
          <p:nvPr/>
        </p:nvSpPr>
        <p:spPr>
          <a:xfrm>
            <a:off x="365760" y="3904488"/>
            <a:ext cx="310896" cy="310896"/>
          </a:xfrm>
          <a:prstGeom prst="roundRect">
            <a:avLst>
              <a:gd name="adj" fmla="val 23529"/>
            </a:avLst>
          </a:prstGeom>
          <a:solidFill>
            <a:srgbClr val="03234B"/>
          </a:solidFill>
          <a:ln/>
        </p:spPr>
        <p:txBody>
          <a:bodyPr/>
          <a:p/>
        </p:txBody>
      </p:sp>
      <p:sp>
        <p:nvSpPr>
          <p:cNvPr id="31" name="Text 28"/>
          <p:cNvSpPr/>
          <p:nvPr/>
        </p:nvSpPr>
        <p:spPr>
          <a:xfrm>
            <a:off x="365760" y="39044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32" name="Text 29"/>
          <p:cNvSpPr/>
          <p:nvPr/>
        </p:nvSpPr>
        <p:spPr>
          <a:xfrm>
            <a:off x="804672" y="39044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Output ripple and OLED luminance</a:t>
            </a:r>
            <a:endParaRPr lang="en-US" sz="1050" dirty="0"/>
          </a:p>
        </p:txBody>
      </p:sp>
      <p:sp>
        <p:nvSpPr>
          <p:cNvPr id="33" name="Text 30"/>
          <p:cNvSpPr/>
          <p:nvPr/>
        </p:nvSpPr>
        <p:spPr>
          <a:xfrm>
            <a:off x="3291840" y="39044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1.18 V pk-pk at 2fl on a 25 V rail. This is what decides whether the direct 25 V architecture is acceptable at all.</a:t>
            </a:r>
            <a:endParaRPr lang="en-US" sz="950" dirty="0"/>
          </a:p>
        </p:txBody>
      </p:sp>
      <p:sp>
        <p:nvSpPr>
          <p:cNvPr id="34" name="Shape 31"/>
          <p:cNvSpPr/>
          <p:nvPr/>
        </p:nvSpPr>
        <p:spPr>
          <a:xfrm>
            <a:off x="365760" y="4361688"/>
            <a:ext cx="310896" cy="310896"/>
          </a:xfrm>
          <a:prstGeom prst="roundRect">
            <a:avLst>
              <a:gd name="adj" fmla="val 23529"/>
            </a:avLst>
          </a:prstGeom>
          <a:solidFill>
            <a:srgbClr val="03234B"/>
          </a:solidFill>
          <a:ln/>
        </p:spPr>
        <p:txBody>
          <a:bodyPr/>
          <a:p/>
        </p:txBody>
      </p:sp>
      <p:sp>
        <p:nvSpPr>
          <p:cNvPr id="35" name="Text 32"/>
          <p:cNvSpPr/>
          <p:nvPr/>
        </p:nvSpPr>
        <p:spPr>
          <a:xfrm>
            <a:off x="365760" y="43616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36" name="Text 33"/>
          <p:cNvSpPr/>
          <p:nvPr/>
        </p:nvSpPr>
        <p:spPr>
          <a:xfrm>
            <a:off x="804672" y="4361688"/>
            <a:ext cx="2423160" cy="310896"/>
          </a:xfrm>
          <a:prstGeom prst="rect">
            <a:avLst/>
          </a:prstGeom>
          <a:noFill/>
          <a:ln/>
        </p:spPr>
        <p:txBody>
          <a:bodyPr wrap="square" lIns="0" tIns="0" rIns="0" bIns="0" rtlCol="0" anchor="ctr"/>
          <a:lstStyle/>
          <a:p>
            <a:pPr indent="0" marL="0">
              <a:buNone/>
            </a:pPr>
            <a:r>
              <a:rPr lang="en-US" sz="1050" b="1" dirty="0">
                <a:solidFill>
                  <a:srgbClr val="03234B"/>
                </a:solidFill>
                <a:latin typeface="Arial" pitchFamily="34" charset="0"/>
                <a:ea typeface="Arial" pitchFamily="34" charset="-122"/>
                <a:cs typeface="Arial" pitchFamily="34" charset="-120"/>
              </a:rPr>
              <a:t>Adaptive dead time</a:t>
            </a:r>
            <a:endParaRPr lang="en-US" sz="1050" dirty="0"/>
          </a:p>
        </p:txBody>
      </p:sp>
      <p:sp>
        <p:nvSpPr>
          <p:cNvPr id="37" name="Text 34"/>
          <p:cNvSpPr/>
          <p:nvPr/>
        </p:nvSpPr>
        <p:spPr>
          <a:xfrm>
            <a:off x="3291840" y="4361688"/>
            <a:ext cx="5486400" cy="310896"/>
          </a:xfrm>
          <a:prstGeom prst="rect">
            <a:avLst/>
          </a:prstGeom>
          <a:noFill/>
          <a:ln/>
        </p:spPr>
        <p:txBody>
          <a:bodyPr wrap="square" lIns="0" tIns="0" rIns="0" bIns="0" rtlCol="0" anchor="ctr"/>
          <a:lstStyle/>
          <a:p>
            <a:pPr indent="0" marL="0">
              <a:buNone/>
            </a:pPr>
            <a:r>
              <a:rPr lang="en-US" sz="950" dirty="0">
                <a:solidFill>
                  <a:srgbClr val="464650"/>
                </a:solidFill>
                <a:latin typeface="Arial" pitchFamily="34" charset="0"/>
                <a:ea typeface="Arial" pitchFamily="34" charset="-122"/>
                <a:cs typeface="Arial" pitchFamily="34" charset="-120"/>
              </a:rPr>
              <a:t>Does it really settle at or below 220 ns at the worst corner?</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logo/image1.png">    </p:cNvPr>
          <p:cNvPicPr>
            <a:picLocks noChangeAspect="1"/>
          </p:cNvPicPr>
          <p:nvPr/>
        </p:nvPicPr>
        <p:blipFill>
          <a:blip r:embed="rId1"/>
          <a:stretch>
            <a:fillRect/>
          </a:stretch>
        </p:blipFill>
        <p:spPr>
          <a:xfrm>
            <a:off x="274320" y="4576572"/>
            <a:ext cx="502920" cy="384048"/>
          </a:xfrm>
          <a:prstGeom prst="rect">
            <a:avLst/>
          </a:prstGeom>
        </p:spPr>
      </p:pic>
      <p:sp>
        <p:nvSpPr>
          <p:cNvPr id="3" name="Text 0"/>
          <p:cNvSpPr/>
          <p:nvPr/>
        </p:nvSpPr>
        <p:spPr>
          <a:xfrm>
            <a:off x="2743200" y="146304"/>
            <a:ext cx="6172200" cy="457200"/>
          </a:xfrm>
          <a:prstGeom prst="rect">
            <a:avLst/>
          </a:prstGeom>
          <a:noFill/>
          <a:ln/>
        </p:spPr>
        <p:txBody>
          <a:bodyPr wrap="square" lIns="0" tIns="0" rIns="0" bIns="0" rtlCol="0" anchor="ctr"/>
          <a:lstStyle/>
          <a:p>
            <a:pPr algn="r" indent="0" marL="0">
              <a:buNone/>
            </a:pPr>
            <a:r>
              <a:rPr sz="2000" b="1">
                <a:solidFill>
                  <a:srgbClr val="03234B"/>
                </a:solidFill>
                <a:latin typeface="Arial"/>
              </a:rPr>
              <a:t>Sixteen rules to take away</a:t>
            </a:r>
            <a:endParaRPr lang="en-US" sz="2000" dirty="0"/>
          </a:p>
        </p:txBody>
      </p:sp>
      <p:sp>
        <p:nvSpPr>
          <p:cNvPr id="4" name="Text 1"/>
          <p:cNvSpPr/>
          <p:nvPr/>
        </p:nvSpPr>
        <p:spPr>
          <a:xfrm>
            <a:off x="6035040" y="4869180"/>
            <a:ext cx="2880360" cy="201168"/>
          </a:xfrm>
          <a:prstGeom prst="rect">
            <a:avLst/>
          </a:prstGeom>
          <a:noFill/>
          <a:ln/>
        </p:spPr>
        <p:txBody>
          <a:bodyPr wrap="square" lIns="0" tIns="0" rIns="0" bIns="0" rtlCol="0" anchor="ctr"/>
          <a:lstStyle/>
          <a:p>
            <a:pPr algn="r" indent="0" marL="0">
              <a:buNone/>
            </a:pPr>
            <a:r>
              <a:rPr lang="en-US" sz="700" dirty="0">
                <a:solidFill>
                  <a:srgbClr val="BBBBBB"/>
                </a:solidFill>
                <a:latin typeface="Arial" pitchFamily="34" charset="0"/>
                <a:ea typeface="Arial" pitchFamily="34" charset="-122"/>
                <a:cs typeface="Arial" pitchFamily="34" charset="-120"/>
              </a:rPr>
              <a:t>L6790A  single-stage PF LLC</a:t>
            </a:r>
            <a:endParaRPr lang="en-US" sz="700" dirty="0"/>
          </a:p>
        </p:txBody>
      </p:sp>
      <p:sp>
        <p:nvSpPr>
          <p:cNvPr id="4" name="Text 1"/>
          <p:cNvSpPr/>
          <p:nvPr/>
        </p:nvSpPr>
        <p:spPr>
          <a:xfrm>
            <a:off x="411480" y="713232"/>
            <a:ext cx="8321040" cy="274320"/>
          </a:xfrm>
          <a:prstGeom prst="rect">
            <a:avLst/>
          </a:prstGeom>
          <a:solidFill>
            <a:srgbClr val="03234B"/>
          </a:solidFill>
          <a:ln/>
        </p:spPr>
        <p:txBody>
          <a:bodyPr wrap="square" lIns="25400" tIns="101600" rIns="101600" bIns="25400" rtlCol="0" anchor="ctr"/>
          <a:lstStyle/>
          <a:p>
            <a:pPr algn="l" indent="0" marL="0">
              <a:buNone/>
            </a:pPr>
            <a:r>
              <a:rPr sz="1200" b="1">
                <a:solidFill>
                  <a:srgbClr val="FFFFFF"/>
                </a:solidFill>
                <a:latin typeface="Arial"/>
              </a:rPr>
              <a:t>If you remember nothing else from this deck, remember these</a:t>
            </a:r>
            <a:endParaRPr lang="en-US" sz="1200" dirty="0"/>
          </a:p>
        </p:txBody>
      </p:sp>
      <p:sp>
        <p:nvSpPr>
          <p:cNvPr id="5" name="TextBox 4"/>
          <p:cNvSpPr txBox="1"/>
          <p:nvPr/>
        </p:nvSpPr>
        <p:spPr>
          <a:xfrm>
            <a:off x="365760" y="1060704"/>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1.</a:t>
            </a:r>
          </a:p>
        </p:txBody>
      </p:sp>
      <p:sp>
        <p:nvSpPr>
          <p:cNvPr id="6" name="TextBox 5"/>
          <p:cNvSpPr txBox="1"/>
          <p:nvPr/>
        </p:nvSpPr>
        <p:spPr>
          <a:xfrm>
            <a:off x="658368" y="1060704"/>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Design the tank at the real ends of the EQUIVALENT input range. With morphing that is 173.2 and 332.3 Vac, not 90 and 264.</a:t>
            </a:r>
          </a:p>
        </p:txBody>
      </p:sp>
      <p:sp>
        <p:nvSpPr>
          <p:cNvPr id="7" name="TextBox 6"/>
          <p:cNvSpPr txBox="1"/>
          <p:nvPr/>
        </p:nvSpPr>
        <p:spPr>
          <a:xfrm>
            <a:off x="4681728" y="1060704"/>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2.</a:t>
            </a:r>
          </a:p>
        </p:txBody>
      </p:sp>
      <p:sp>
        <p:nvSpPr>
          <p:cNvPr id="8" name="TextBox 7"/>
          <p:cNvSpPr txBox="1"/>
          <p:nvPr/>
        </p:nvSpPr>
        <p:spPr>
          <a:xfrm>
            <a:off x="4974336" y="1060704"/>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Expect λ ≈ 0.5. The classic Lₘ/Lᵣ = 5…9 will not start at low line.</a:t>
            </a:r>
          </a:p>
        </p:txBody>
      </p:sp>
      <p:sp>
        <p:nvSpPr>
          <p:cNvPr id="9" name="TextBox 8"/>
          <p:cNvSpPr txBox="1"/>
          <p:nvPr/>
        </p:nvSpPr>
        <p:spPr>
          <a:xfrm>
            <a:off x="365760" y="1513331"/>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3.</a:t>
            </a:r>
          </a:p>
        </p:txBody>
      </p:sp>
      <p:sp>
        <p:nvSpPr>
          <p:cNvPr id="10" name="TextBox 9"/>
          <p:cNvSpPr txBox="1"/>
          <p:nvPr/>
        </p:nvSpPr>
        <p:spPr>
          <a:xfrm>
            <a:off x="658368" y="1513331"/>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Keep the VCO minimum clamp at or above fₒ. Do not rely on the anti-capacitive protection alone.</a:t>
            </a:r>
          </a:p>
        </p:txBody>
      </p:sp>
      <p:sp>
        <p:nvSpPr>
          <p:cNvPr id="11" name="TextBox 10"/>
          <p:cNvSpPr txBox="1"/>
          <p:nvPr/>
        </p:nvSpPr>
        <p:spPr>
          <a:xfrm>
            <a:off x="4681728" y="1513331"/>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4.</a:t>
            </a:r>
          </a:p>
        </p:txBody>
      </p:sp>
      <p:sp>
        <p:nvSpPr>
          <p:cNvPr id="12" name="TextBox 11"/>
          <p:cNvSpPr txBox="1"/>
          <p:nvPr/>
        </p:nvSpPr>
        <p:spPr>
          <a:xfrm>
            <a:off x="4974336" y="1513331"/>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Size the output bank from ripple AND hold-up, take the larger, then check the RMS ripple current.</a:t>
            </a:r>
          </a:p>
        </p:txBody>
      </p:sp>
      <p:sp>
        <p:nvSpPr>
          <p:cNvPr id="13" name="TextBox 12"/>
          <p:cNvSpPr txBox="1"/>
          <p:nvPr/>
        </p:nvSpPr>
        <p:spPr>
          <a:xfrm>
            <a:off x="365760" y="1965960"/>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5.</a:t>
            </a:r>
          </a:p>
        </p:txBody>
      </p:sp>
      <p:sp>
        <p:nvSpPr>
          <p:cNvPr id="14" name="TextBox 13"/>
          <p:cNvSpPr txBox="1"/>
          <p:nvPr/>
        </p:nvSpPr>
        <p:spPr>
          <a:xfrm>
            <a:off x="658368" y="1965960"/>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The voltage loop crosses near 20 Hz; manage the leftover FB ripple with Rʙᴍ.</a:t>
            </a:r>
          </a:p>
        </p:txBody>
      </p:sp>
      <p:sp>
        <p:nvSpPr>
          <p:cNvPr id="15" name="TextBox 14"/>
          <p:cNvSpPr txBox="1"/>
          <p:nvPr/>
        </p:nvSpPr>
        <p:spPr>
          <a:xfrm>
            <a:off x="4681728" y="1965960"/>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6.</a:t>
            </a:r>
          </a:p>
        </p:txBody>
      </p:sp>
      <p:sp>
        <p:nvSpPr>
          <p:cNvPr id="16" name="TextBox 15"/>
          <p:cNvSpPr txBox="1"/>
          <p:nvPr/>
        </p:nvSpPr>
        <p:spPr>
          <a:xfrm>
            <a:off x="4974336" y="1965960"/>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Measure both morphing edges. HB edge = worst gain and ZVS; FB edge = worst frequency.</a:t>
            </a:r>
          </a:p>
        </p:txBody>
      </p:sp>
      <p:sp>
        <p:nvSpPr>
          <p:cNvPr id="17" name="TextBox 16"/>
          <p:cNvSpPr txBox="1"/>
          <p:nvPr/>
        </p:nvSpPr>
        <p:spPr>
          <a:xfrm>
            <a:off x="365760" y="2418587"/>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7.</a:t>
            </a:r>
          </a:p>
        </p:txBody>
      </p:sp>
      <p:sp>
        <p:nvSpPr>
          <p:cNvPr id="18" name="TextBox 17"/>
          <p:cNvSpPr txBox="1"/>
          <p:nvPr/>
        </p:nvSpPr>
        <p:spPr>
          <a:xfrm>
            <a:off x="658368" y="2418587"/>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Always verify the turns ratio through the REFLECTED voltage n·Vo,eff.</a:t>
            </a:r>
          </a:p>
        </p:txBody>
      </p:sp>
      <p:sp>
        <p:nvSpPr>
          <p:cNvPr id="19" name="TextBox 18"/>
          <p:cNvSpPr txBox="1"/>
          <p:nvPr/>
        </p:nvSpPr>
        <p:spPr>
          <a:xfrm>
            <a:off x="4681728" y="2418587"/>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8.</a:t>
            </a:r>
          </a:p>
        </p:txBody>
      </p:sp>
      <p:sp>
        <p:nvSpPr>
          <p:cNvPr id="20" name="TextBox 19"/>
          <p:cNvSpPr txBox="1"/>
          <p:nvPr/>
        </p:nvSpPr>
        <p:spPr>
          <a:xfrm>
            <a:off x="4974336" y="2418587"/>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Judge on the COMPOSITE tank peak — OCP margin and primary device rating both. Then divide by the parallel count: the tables are per POSITION and per LEG.</a:t>
            </a:r>
          </a:p>
        </p:txBody>
      </p:sp>
      <p:sp>
        <p:nvSpPr>
          <p:cNvPr id="21" name="TextBox 20"/>
          <p:cNvSpPr txBox="1"/>
          <p:nvPr/>
        </p:nvSpPr>
        <p:spPr>
          <a:xfrm>
            <a:off x="365760" y="2871215"/>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9.</a:t>
            </a:r>
          </a:p>
        </p:txBody>
      </p:sp>
      <p:sp>
        <p:nvSpPr>
          <p:cNvPr id="22" name="TextBox 21"/>
          <p:cNvSpPr txBox="1"/>
          <p:nvPr/>
        </p:nvSpPr>
        <p:spPr>
          <a:xfrm>
            <a:off x="658368" y="2871215"/>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Include the 2fₗ component in the output-capacitor ripple current — it is about 40 % of it.</a:t>
            </a:r>
          </a:p>
        </p:txBody>
      </p:sp>
      <p:sp>
        <p:nvSpPr>
          <p:cNvPr id="23" name="TextBox 22"/>
          <p:cNvSpPr txBox="1"/>
          <p:nvPr/>
        </p:nvSpPr>
        <p:spPr>
          <a:xfrm>
            <a:off x="4681728" y="2871215"/>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10.</a:t>
            </a:r>
          </a:p>
        </p:txBody>
      </p:sp>
      <p:sp>
        <p:nvSpPr>
          <p:cNvPr id="24" name="TextBox 23"/>
          <p:cNvSpPr txBox="1"/>
          <p:nvPr/>
        </p:nvSpPr>
        <p:spPr>
          <a:xfrm>
            <a:off x="4974336" y="2871215"/>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Apply the √d conduction ratio to the secondary rms when fₛᴡ &lt; fᵣ.</a:t>
            </a:r>
          </a:p>
        </p:txBody>
      </p:sp>
      <p:sp>
        <p:nvSpPr>
          <p:cNvPr id="25" name="TextBox 24"/>
          <p:cNvSpPr txBox="1"/>
          <p:nvPr/>
        </p:nvSpPr>
        <p:spPr>
          <a:xfrm>
            <a:off x="365760" y="3323844"/>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11.</a:t>
            </a:r>
          </a:p>
        </p:txBody>
      </p:sp>
      <p:sp>
        <p:nvSpPr>
          <p:cNvPr id="26" name="TextBox 25"/>
          <p:cNvSpPr txBox="1"/>
          <p:nvPr/>
        </p:nvSpPr>
        <p:spPr>
          <a:xfrm>
            <a:off x="658368" y="3323844"/>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Decide first whether Lᵣ is a discrete inductor or transformer leakage; that decides the magnetics.</a:t>
            </a:r>
          </a:p>
        </p:txBody>
      </p:sp>
      <p:sp>
        <p:nvSpPr>
          <p:cNvPr id="27" name="TextBox 26"/>
          <p:cNvSpPr txBox="1"/>
          <p:nvPr/>
        </p:nvSpPr>
        <p:spPr>
          <a:xfrm>
            <a:off x="4681728" y="3323844"/>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12.</a:t>
            </a:r>
          </a:p>
        </p:txBody>
      </p:sp>
      <p:sp>
        <p:nvSpPr>
          <p:cNvPr id="28" name="TextBox 27"/>
          <p:cNvSpPr txBox="1"/>
          <p:nvPr/>
        </p:nvSpPr>
        <p:spPr>
          <a:xfrm>
            <a:off x="4974336" y="3323844"/>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Take every datasheet number at the REAL condition: ESR at fₛᴡ not the 120 Hz tanδ, Rᴅꜱ(ₒₙ) at Tj,max not the 25 °C headline (≈2×), and Co(tr)/Qoss for ZVS not the headline Coss (3–5× apart).</a:t>
            </a:r>
          </a:p>
        </p:txBody>
      </p:sp>
      <p:sp>
        <p:nvSpPr>
          <p:cNvPr id="29" name="TextBox 28"/>
          <p:cNvSpPr txBox="1"/>
          <p:nvPr/>
        </p:nvSpPr>
        <p:spPr>
          <a:xfrm>
            <a:off x="365760" y="3776472"/>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13.</a:t>
            </a:r>
          </a:p>
        </p:txBody>
      </p:sp>
      <p:sp>
        <p:nvSpPr>
          <p:cNvPr id="30" name="TextBox 29"/>
          <p:cNvSpPr txBox="1"/>
          <p:nvPr/>
        </p:nvSpPr>
        <p:spPr>
          <a:xfrm>
            <a:off x="658368" y="3776472"/>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Never round Lₘ up. λ_act falls and the ZVS margin goes with it.</a:t>
            </a:r>
          </a:p>
        </p:txBody>
      </p:sp>
      <p:sp>
        <p:nvSpPr>
          <p:cNvPr id="31" name="TextBox 30"/>
          <p:cNvSpPr txBox="1"/>
          <p:nvPr/>
        </p:nvSpPr>
        <p:spPr>
          <a:xfrm>
            <a:off x="4681728" y="3776472"/>
            <a:ext cx="274320" cy="420624"/>
          </a:xfrm>
          <a:prstGeom prst="rect">
            <a:avLst/>
          </a:prstGeom>
          <a:noFill/>
        </p:spPr>
        <p:txBody>
          <a:bodyPr wrap="square" lIns="36576" rIns="36576" tIns="18288" bIns="18288">
            <a:spAutoFit/>
          </a:bodyPr>
          <a:lstStyle/>
          <a:p>
            <a:pPr algn="l">
              <a:spcAft>
                <a:spcPts val="600"/>
              </a:spcAft>
            </a:pPr>
            <a:r>
              <a:rPr sz="950" b="1">
                <a:solidFill>
                  <a:srgbClr val="03234B"/>
                </a:solidFill>
                <a:latin typeface="Arial"/>
              </a:rPr>
              <a:t>14.</a:t>
            </a:r>
          </a:p>
        </p:txBody>
      </p:sp>
      <p:sp>
        <p:nvSpPr>
          <p:cNvPr id="32" name="TextBox 31"/>
          <p:cNvSpPr txBox="1"/>
          <p:nvPr/>
        </p:nvSpPr>
        <p:spPr>
          <a:xfrm>
            <a:off x="4974336" y="3776472"/>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Do the final ZVS check at the REAL operating point. The closed-form short cut has NO fixed sign — +23 % on one tank, −34 % on another.</a:t>
            </a:r>
          </a:p>
        </p:txBody>
      </p:sp>
      <p:sp>
        <p:nvSpPr>
          <p:cNvPr id="33" name="TextBox 32"/>
          <p:cNvSpPr txBox="1"/>
          <p:nvPr/>
        </p:nvSpPr>
        <p:spPr>
          <a:xfrm>
            <a:off x="365760" y="4229100"/>
            <a:ext cx="274320" cy="420624"/>
          </a:xfrm>
          <a:prstGeom prst="rect">
            <a:avLst/>
          </a:prstGeom>
          <a:noFill/>
        </p:spPr>
        <p:txBody>
          <a:bodyPr wrap="square" lIns="36576" rIns="36576" tIns="18288" bIns="18288">
            <a:spAutoFit/>
          </a:bodyPr>
          <a:lstStyle/>
          <a:p>
            <a:pPr algn="l">
              <a:spcAft>
                <a:spcPts val="600"/>
              </a:spcAft>
            </a:pPr>
            <a:r>
              <a:rPr sz="950" b="1">
                <a:solidFill>
                  <a:srgbClr val="E6007E"/>
                </a:solidFill>
                <a:latin typeface="Arial"/>
              </a:rPr>
              <a:t>15.</a:t>
            </a:r>
          </a:p>
        </p:txBody>
      </p:sp>
      <p:sp>
        <p:nvSpPr>
          <p:cNvPr id="34" name="TextBox 33"/>
          <p:cNvSpPr txBox="1"/>
          <p:nvPr/>
        </p:nvSpPr>
        <p:spPr>
          <a:xfrm>
            <a:off x="658368" y="4229100"/>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Choose a primary MOSFET whose BODY DIODE recovers fast. Overload, load steps and start-up all leave resonance, and there the diode decides whether you lose watts or the device.</a:t>
            </a:r>
          </a:p>
        </p:txBody>
      </p:sp>
      <p:sp>
        <p:nvSpPr>
          <p:cNvPr id="35" name="TextBox 34"/>
          <p:cNvSpPr txBox="1"/>
          <p:nvPr/>
        </p:nvSpPr>
        <p:spPr>
          <a:xfrm>
            <a:off x="4681728" y="4229100"/>
            <a:ext cx="274320" cy="420624"/>
          </a:xfrm>
          <a:prstGeom prst="rect">
            <a:avLst/>
          </a:prstGeom>
          <a:noFill/>
        </p:spPr>
        <p:txBody>
          <a:bodyPr wrap="square" lIns="36576" rIns="36576" tIns="18288" bIns="18288">
            <a:spAutoFit/>
          </a:bodyPr>
          <a:lstStyle/>
          <a:p>
            <a:pPr algn="l">
              <a:spcAft>
                <a:spcPts val="600"/>
              </a:spcAft>
            </a:pPr>
            <a:r>
              <a:rPr sz="950" b="1">
                <a:solidFill>
                  <a:srgbClr val="E6007E"/>
                </a:solidFill>
                <a:latin typeface="Arial"/>
              </a:rPr>
              <a:t>16.</a:t>
            </a:r>
          </a:p>
        </p:txBody>
      </p:sp>
      <p:sp>
        <p:nvSpPr>
          <p:cNvPr id="36" name="TextBox 35"/>
          <p:cNvSpPr txBox="1"/>
          <p:nvPr/>
        </p:nvSpPr>
        <p:spPr>
          <a:xfrm>
            <a:off x="4974336" y="4229100"/>
            <a:ext cx="3913632" cy="420624"/>
          </a:xfrm>
          <a:prstGeom prst="rect">
            <a:avLst/>
          </a:prstGeom>
          <a:noFill/>
        </p:spPr>
        <p:txBody>
          <a:bodyPr wrap="square" lIns="36576" rIns="36576" tIns="18288" bIns="18288">
            <a:spAutoFit/>
          </a:bodyPr>
          <a:lstStyle/>
          <a:p>
            <a:pPr algn="l">
              <a:spcAft>
                <a:spcPts val="0"/>
              </a:spcAft>
            </a:pPr>
            <a:r>
              <a:rPr sz="860" b="0">
                <a:solidFill>
                  <a:srgbClr val="03234B"/>
                </a:solidFill>
                <a:latin typeface="Arial"/>
              </a:rPr>
              <a:t>Take fₛᴡ,max from the FB morphing edge, not from the maximum mains. The oscillator ceiling and Cₜ follow from it.</a:t>
            </a:r>
          </a:p>
        </p:txBody>
      </p:sp>
      <p:sp>
        <p:nvSpPr>
          <p:cNvPr id="37" name="TextBox 36"/>
          <p:cNvSpPr txBox="1"/>
          <p:nvPr/>
        </p:nvSpPr>
        <p:spPr>
          <a:xfrm>
            <a:off x="365760" y="4626864"/>
            <a:ext cx="3657600" cy="201168"/>
          </a:xfrm>
          <a:prstGeom prst="rect">
            <a:avLst/>
          </a:prstGeom>
          <a:noFill/>
        </p:spPr>
        <p:txBody>
          <a:bodyPr wrap="square" lIns="36576" rIns="36576" tIns="18288" bIns="18288">
            <a:spAutoFit/>
          </a:bodyPr>
          <a:lstStyle/>
          <a:p>
            <a:pPr algn="l">
              <a:spcAft>
                <a:spcPts val="600"/>
              </a:spcAft>
            </a:pPr>
            <a:r>
              <a:rPr sz="800" b="1">
                <a:solidFill>
                  <a:srgbClr val="E6007E"/>
                </a:solidFill>
                <a:latin typeface="Arial"/>
              </a:rPr>
              <a:t>Rules 15 and 16 are new in this revision.</a:t>
            </a:r>
          </a:p>
        </p:txBody>
      </p:sp>
      <p:sp>
        <p:nvSpPr>
          <p:cNvPr id="38" name="TextBox 37"/>
          <p:cNvSpPr txBox="1"/>
          <p:nvPr/>
        </p:nvSpPr>
        <p:spPr>
          <a:xfrm>
            <a:off x="914400" y="4873752"/>
            <a:ext cx="4937760" cy="201168"/>
          </a:xfrm>
          <a:prstGeom prst="rect">
            <a:avLst/>
          </a:prstGeom>
          <a:noFill/>
        </p:spPr>
        <p:txBody>
          <a:bodyPr wrap="square" lIns="36576" rIns="36576" tIns="18288" bIns="18288">
            <a:spAutoFit/>
          </a:bodyPr>
          <a:lstStyle/>
          <a:p>
            <a:pPr algn="l">
              <a:spcAft>
                <a:spcPts val="600"/>
              </a:spcAft>
            </a:pPr>
            <a:r>
              <a:rPr sz="700" b="0" i="1">
                <a:solidFill>
                  <a:srgbClr val="BBBBBB"/>
                </a:solidFill>
                <a:latin typeface="Arial"/>
              </a:rPr>
              <a:t>Rule 15 after ROHM TechWeb, "Importance of the Recovery Characteristics of Primary-side Switching Elements"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1">
    <p:bg>
      <p:bgPr>
        <a:solidFill>
          <a:srgbClr val="03234B"/>
        </a:solidFill>
      </p:bgPr>
    </p:bg>
    <p:spTree>
      <p:nvGrpSpPr>
        <p:cNvPr id="1" name=""/>
        <p:cNvGrpSpPr/>
        <p:nvPr/>
      </p:nvGrpSpPr>
      <p:grpSpPr>
        <a:xfrm>
          <a:off x="0" y="0"/>
          <a:ext cx="0" cy="0"/>
          <a:chOff x="0" y="0"/>
          <a:chExt cx="0" cy="0"/>
        </a:xfrm>
      </p:grpSpPr>
      <p:sp>
        <p:nvSpPr>
          <p:cNvPr id="2" name="Text 0"/>
          <p:cNvSpPr/>
          <p:nvPr/>
        </p:nvSpPr>
        <p:spPr>
          <a:xfrm>
            <a:off x="822960" y="1417320"/>
            <a:ext cx="7498080" cy="12801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Our technology</a:t>
            </a:r>
            <a:endParaRPr lang="en-US" sz="3000" dirty="0"/>
          </a:p>
          <a:p>
            <a:pPr algn="ctr" indent="0" marL="0">
              <a:buNone/>
            </a:pPr>
            <a:r>
              <a:rPr lang="en-US" sz="3000" b="1" dirty="0">
                <a:solidFill>
                  <a:srgbClr val="FFFFFF"/>
                </a:solidFill>
                <a:latin typeface="Arial" pitchFamily="34" charset="0"/>
                <a:ea typeface="Arial" pitchFamily="34" charset="-122"/>
                <a:cs typeface="Arial" pitchFamily="34" charset="-120"/>
              </a:rPr>
              <a:t>starts with You</a:t>
            </a:r>
            <a:endParaRPr lang="en-US" sz="3000" dirty="0"/>
          </a:p>
        </p:txBody>
      </p:sp>
      <p:sp>
        <p:nvSpPr>
          <p:cNvPr id="3" name="Shape 1"/>
          <p:cNvSpPr/>
          <p:nvPr/>
        </p:nvSpPr>
        <p:spPr>
          <a:xfrm>
            <a:off x="0" y="4229100"/>
            <a:ext cx="822960" cy="914400"/>
          </a:xfrm>
          <a:prstGeom prst="rect">
            <a:avLst/>
          </a:prstGeom>
          <a:solidFill>
            <a:srgbClr val="FFD200"/>
          </a:solidFill>
          <a:ln/>
        </p:spPr>
        <p:txBody>
          <a:bodyPr/>
          <a:p/>
        </p:txBody>
      </p:sp>
      <p:sp>
        <p:nvSpPr>
          <p:cNvPr id="4" name="Text 2"/>
          <p:cNvSpPr/>
          <p:nvPr/>
        </p:nvSpPr>
        <p:spPr>
          <a:xfrm>
            <a:off x="822960" y="3063240"/>
            <a:ext cx="7498080" cy="365760"/>
          </a:xfrm>
          <a:prstGeom prst="rect">
            <a:avLst/>
          </a:prstGeom>
          <a:noFill/>
          <a:ln/>
        </p:spPr>
        <p:txBody>
          <a:bodyPr wrap="square" lIns="0" tIns="0" rIns="0" bIns="0" rtlCol="0" anchor="ctr"/>
          <a:lstStyle/>
          <a:p>
            <a:pPr algn="ctr" indent="0" marL="0">
              <a:buNone/>
            </a:pPr>
            <a:r>
              <a:rPr lang="en-US" sz="1050" dirty="0">
                <a:solidFill>
                  <a:srgbClr val="C8D4E4"/>
                </a:solidFill>
                <a:latin typeface="Arial" pitchFamily="34" charset="0"/>
                <a:ea typeface="Arial" pitchFamily="34" charset="-122"/>
                <a:cs typeface="Arial" pitchFamily="34" charset="-120"/>
              </a:rPr>
              <a:t>Accompanying files:   corrected design spreadsheet (CHANGELOG_rev0_6 sheet)  ·  SMath worksheet with SI units  ·  design guide rev 0.6</a:t>
            </a:r>
            <a:endParaRPr lang="en-US" sz="1050" dirty="0"/>
          </a:p>
        </p:txBody>
      </p:sp>
      <p:sp>
        <p:nvSpPr>
          <p:cNvPr id="5" name="Text 3"/>
          <p:cNvSpPr/>
          <p:nvPr/>
        </p:nvSpPr>
        <p:spPr>
          <a:xfrm>
            <a:off x="822960" y="3474720"/>
            <a:ext cx="7498080" cy="365760"/>
          </a:xfrm>
          <a:prstGeom prst="rect">
            <a:avLst/>
          </a:prstGeom>
          <a:noFill/>
          <a:ln/>
        </p:spPr>
        <p:txBody>
          <a:bodyPr wrap="square" lIns="0" tIns="0" rIns="0" bIns="0" rtlCol="0" anchor="ctr"/>
          <a:lstStyle/>
          <a:p>
            <a:pPr algn="ctr" indent="0" marL="0">
              <a:buNone/>
            </a:pPr>
            <a:r>
              <a:rPr lang="en-US" sz="950" i="1" dirty="0">
                <a:solidFill>
                  <a:srgbClr val="9FB3CC"/>
                </a:solidFill>
                <a:latin typeface="Arial" pitchFamily="34" charset="0"/>
                <a:ea typeface="Arial" pitchFamily="34" charset="-122"/>
                <a:cs typeface="Arial" pitchFamily="34" charset="-120"/>
              </a:rPr>
              <a:t>This deck is a study document. The L6790A datasheet is a DRAFT — re-verify against the released datasheet before any production design.</a:t>
            </a:r>
            <a:endParaRPr lang="en-US" sz="950" dirty="0"/>
          </a:p>
        </p:txBody>
      </p:sp>
      <p:pic>
        <p:nvPicPr>
          <p:cNvPr id="6" name="Image 0" descr="logo/image1.png">    </p:cNvPr>
          <p:cNvPicPr>
            <a:picLocks noChangeAspect="1"/>
          </p:cNvPicPr>
          <p:nvPr/>
        </p:nvPicPr>
        <p:blipFill>
          <a:blip r:embed="rId1"/>
          <a:stretch>
            <a:fillRect/>
          </a:stretch>
        </p:blipFill>
        <p:spPr>
          <a:xfrm>
            <a:off x="7863840" y="4366260"/>
            <a:ext cx="822960" cy="640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Single-Stage PF LLC with L6790A</dc:title>
  <dc:subject>PptxGenJS Presentation</dc:subject>
  <dc:creator>L6790A design guide rev 0.6</dc:creator>
  <cp:lastModifiedBy>L6790A design guide rev 0.6</cp:lastModifiedBy>
  <cp:revision>1</cp:revision>
  <dcterms:created xsi:type="dcterms:W3CDTF">2026-08-19T09:53:57Z</dcterms:created>
  <dcterms:modified xsi:type="dcterms:W3CDTF">2026-08-19T09:53:57Z</dcterms:modified>
</cp:coreProperties>
</file>